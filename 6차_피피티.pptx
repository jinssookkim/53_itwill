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  <p:sldMasterId id="2147483708" r:id="rId2"/>
    <p:sldMasterId id="2147483709" r:id="rId3"/>
  </p:sldMasterIdLst>
  <p:notesMasterIdLst>
    <p:notesMasterId r:id="rId33"/>
  </p:notesMasterIdLst>
  <p:handoutMasterIdLst>
    <p:handoutMasterId r:id="rId34"/>
  </p:handoutMasterIdLst>
  <p:sldIdLst>
    <p:sldId id="256" r:id="rId4"/>
    <p:sldId id="257" r:id="rId5"/>
    <p:sldId id="258" r:id="rId6"/>
    <p:sldId id="259" r:id="rId7"/>
    <p:sldId id="260" r:id="rId8"/>
    <p:sldId id="261" r:id="rId9"/>
    <p:sldId id="295" r:id="rId10"/>
    <p:sldId id="263" r:id="rId11"/>
    <p:sldId id="264" r:id="rId12"/>
    <p:sldId id="296" r:id="rId13"/>
    <p:sldId id="265" r:id="rId14"/>
    <p:sldId id="266" r:id="rId15"/>
    <p:sldId id="289" r:id="rId16"/>
    <p:sldId id="267" r:id="rId17"/>
    <p:sldId id="297" r:id="rId18"/>
    <p:sldId id="288" r:id="rId19"/>
    <p:sldId id="287" r:id="rId20"/>
    <p:sldId id="281" r:id="rId21"/>
    <p:sldId id="294" r:id="rId22"/>
    <p:sldId id="272" r:id="rId23"/>
    <p:sldId id="280" r:id="rId24"/>
    <p:sldId id="298" r:id="rId25"/>
    <p:sldId id="275" r:id="rId26"/>
    <p:sldId id="276" r:id="rId27"/>
    <p:sldId id="283" r:id="rId28"/>
    <p:sldId id="277" r:id="rId29"/>
    <p:sldId id="278" r:id="rId30"/>
    <p:sldId id="284" r:id="rId31"/>
    <p:sldId id="27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5B5"/>
    <a:srgbClr val="F7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9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7" d="100"/>
          <a:sy n="47" d="100"/>
        </p:scale>
        <p:origin x="3552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9F2F85-7C98-9495-3815-22B0A79491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74E56-DE07-BE55-03C7-D8248ECEC3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835AB-D196-4D8C-8033-9EA47B38C4A1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259407-5270-3B24-127C-9C7B92299A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971B94-972F-84BE-8FEB-8577ACB5C7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5B738-B2E3-4F55-B917-063B0DD66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514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69B2-493C-F293-33A9-2C393D76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07A7F-6E8B-DF8E-E7AC-CB5582EBA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A1058-35E2-BD53-2206-AD5D9705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0A9EE-22FC-53FA-576B-098C03F1D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88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A8E7C-9A08-6EA6-9A38-A6B68F01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3B287-274B-FAEC-20F3-5F2AB3783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B44C4-225A-7D1F-7E1C-E7ECB22D1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4A344-B355-6871-D787-711F7AFCB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77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7F63E-6CFD-3A91-BBFA-1E0B1231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820A3-DEA8-5C3C-F398-5B49FA92F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67D8A-2FC9-22E7-0ED8-199BE524A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B0DA0-2175-F5FB-9301-150AA0F5A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67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07B4-C2DC-C663-AE7C-2192EA670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BD8F4-ACA1-9186-B6DB-BF6D64F5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04FDB-AB6F-4F86-8250-BEF236927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F82E7-D930-6417-861C-178C2237C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0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D951-F5E3-33CC-AEFC-589A1282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5C689-506B-2ABF-084B-ECAF4ADA9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F9C1D-DFC8-3B64-4AE6-5A1F5446C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8D533-37E3-027B-75D3-B7A98D836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33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18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BCBB-5F76-DDFE-E8D0-5E8B39C7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063E2-D0FA-1087-AB95-30B1F085B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21EC2-27DF-C953-3247-5B67E3721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46F9-00FB-B572-C2C3-40E7FBDE9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89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21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09568-D750-904B-40A7-A95EE253D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64346-BF32-ECB2-CA83-A2FF7DE0D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D2CC0-B0F9-AE35-179C-1097248A4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9A001-080F-A941-42F1-62218EE84575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98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hdr="0" ftr="0" dt="0"/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22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10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2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38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1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61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0" Type="http://schemas.openxmlformats.org/officeDocument/2006/relationships/image" Target="../media/image97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olmok.seoul.go.kr/main.do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/>
          <p:cNvPicPr>
            <a:picLocks noChangeAspect="1"/>
          </p:cNvPicPr>
          <p:nvPr/>
        </p:nvPicPr>
        <p:blipFill>
          <a:blip r:embed="rId3">
            <a:alphaModFix amt="85000"/>
          </a:blip>
          <a:srcRect l="26298" r="26298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1A35B5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62000" y="2476500"/>
            <a:ext cx="7911465" cy="648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상권 미래 활력 예측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2155" y="334137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기반 유망 행정동 발굴 및 인사이트 도출</a:t>
            </a:r>
            <a:endParaRPr lang="en-US" sz="180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762000" y="2095500"/>
            <a:ext cx="571500" cy="577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2155" y="5676900"/>
            <a:ext cx="6172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블록버스터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C9BAD-43D7-BD7C-5E43-DF844D70C0C8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62000" y="1524000"/>
            <a:ext cx="5143500" cy="285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809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2000" y="3048000"/>
            <a:ext cx="5143500" cy="88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2000" y="3333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2000" y="4572000"/>
            <a:ext cx="5143500" cy="889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0" y="485838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6286500" y="1524000"/>
            <a:ext cx="5143500" cy="2857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286500" y="1809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286500" y="3048000"/>
            <a:ext cx="5143500" cy="889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286500" y="3333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286500" y="4572000"/>
            <a:ext cx="5143500" cy="889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286500" y="485838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8"/>
          <p:cNvSpPr txBox="1"/>
          <p:nvPr/>
        </p:nvSpPr>
        <p:spPr>
          <a:xfrm>
            <a:off x="762000" y="571500"/>
            <a:ext cx="41148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300" dirty="0"/>
          </a:p>
        </p:txBody>
      </p:sp>
      <p:sp>
        <p:nvSpPr>
          <p:cNvPr id="17" name="Text 9"/>
          <p:cNvSpPr txBox="1"/>
          <p:nvPr/>
        </p:nvSpPr>
        <p:spPr>
          <a:xfrm>
            <a:off x="781050" y="1104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723900" y="1809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409700" y="1886585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1409700" y="2266950"/>
            <a:ext cx="5320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활용장비 및 개발일정 · 팀 구성 및 역할 · 문제 정의 &amp; 기획 의도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723900" y="3333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409700" y="3409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전처리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1409700" y="37909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 ·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r>
              <a:rPr lang="en-US" altLang="ko-KR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</a:t>
            </a:r>
            <a:r>
              <a:rPr lang="en-US" altLang="ko-KR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상권활력점수</a:t>
            </a:r>
            <a:r>
              <a:rPr lang="en-US" altLang="ko-KR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23900" y="4858385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409700" y="4933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409700" y="531558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방법론 &amp;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248400" y="1809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934200" y="1886585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예측 모델 선정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934200" y="22669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선정 근거 · 성능 비교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248400" y="3333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934200" y="3409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학습/평가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934200" y="379095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 선정 · SHAP 변수 중요도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248400" y="4858385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934200" y="4933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및 시사점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6934200" y="5315585"/>
            <a:ext cx="4458335" cy="52451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주요 행정동 소개 및 심층 분석 · 결론 및 액션 도출 · 한계점 · 시연영상 · 참고문헌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4AC354-77CB-AFB2-8557-D79DADAB0E59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2000" y="476250"/>
            <a:ext cx="419100" cy="266700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809750"/>
            <a:ext cx="5734050" cy="4334510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2000" y="1809750"/>
            <a:ext cx="5734050" cy="38100"/>
          </a:xfrm>
          <a:prstGeom prst="roundRect">
            <a:avLst>
              <a:gd name="adj" fmla="val 83725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1143000" y="2572385"/>
            <a:ext cx="4953000" cy="88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1809750"/>
            <a:ext cx="4572000" cy="4286885"/>
          </a:xfrm>
          <a:prstGeom prst="roundRect">
            <a:avLst>
              <a:gd name="adj" fmla="val 151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7334250" y="4095750"/>
            <a:ext cx="3619500" cy="8890"/>
          </a:xfrm>
          <a:prstGeom prst="rect">
            <a:avLst/>
          </a:prstGeom>
        </p:spPr>
      </p:pic>
      <p:sp>
        <p:nvSpPr>
          <p:cNvPr id="10" name="Text 6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276350" y="504825"/>
            <a:ext cx="2057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활용장비 및 개발일정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2190750"/>
            <a:ext cx="1440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667000" y="2190750"/>
            <a:ext cx="3620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8575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개발환경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67000" y="28765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 · Jupyter Notebook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34290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667000" y="34480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40005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667000" y="40195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 · numpy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45720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667000" y="4591050"/>
            <a:ext cx="350583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 · CatBoost · LightGBM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· Optuna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143000" y="5429885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2667000" y="544830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matplotlib.pyplot</a:t>
            </a:r>
            <a:endParaRPr lang="en-US" sz="1300" dirty="0"/>
          </a:p>
        </p:txBody>
      </p:sp>
      <p:pic>
        <p:nvPicPr>
          <p:cNvPr id="25" name="Image 2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7334250" y="2247900"/>
            <a:ext cx="237490" cy="2667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715885" y="2229485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일정 요약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334250" y="2952750"/>
            <a:ext cx="3810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진행 기간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334250" y="3238500"/>
            <a:ext cx="3924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 ~ 2026.03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7334250" y="3666490"/>
            <a:ext cx="3734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1개월)</a:t>
            </a:r>
            <a:endParaRPr lang="en-US" sz="1300" dirty="0"/>
          </a:p>
        </p:txBody>
      </p:sp>
      <p:sp>
        <p:nvSpPr>
          <p:cNvPr id="30" name="Text 25"/>
          <p:cNvSpPr txBox="1">
            <a:spLocks/>
          </p:cNvSpPr>
          <p:nvPr/>
        </p:nvSpPr>
        <p:spPr>
          <a:xfrm>
            <a:off x="7334250" y="4185920"/>
            <a:ext cx="38106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상세 타임라인</a:t>
            </a:r>
            <a:endParaRPr lang="ko-KR" altLang="en-US" sz="13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Shape 26"/>
          <p:cNvSpPr>
            <a:spLocks/>
          </p:cNvSpPr>
          <p:nvPr/>
        </p:nvSpPr>
        <p:spPr>
          <a:xfrm>
            <a:off x="7334250" y="462343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2" name="Text 27"/>
          <p:cNvSpPr txBox="1">
            <a:spLocks/>
          </p:cNvSpPr>
          <p:nvPr/>
        </p:nvSpPr>
        <p:spPr>
          <a:xfrm>
            <a:off x="7477125" y="4566285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6일 ~ 2월 10일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Text 28"/>
          <p:cNvSpPr txBox="1">
            <a:spLocks/>
          </p:cNvSpPr>
          <p:nvPr/>
        </p:nvSpPr>
        <p:spPr>
          <a:xfrm>
            <a:off x="8906510" y="4566285"/>
            <a:ext cx="2418080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주제 선정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4" name="Shape 29"/>
          <p:cNvSpPr>
            <a:spLocks/>
          </p:cNvSpPr>
          <p:nvPr/>
        </p:nvSpPr>
        <p:spPr>
          <a:xfrm>
            <a:off x="7334250" y="485965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Text 30"/>
          <p:cNvSpPr txBox="1">
            <a:spLocks/>
          </p:cNvSpPr>
          <p:nvPr/>
        </p:nvSpPr>
        <p:spPr>
          <a:xfrm>
            <a:off x="7477125" y="4801870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11일 ~ 2월 15일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Text 31"/>
          <p:cNvSpPr txBox="1">
            <a:spLocks/>
          </p:cNvSpPr>
          <p:nvPr/>
        </p:nvSpPr>
        <p:spPr>
          <a:xfrm>
            <a:off x="8906510" y="4801870"/>
            <a:ext cx="2418080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데이터 수집 및 병합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Shape 32"/>
          <p:cNvSpPr>
            <a:spLocks/>
          </p:cNvSpPr>
          <p:nvPr/>
        </p:nvSpPr>
        <p:spPr>
          <a:xfrm>
            <a:off x="7334250" y="509587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8" name="Text 33"/>
          <p:cNvSpPr txBox="1">
            <a:spLocks/>
          </p:cNvSpPr>
          <p:nvPr/>
        </p:nvSpPr>
        <p:spPr>
          <a:xfrm>
            <a:off x="7477125" y="5038725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16일 ~ 2월 23일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9" name="Text 34"/>
          <p:cNvSpPr txBox="1">
            <a:spLocks/>
          </p:cNvSpPr>
          <p:nvPr/>
        </p:nvSpPr>
        <p:spPr>
          <a:xfrm>
            <a:off x="8906510" y="5038725"/>
            <a:ext cx="2418080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데이터 전처리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0" name="Shape 35"/>
          <p:cNvSpPr>
            <a:spLocks/>
          </p:cNvSpPr>
          <p:nvPr/>
        </p:nvSpPr>
        <p:spPr>
          <a:xfrm>
            <a:off x="7334250" y="533209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1" name="Text 36"/>
          <p:cNvSpPr txBox="1">
            <a:spLocks/>
          </p:cNvSpPr>
          <p:nvPr/>
        </p:nvSpPr>
        <p:spPr>
          <a:xfrm>
            <a:off x="7477125" y="5274945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24일 ~ 2월 27일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2" name="Text 37"/>
          <p:cNvSpPr txBox="1">
            <a:spLocks/>
          </p:cNvSpPr>
          <p:nvPr/>
        </p:nvSpPr>
        <p:spPr>
          <a:xfrm>
            <a:off x="8906510" y="5274945"/>
            <a:ext cx="2418080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행정동 클러스터링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3" name="Shape 38"/>
          <p:cNvSpPr>
            <a:spLocks/>
          </p:cNvSpPr>
          <p:nvPr/>
        </p:nvSpPr>
        <p:spPr>
          <a:xfrm>
            <a:off x="7334250" y="556831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4" name="Text 39"/>
          <p:cNvSpPr txBox="1">
            <a:spLocks/>
          </p:cNvSpPr>
          <p:nvPr/>
        </p:nvSpPr>
        <p:spPr>
          <a:xfrm>
            <a:off x="7477125" y="5510530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28일 ~ 3월 8일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5" name="Text 40"/>
          <p:cNvSpPr txBox="1">
            <a:spLocks/>
          </p:cNvSpPr>
          <p:nvPr/>
        </p:nvSpPr>
        <p:spPr>
          <a:xfrm>
            <a:off x="8906510" y="5510530"/>
            <a:ext cx="2418080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모델 학습 / 선정 / 예측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6" name="Shape 41"/>
          <p:cNvSpPr>
            <a:spLocks/>
          </p:cNvSpPr>
          <p:nvPr/>
        </p:nvSpPr>
        <p:spPr>
          <a:xfrm>
            <a:off x="7334250" y="5804535"/>
            <a:ext cx="48260" cy="48260"/>
          </a:xfrm>
          <a:prstGeom prst="ellipse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7" name="Text 42"/>
          <p:cNvSpPr txBox="1">
            <a:spLocks/>
          </p:cNvSpPr>
          <p:nvPr/>
        </p:nvSpPr>
        <p:spPr>
          <a:xfrm>
            <a:off x="7477125" y="5747385"/>
            <a:ext cx="141033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3월 9일 ~ 3월 11일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8" name="Text 43"/>
          <p:cNvSpPr txBox="1">
            <a:spLocks/>
          </p:cNvSpPr>
          <p:nvPr/>
        </p:nvSpPr>
        <p:spPr>
          <a:xfrm>
            <a:off x="8906510" y="5747385"/>
            <a:ext cx="2328545" cy="1631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결론 도출 및 PPT 제작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127AE2-5619-AF6C-DBB3-A500974A2437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8194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8194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673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673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152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3152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5631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631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573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 l="-2094" r="-2094"/>
          <a:stretch/>
        </p:blipFill>
        <p:spPr>
          <a:xfrm>
            <a:off x="838200" y="3810000"/>
            <a:ext cx="1524000" cy="889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5052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3"/>
          <a:srcRect l="-2094" r="-2094"/>
          <a:stretch/>
        </p:blipFill>
        <p:spPr>
          <a:xfrm>
            <a:off x="3086100" y="3810000"/>
            <a:ext cx="1524000" cy="889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7531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/>
          <p:cNvPicPr>
            <a:picLocks noChangeAspect="1"/>
          </p:cNvPicPr>
          <p:nvPr/>
        </p:nvPicPr>
        <p:blipFill>
          <a:blip r:embed="rId3"/>
          <a:srcRect l="-2094" r="-2094"/>
          <a:stretch/>
        </p:blipFill>
        <p:spPr>
          <a:xfrm>
            <a:off x="5334000" y="3810000"/>
            <a:ext cx="1524000" cy="889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0010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/>
          <p:cNvPicPr>
            <a:picLocks noChangeAspect="1"/>
          </p:cNvPicPr>
          <p:nvPr/>
        </p:nvPicPr>
        <p:blipFill>
          <a:blip r:embed="rId3"/>
          <a:srcRect l="-2094" r="-2094"/>
          <a:stretch/>
        </p:blipFill>
        <p:spPr>
          <a:xfrm>
            <a:off x="7581900" y="3810000"/>
            <a:ext cx="1524000" cy="889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2489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/>
          <p:cNvPicPr>
            <a:picLocks noChangeAspect="1"/>
          </p:cNvPicPr>
          <p:nvPr/>
        </p:nvPicPr>
        <p:blipFill>
          <a:blip r:embed="rId3"/>
          <a:srcRect l="-2094" r="-2094"/>
          <a:stretch/>
        </p:blipFill>
        <p:spPr>
          <a:xfrm>
            <a:off x="9829800" y="3810000"/>
            <a:ext cx="1524000" cy="88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76350" y="504825"/>
            <a:ext cx="2057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3000" dirty="0"/>
          </a:p>
        </p:txBody>
      </p:sp>
      <p:pic>
        <p:nvPicPr>
          <p:cNvPr id="28" name="Image 5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1494790" y="2686685"/>
            <a:ext cx="219710" cy="24765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889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김동관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654050" y="409575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타겟변수 설계 &amp;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54050" y="433959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클러스터링 분석</a:t>
            </a:r>
            <a:endParaRPr lang="en-US" sz="1200" dirty="0"/>
          </a:p>
        </p:txBody>
      </p:sp>
      <p:pic>
        <p:nvPicPr>
          <p:cNvPr id="32" name="Image 6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3743325" y="2686685"/>
            <a:ext cx="219710" cy="24765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7368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김진숙</a:t>
            </a:r>
            <a:endParaRPr lang="en-US" sz="1800" dirty="0"/>
          </a:p>
        </p:txBody>
      </p:sp>
      <p:sp>
        <p:nvSpPr>
          <p:cNvPr id="34" name="Text 25"/>
          <p:cNvSpPr txBox="1"/>
          <p:nvPr/>
        </p:nvSpPr>
        <p:spPr>
          <a:xfrm>
            <a:off x="2936875" y="4095750"/>
            <a:ext cx="182308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파생변수 생성</a:t>
            </a:r>
            <a:endParaRPr lang="en-US" sz="1200" dirty="0"/>
          </a:p>
        </p:txBody>
      </p:sp>
      <p:pic>
        <p:nvPicPr>
          <p:cNvPr id="35" name="Image 7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5991225" y="2686685"/>
            <a:ext cx="219710" cy="24765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985385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이수진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5149850" y="409575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 &amp;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149850" y="433959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병합</a:t>
            </a:r>
            <a:endParaRPr lang="en-US" sz="1200" dirty="0"/>
          </a:p>
        </p:txBody>
      </p:sp>
      <p:pic>
        <p:nvPicPr>
          <p:cNvPr id="39" name="Image 8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8238490" y="2686685"/>
            <a:ext cx="219710" cy="24765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326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신승원</a:t>
            </a:r>
            <a:endParaRPr lang="en-US" sz="1800" dirty="0"/>
          </a:p>
        </p:txBody>
      </p:sp>
      <p:sp>
        <p:nvSpPr>
          <p:cNvPr id="41" name="Text 30"/>
          <p:cNvSpPr txBox="1"/>
          <p:nvPr/>
        </p:nvSpPr>
        <p:spPr>
          <a:xfrm>
            <a:off x="7335520" y="4095750"/>
            <a:ext cx="2016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분석 &amp; 시각화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7335520" y="4276725"/>
            <a:ext cx="2016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발표자료</a:t>
            </a:r>
            <a:endParaRPr lang="en-US" sz="1200" dirty="0"/>
          </a:p>
        </p:txBody>
      </p:sp>
      <p:pic>
        <p:nvPicPr>
          <p:cNvPr id="43" name="Image 9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10487025" y="2686685"/>
            <a:ext cx="219710" cy="24765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4805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윤도경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9645015" y="4095750"/>
            <a:ext cx="1892935" cy="1809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학습 &amp; 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9645015" y="4276725"/>
            <a:ext cx="1892935" cy="1809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하이퍼파라미터 튜닝</a:t>
            </a:r>
            <a:endParaRPr lang="en-US" sz="1200" dirty="0"/>
          </a:p>
        </p:txBody>
      </p:sp>
      <p:sp>
        <p:nvSpPr>
          <p:cNvPr id="48" name="도형 1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9" name="텍스트 상자 2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6032D-7222-7D83-89B2-8D66FB7E316D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8"/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&amp; 기획 의도</a:t>
            </a:r>
            <a:endParaRPr lang="en-US" sz="3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495686-A159-99B9-7FFF-29929855A4BB}"/>
              </a:ext>
            </a:extLst>
          </p:cNvPr>
          <p:cNvGrpSpPr/>
          <p:nvPr/>
        </p:nvGrpSpPr>
        <p:grpSpPr>
          <a:xfrm>
            <a:off x="762000" y="3300699"/>
            <a:ext cx="10706100" cy="3086100"/>
            <a:chOff x="762000" y="1714500"/>
            <a:chExt cx="10706100" cy="3086100"/>
          </a:xfrm>
        </p:grpSpPr>
        <p:sp>
          <p:nvSpPr>
            <p:cNvPr id="5" name="Shape 3"/>
            <p:cNvSpPr/>
            <p:nvPr/>
          </p:nvSpPr>
          <p:spPr>
            <a:xfrm>
              <a:off x="762000" y="1714500"/>
              <a:ext cx="4991100" cy="3086100"/>
            </a:xfrm>
            <a:prstGeom prst="roundRect">
              <a:avLst>
                <a:gd name="adj" fmla="val 2195"/>
              </a:avLst>
            </a:prstGeom>
            <a:solidFill>
              <a:srgbClr val="F8F9FA"/>
            </a:solidFill>
            <a:ln w="25400">
              <a:solidFill>
                <a:srgbClr val="EAEAE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6477000" y="1714500"/>
              <a:ext cx="4991100" cy="3086100"/>
            </a:xfrm>
            <a:prstGeom prst="roundRect">
              <a:avLst>
                <a:gd name="adj" fmla="val 2195"/>
              </a:avLst>
            </a:prstGeom>
            <a:solidFill>
              <a:srgbClr val="E8EEFF"/>
            </a:solidFill>
            <a:ln w="25400">
              <a:solidFill>
                <a:srgbClr val="1A35B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0"/>
            <p:cNvPicPr>
              <a:picLocks noChangeAspect="1"/>
            </p:cNvPicPr>
            <p:nvPr/>
          </p:nvPicPr>
          <p:blipFill>
            <a:blip r:embed="rId3"/>
            <a:srcRect t="-396" b="-396"/>
            <a:stretch/>
          </p:blipFill>
          <p:spPr>
            <a:xfrm>
              <a:off x="1047750" y="2428875"/>
              <a:ext cx="4381500" cy="19050"/>
            </a:xfrm>
            <a:prstGeom prst="rect">
              <a:avLst/>
            </a:prstGeom>
          </p:spPr>
        </p:pic>
        <p:pic>
          <p:nvPicPr>
            <p:cNvPr id="9" name="Image 1"/>
            <p:cNvPicPr>
              <a:picLocks noChangeAspect="1"/>
            </p:cNvPicPr>
            <p:nvPr/>
          </p:nvPicPr>
          <p:blipFill>
            <a:blip r:embed="rId4"/>
            <a:srcRect t="-396" b="-396"/>
            <a:stretch/>
          </p:blipFill>
          <p:spPr>
            <a:xfrm>
              <a:off x="6762750" y="2428875"/>
              <a:ext cx="4381500" cy="19050"/>
            </a:xfrm>
            <a:prstGeom prst="rect">
              <a:avLst/>
            </a:prstGeom>
          </p:spPr>
        </p:pic>
        <p:sp>
          <p:nvSpPr>
            <p:cNvPr id="12" name="Shape 6"/>
            <p:cNvSpPr/>
            <p:nvPr/>
          </p:nvSpPr>
          <p:spPr>
            <a:xfrm>
              <a:off x="5867400" y="3009900"/>
              <a:ext cx="476250" cy="476250"/>
            </a:xfrm>
            <a:prstGeom prst="roundRect">
              <a:avLst>
                <a:gd name="adj" fmla="val 184261"/>
              </a:avLst>
            </a:prstGeom>
            <a:solidFill>
              <a:srgbClr val="FFFFFF"/>
            </a:solidFill>
            <a:ln w="12700">
              <a:solidFill>
                <a:srgbClr val="EAEAEA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4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43000" y="2019300"/>
              <a:ext cx="228600" cy="228600"/>
            </a:xfrm>
            <a:prstGeom prst="rect">
              <a:avLst/>
            </a:prstGeom>
          </p:spPr>
        </p:pic>
        <p:sp>
          <p:nvSpPr>
            <p:cNvPr id="17" name="Text 10"/>
            <p:cNvSpPr txBox="1"/>
            <p:nvPr/>
          </p:nvSpPr>
          <p:spPr>
            <a:xfrm>
              <a:off x="1466850" y="1981200"/>
              <a:ext cx="4000500" cy="305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기존 방식의 한계</a:t>
              </a:r>
              <a:endParaRPr lang="en-US" sz="1600" dirty="0"/>
            </a:p>
          </p:txBody>
        </p:sp>
        <p:pic>
          <p:nvPicPr>
            <p:cNvPr id="18" name="Image 5"/>
            <p:cNvPicPr>
              <a:picLocks noChangeAspect="1"/>
            </p:cNvPicPr>
            <p:nvPr/>
          </p:nvPicPr>
          <p:blipFill>
            <a:blip r:embed="rId6"/>
            <a:srcRect t="-43" b="-43"/>
            <a:stretch/>
          </p:blipFill>
          <p:spPr>
            <a:xfrm>
              <a:off x="1143000" y="2848610"/>
              <a:ext cx="133350" cy="152400"/>
            </a:xfrm>
            <a:prstGeom prst="rect">
              <a:avLst/>
            </a:prstGeom>
          </p:spPr>
        </p:pic>
        <p:sp>
          <p:nvSpPr>
            <p:cNvPr id="19" name="Text 11"/>
            <p:cNvSpPr txBox="1"/>
            <p:nvPr/>
          </p:nvSpPr>
          <p:spPr>
            <a:xfrm>
              <a:off x="1390650" y="2762250"/>
              <a:ext cx="4191635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현재 시점의 단편적 현황만 제공</a:t>
              </a:r>
              <a:endParaRPr lang="en-US" sz="1400" dirty="0"/>
            </a:p>
          </p:txBody>
        </p:sp>
        <p:pic>
          <p:nvPicPr>
            <p:cNvPr id="20" name="Image 6"/>
            <p:cNvPicPr>
              <a:picLocks noChangeAspect="1"/>
            </p:cNvPicPr>
            <p:nvPr/>
          </p:nvPicPr>
          <p:blipFill>
            <a:blip r:embed="rId6"/>
            <a:srcRect t="-43" b="-43"/>
            <a:stretch/>
          </p:blipFill>
          <p:spPr>
            <a:xfrm>
              <a:off x="1143000" y="3323590"/>
              <a:ext cx="133350" cy="152400"/>
            </a:xfrm>
            <a:prstGeom prst="rect">
              <a:avLst/>
            </a:prstGeom>
          </p:spPr>
        </p:pic>
        <p:sp>
          <p:nvSpPr>
            <p:cNvPr id="21" name="Text 12"/>
            <p:cNvSpPr txBox="1"/>
            <p:nvPr/>
          </p:nvSpPr>
          <p:spPr>
            <a:xfrm>
              <a:off x="1390650" y="3238500"/>
              <a:ext cx="4191635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미래 성장성에 대한 전망 부재</a:t>
              </a:r>
              <a:endParaRPr lang="en-US" sz="1400" dirty="0"/>
            </a:p>
          </p:txBody>
        </p:sp>
        <p:pic>
          <p:nvPicPr>
            <p:cNvPr id="22" name="Image 7"/>
            <p:cNvPicPr>
              <a:picLocks noChangeAspect="1"/>
            </p:cNvPicPr>
            <p:nvPr/>
          </p:nvPicPr>
          <p:blipFill>
            <a:blip r:embed="rId6"/>
            <a:srcRect t="-43" b="-43"/>
            <a:stretch/>
          </p:blipFill>
          <p:spPr>
            <a:xfrm>
              <a:off x="1143000" y="3800475"/>
              <a:ext cx="133350" cy="152400"/>
            </a:xfrm>
            <a:prstGeom prst="rect">
              <a:avLst/>
            </a:prstGeom>
          </p:spPr>
        </p:pic>
        <p:sp>
          <p:nvSpPr>
            <p:cNvPr id="23" name="Text 13"/>
            <p:cNvSpPr txBox="1"/>
            <p:nvPr/>
          </p:nvSpPr>
          <p:spPr>
            <a:xfrm>
              <a:off x="1390650" y="3715385"/>
              <a:ext cx="4077335" cy="5149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행정동의 구조적 유형 구분 없이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동일한 잣대와 기준 적용</a:t>
              </a:r>
              <a:endParaRPr lang="en-US" sz="1400" dirty="0"/>
            </a:p>
          </p:txBody>
        </p:sp>
        <p:pic>
          <p:nvPicPr>
            <p:cNvPr id="24" name="Image 8"/>
            <p:cNvPicPr>
              <a:picLocks noChangeAspect="1"/>
            </p:cNvPicPr>
            <p:nvPr/>
          </p:nvPicPr>
          <p:blipFill>
            <a:blip r:embed="rId7"/>
            <a:srcRect l="-1923" r="-1923"/>
            <a:stretch/>
          </p:blipFill>
          <p:spPr>
            <a:xfrm>
              <a:off x="6034405" y="3138170"/>
              <a:ext cx="123190" cy="190500"/>
            </a:xfrm>
            <a:prstGeom prst="rect">
              <a:avLst/>
            </a:prstGeom>
          </p:spPr>
        </p:pic>
        <p:pic>
          <p:nvPicPr>
            <p:cNvPr id="25" name="Image 9"/>
            <p:cNvPicPr>
              <a:picLocks noChangeAspect="1"/>
            </p:cNvPicPr>
            <p:nvPr/>
          </p:nvPicPr>
          <p:blipFill>
            <a:blip r:embed="rId8"/>
            <a:srcRect l="-133" r="-133"/>
            <a:stretch/>
          </p:blipFill>
          <p:spPr>
            <a:xfrm>
              <a:off x="6858000" y="2019300"/>
              <a:ext cx="172085" cy="228600"/>
            </a:xfrm>
            <a:prstGeom prst="rect">
              <a:avLst/>
            </a:prstGeom>
          </p:spPr>
        </p:pic>
        <p:sp>
          <p:nvSpPr>
            <p:cNvPr id="26" name="Text 14"/>
            <p:cNvSpPr txBox="1"/>
            <p:nvPr/>
          </p:nvSpPr>
          <p:spPr>
            <a:xfrm>
              <a:off x="7181850" y="1981200"/>
              <a:ext cx="4000500" cy="305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A35B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우리의 접근: 상권 활력 예측 모델</a:t>
              </a:r>
              <a:endParaRPr lang="en-US" sz="1600" dirty="0"/>
            </a:p>
          </p:txBody>
        </p:sp>
        <p:pic>
          <p:nvPicPr>
            <p:cNvPr id="27" name="Image 10"/>
            <p:cNvPicPr>
              <a:picLocks noChangeAspect="1"/>
            </p:cNvPicPr>
            <p:nvPr/>
          </p:nvPicPr>
          <p:blipFill>
            <a:blip r:embed="rId9"/>
            <a:srcRect l="-760" r="-760"/>
            <a:stretch/>
          </p:blipFill>
          <p:spPr>
            <a:xfrm>
              <a:off x="6858000" y="2812415"/>
              <a:ext cx="152400" cy="172085"/>
            </a:xfrm>
            <a:prstGeom prst="rect">
              <a:avLst/>
            </a:prstGeom>
          </p:spPr>
        </p:pic>
        <p:sp>
          <p:nvSpPr>
            <p:cNvPr id="28" name="Text 15"/>
            <p:cNvSpPr txBox="1"/>
            <p:nvPr/>
          </p:nvSpPr>
          <p:spPr>
            <a:xfrm>
              <a:off x="7144385" y="2762250"/>
              <a:ext cx="4191635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424개 행정동 × 23분기 시계열 데이터</a:t>
              </a:r>
              <a:endParaRPr lang="en-US" sz="1400" dirty="0"/>
            </a:p>
          </p:txBody>
        </p:sp>
        <p:pic>
          <p:nvPicPr>
            <p:cNvPr id="29" name="Image 11"/>
            <p:cNvPicPr>
              <a:picLocks noChangeAspect="1"/>
            </p:cNvPicPr>
            <p:nvPr/>
          </p:nvPicPr>
          <p:blipFill>
            <a:blip r:embed="rId9"/>
            <a:srcRect l="-760" r="-760"/>
            <a:stretch/>
          </p:blipFill>
          <p:spPr>
            <a:xfrm>
              <a:off x="6858000" y="3288030"/>
              <a:ext cx="152400" cy="172085"/>
            </a:xfrm>
            <a:prstGeom prst="rect">
              <a:avLst/>
            </a:prstGeom>
          </p:spPr>
        </p:pic>
        <p:sp>
          <p:nvSpPr>
            <p:cNvPr id="30" name="Text 16"/>
            <p:cNvSpPr txBox="1"/>
            <p:nvPr/>
          </p:nvSpPr>
          <p:spPr>
            <a:xfrm>
              <a:off x="7144385" y="3238500"/>
              <a:ext cx="4114800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h=1~4 (최대 1년 후) 상권 활력 선행 예측</a:t>
              </a:r>
              <a:endParaRPr lang="en-US" sz="1400" dirty="0"/>
            </a:p>
          </p:txBody>
        </p:sp>
        <p:pic>
          <p:nvPicPr>
            <p:cNvPr id="31" name="Image 12"/>
            <p:cNvPicPr>
              <a:picLocks noChangeAspect="1"/>
            </p:cNvPicPr>
            <p:nvPr/>
          </p:nvPicPr>
          <p:blipFill>
            <a:blip r:embed="rId9"/>
            <a:srcRect l="-760" r="-760"/>
            <a:stretch/>
          </p:blipFill>
          <p:spPr>
            <a:xfrm>
              <a:off x="6858000" y="3764280"/>
              <a:ext cx="152400" cy="172085"/>
            </a:xfrm>
            <a:prstGeom prst="rect">
              <a:avLst/>
            </a:prstGeom>
          </p:spPr>
        </p:pic>
        <p:sp>
          <p:nvSpPr>
            <p:cNvPr id="32" name="Text 17"/>
            <p:cNvSpPr txBox="1"/>
            <p:nvPr/>
          </p:nvSpPr>
          <p:spPr>
            <a:xfrm>
              <a:off x="7144385" y="3715385"/>
              <a:ext cx="4191635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특성 기반 3개 클러스터로 상권 유형 분류</a:t>
              </a:r>
              <a:endParaRPr lang="en-US" sz="1400" dirty="0"/>
            </a:p>
          </p:txBody>
        </p:sp>
        <p:pic>
          <p:nvPicPr>
            <p:cNvPr id="33" name="Image 13"/>
            <p:cNvPicPr>
              <a:picLocks noChangeAspect="1"/>
            </p:cNvPicPr>
            <p:nvPr/>
          </p:nvPicPr>
          <p:blipFill>
            <a:blip r:embed="rId9"/>
            <a:srcRect l="-760" r="-760"/>
            <a:stretch/>
          </p:blipFill>
          <p:spPr>
            <a:xfrm>
              <a:off x="6858000" y="4241165"/>
              <a:ext cx="152400" cy="172085"/>
            </a:xfrm>
            <a:prstGeom prst="rect">
              <a:avLst/>
            </a:prstGeom>
          </p:spPr>
        </p:pic>
        <p:sp>
          <p:nvSpPr>
            <p:cNvPr id="34" name="Text 18"/>
            <p:cNvSpPr txBox="1"/>
            <p:nvPr/>
          </p:nvSpPr>
          <p:spPr>
            <a:xfrm>
              <a:off x="7144385" y="4191000"/>
              <a:ext cx="4191635" cy="2578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머신러닝 + 시계열 교차검증(CV) 적용</a:t>
              </a:r>
              <a:endParaRPr lang="en-US" sz="1400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C209EC-7E13-6288-0380-45F6A51ABAD7}"/>
              </a:ext>
            </a:extLst>
          </p:cNvPr>
          <p:cNvGrpSpPr/>
          <p:nvPr/>
        </p:nvGrpSpPr>
        <p:grpSpPr>
          <a:xfrm>
            <a:off x="762000" y="1719156"/>
            <a:ext cx="10687685" cy="1257300"/>
            <a:chOff x="762000" y="5143500"/>
            <a:chExt cx="10687685" cy="1257300"/>
          </a:xfrm>
        </p:grpSpPr>
        <p:sp>
          <p:nvSpPr>
            <p:cNvPr id="7" name="Shape 5"/>
            <p:cNvSpPr/>
            <p:nvPr/>
          </p:nvSpPr>
          <p:spPr>
            <a:xfrm>
              <a:off x="762000" y="5143500"/>
              <a:ext cx="10687685" cy="1257300"/>
            </a:xfrm>
            <a:prstGeom prst="roundRect">
              <a:avLst>
                <a:gd name="adj" fmla="val 8815"/>
              </a:avLst>
            </a:prstGeom>
            <a:solidFill>
              <a:srgbClr val="FFFFFF"/>
            </a:solidFill>
            <a:ln w="12700">
              <a:solidFill>
                <a:srgbClr val="EAEAEA"/>
              </a:solidFill>
              <a:prstDash val="solid"/>
            </a:ln>
            <a:effectLst>
              <a:outerShdw blurRad="1143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2"/>
            <p:cNvPicPr>
              <a:picLocks noChangeAspect="1"/>
            </p:cNvPicPr>
            <p:nvPr/>
          </p:nvPicPr>
          <p:blipFill>
            <a:blip r:embed="rId10"/>
            <a:srcRect t="-195" b="-195"/>
            <a:stretch/>
          </p:blipFill>
          <p:spPr>
            <a:xfrm>
              <a:off x="762000" y="5143500"/>
              <a:ext cx="76200" cy="1238250"/>
            </a:xfrm>
            <a:prstGeom prst="rect">
              <a:avLst/>
            </a:prstGeom>
          </p:spPr>
        </p:pic>
        <p:pic>
          <p:nvPicPr>
            <p:cNvPr id="11" name="Image 3"/>
            <p:cNvPicPr>
              <a:picLocks noChangeAspect="1"/>
            </p:cNvPicPr>
            <p:nvPr/>
          </p:nvPicPr>
          <p:blipFill>
            <a:blip r:embed="rId11"/>
            <a:srcRect t="-2061" b="-2061"/>
            <a:stretch/>
          </p:blipFill>
          <p:spPr>
            <a:xfrm>
              <a:off x="4667250" y="5380990"/>
              <a:ext cx="8890" cy="762000"/>
            </a:xfrm>
            <a:prstGeom prst="rect">
              <a:avLst/>
            </a:prstGeom>
          </p:spPr>
        </p:pic>
        <p:pic>
          <p:nvPicPr>
            <p:cNvPr id="35" name="Image 14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1047750" y="5400675"/>
              <a:ext cx="209550" cy="209550"/>
            </a:xfrm>
            <a:prstGeom prst="rect">
              <a:avLst/>
            </a:prstGeom>
          </p:spPr>
        </p:pic>
        <p:sp>
          <p:nvSpPr>
            <p:cNvPr id="36" name="Text 19"/>
            <p:cNvSpPr txBox="1"/>
            <p:nvPr/>
          </p:nvSpPr>
          <p:spPr>
            <a:xfrm>
              <a:off x="1371600" y="5380990"/>
              <a:ext cx="3048635" cy="27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선정 배경</a:t>
              </a:r>
              <a:endParaRPr lang="en-US" sz="1500" dirty="0"/>
            </a:p>
          </p:txBody>
        </p:sp>
        <p:sp>
          <p:nvSpPr>
            <p:cNvPr id="37" name="Text 20"/>
            <p:cNvSpPr txBox="1"/>
            <p:nvPr/>
          </p:nvSpPr>
          <p:spPr>
            <a:xfrm>
              <a:off x="1047750" y="5810250"/>
              <a:ext cx="3752850" cy="486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아직 저평가된 상권의 미래 성장력을 </a:t>
              </a:r>
              <a:r>
                <a:rPr lang="en-US" sz="12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선제적으로</a:t>
              </a: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발굴하여</a:t>
              </a: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비즈니스 가치 창출</a:t>
              </a:r>
              <a:endParaRPr lang="en-US" sz="1200" dirty="0"/>
            </a:p>
          </p:txBody>
        </p:sp>
        <p:pic>
          <p:nvPicPr>
            <p:cNvPr id="38" name="Image 15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4953000" y="5400675"/>
              <a:ext cx="209550" cy="209550"/>
            </a:xfrm>
            <a:prstGeom prst="rect">
              <a:avLst/>
            </a:prstGeom>
          </p:spPr>
        </p:pic>
        <p:sp>
          <p:nvSpPr>
            <p:cNvPr id="39" name="Text 21"/>
            <p:cNvSpPr txBox="1"/>
            <p:nvPr/>
          </p:nvSpPr>
          <p:spPr>
            <a:xfrm>
              <a:off x="5276850" y="5380990"/>
              <a:ext cx="3048635" cy="27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비즈니스 활용 방안</a:t>
              </a:r>
              <a:endParaRPr lang="en-US" sz="1500" dirty="0"/>
            </a:p>
          </p:txBody>
        </p:sp>
        <p:pic>
          <p:nvPicPr>
            <p:cNvPr id="40" name="Image 16"/>
            <p:cNvPicPr>
              <a:picLocks noChangeAspect="1"/>
            </p:cNvPicPr>
            <p:nvPr/>
          </p:nvPicPr>
          <p:blipFill>
            <a:blip r:embed="rId14"/>
            <a:srcRect t="-301" b="-301"/>
            <a:stretch/>
          </p:blipFill>
          <p:spPr>
            <a:xfrm>
              <a:off x="4953000" y="5838190"/>
              <a:ext cx="76200" cy="152400"/>
            </a:xfrm>
            <a:prstGeom prst="rect">
              <a:avLst/>
            </a:prstGeom>
          </p:spPr>
        </p:pic>
        <p:sp>
          <p:nvSpPr>
            <p:cNvPr id="41" name="Text 22"/>
            <p:cNvSpPr txBox="1"/>
            <p:nvPr/>
          </p:nvSpPr>
          <p:spPr>
            <a:xfrm>
              <a:off x="5181600" y="5772785"/>
              <a:ext cx="6191250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프랜차이즈·유통 기업의 신규 점포 입지 선정 및 확장 전략 수립</a:t>
              </a:r>
              <a:endParaRPr lang="en-US" sz="1200" dirty="0"/>
            </a:p>
          </p:txBody>
        </p:sp>
        <p:pic>
          <p:nvPicPr>
            <p:cNvPr id="42" name="Image 17"/>
            <p:cNvPicPr>
              <a:picLocks noChangeAspect="1"/>
            </p:cNvPicPr>
            <p:nvPr/>
          </p:nvPicPr>
          <p:blipFill>
            <a:blip r:embed="rId14"/>
            <a:srcRect t="-301" b="-301"/>
            <a:stretch/>
          </p:blipFill>
          <p:spPr>
            <a:xfrm>
              <a:off x="4953000" y="6124575"/>
              <a:ext cx="76200" cy="152400"/>
            </a:xfrm>
            <a:prstGeom prst="rect">
              <a:avLst/>
            </a:prstGeom>
          </p:spPr>
        </p:pic>
        <p:sp>
          <p:nvSpPr>
            <p:cNvPr id="43" name="Text 23"/>
            <p:cNvSpPr txBox="1"/>
            <p:nvPr/>
          </p:nvSpPr>
          <p:spPr>
            <a:xfrm>
              <a:off x="5181600" y="6057900"/>
              <a:ext cx="6191250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유망 상권에 대한 마케팅 예산 집중 배분 및 저평가 상권 선제 진입</a:t>
              </a:r>
              <a:endParaRPr lang="en-US" sz="1200" dirty="0"/>
            </a:p>
          </p:txBody>
        </p:sp>
      </p:grpSp>
      <p:sp>
        <p:nvSpPr>
          <p:cNvPr id="45" name="도형 3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6" name="텍스트 상자 4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F4F24-4F5E-3509-E201-32258EECE01C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5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429125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96250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2000" y="3333750"/>
            <a:ext cx="10687685" cy="2428875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2000" y="3333750"/>
            <a:ext cx="10687685" cy="38100"/>
          </a:xfrm>
          <a:prstGeom prst="roundRect">
            <a:avLst>
              <a:gd name="adj" fmla="val 14939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500" y="3905250"/>
            <a:ext cx="10287000" cy="8890"/>
          </a:xfrm>
          <a:prstGeom prst="rect">
            <a:avLst/>
          </a:prstGeom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500" y="4476750"/>
            <a:ext cx="10287000" cy="8890"/>
          </a:xfrm>
          <a:prstGeom prst="rect">
            <a:avLst/>
          </a:prstGeom>
        </p:spPr>
      </p:pic>
      <p:pic>
        <p:nvPicPr>
          <p:cNvPr id="12" name="Image 2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500" y="5048250"/>
            <a:ext cx="10287000" cy="8890"/>
          </a:xfrm>
          <a:prstGeom prst="rect">
            <a:avLst/>
          </a:prstGeom>
        </p:spPr>
      </p:pic>
      <p:pic>
        <p:nvPicPr>
          <p:cNvPr id="13" name="Image 3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429385" y="6238875"/>
            <a:ext cx="9334500" cy="381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333500" y="6143625"/>
            <a:ext cx="228600" cy="228600"/>
          </a:xfrm>
          <a:prstGeom prst="ellipse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32385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1054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9723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8392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10629900" y="6143625"/>
            <a:ext cx="228600" cy="228600"/>
          </a:xfrm>
          <a:prstGeom prst="ellipse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1276350" y="504825"/>
            <a:ext cx="2572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전처리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</a:t>
            </a:r>
            <a:endParaRPr lang="en-US" sz="3000" dirty="0"/>
          </a:p>
        </p:txBody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047750" y="1905000"/>
            <a:ext cx="342900" cy="3048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47750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424개 행정동</a:t>
            </a:r>
            <a:endParaRPr lang="en-US" sz="2400" dirty="0"/>
          </a:p>
        </p:txBody>
      </p:sp>
      <p:sp>
        <p:nvSpPr>
          <p:cNvPr id="25" name="Text 18"/>
          <p:cNvSpPr txBox="1"/>
          <p:nvPr/>
        </p:nvSpPr>
        <p:spPr>
          <a:xfrm>
            <a:off x="1047750" y="2743200"/>
            <a:ext cx="2953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(둔촌2동 제외)</a:t>
            </a:r>
            <a:endParaRPr lang="en-US" sz="1200" dirty="0"/>
          </a:p>
        </p:txBody>
      </p:sp>
      <p:pic>
        <p:nvPicPr>
          <p:cNvPr id="26" name="Image 5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4714875" y="1905000"/>
            <a:ext cx="266700" cy="3048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714875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23분기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4714875" y="2743200"/>
            <a:ext cx="2872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(2020Q1 ~ 2025Q3)</a:t>
            </a:r>
            <a:endParaRPr lang="en-US" sz="1200" dirty="0"/>
          </a:p>
        </p:txBody>
      </p:sp>
      <p:pic>
        <p:nvPicPr>
          <p:cNvPr id="29" name="Image 6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8382000" y="1905000"/>
            <a:ext cx="342900" cy="3048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382000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19개 피처</a:t>
            </a:r>
            <a:endParaRPr lang="en-US" sz="2400" dirty="0"/>
          </a:p>
        </p:txBody>
      </p:sp>
      <p:sp>
        <p:nvSpPr>
          <p:cNvPr id="31" name="Text 22"/>
          <p:cNvSpPr txBox="1"/>
          <p:nvPr/>
        </p:nvSpPr>
        <p:spPr>
          <a:xfrm>
            <a:off x="8382000" y="2743200"/>
            <a:ext cx="2953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(상권 활력 예측 독립변수)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333500" y="35718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286500" y="35718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방법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1333500" y="4095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열린데이터 광장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333500" y="46672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</a:t>
            </a:r>
            <a:endParaRPr lang="en-US" sz="1500" dirty="0"/>
          </a:p>
        </p:txBody>
      </p:sp>
      <p:pic>
        <p:nvPicPr>
          <p:cNvPr id="38" name="Image 8"/>
          <p:cNvPicPr>
            <a:picLocks noChangeAspect="1"/>
          </p:cNvPicPr>
          <p:nvPr/>
        </p:nvPicPr>
        <p:blipFill>
          <a:blip r:embed="rId8"/>
          <a:srcRect l="-1773" r="-1773"/>
          <a:stretch/>
        </p:blipFill>
        <p:spPr>
          <a:xfrm>
            <a:off x="6276109" y="4707255"/>
            <a:ext cx="133350" cy="17208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562494" y="4667250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 데이터 파일 다운로드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1333500" y="5238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상권분석 서비스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762000" y="58578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타임라인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914400" y="6458585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 Q1</a:t>
            </a:r>
            <a:endParaRPr lang="en-US" sz="1300" dirty="0"/>
          </a:p>
        </p:txBody>
      </p:sp>
      <p:sp>
        <p:nvSpPr>
          <p:cNvPr id="45" name="Text 33"/>
          <p:cNvSpPr txBox="1"/>
          <p:nvPr/>
        </p:nvSpPr>
        <p:spPr>
          <a:xfrm>
            <a:off x="29718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48387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67056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85725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10210800" y="6458585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Q3</a:t>
            </a:r>
            <a:endParaRPr lang="en-US" sz="1300" dirty="0"/>
          </a:p>
        </p:txBody>
      </p:sp>
      <p:pic>
        <p:nvPicPr>
          <p:cNvPr id="50" name="Image 10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5905500"/>
            <a:ext cx="228600" cy="228600"/>
          </a:xfrm>
          <a:prstGeom prst="rect">
            <a:avLst/>
          </a:prstGeom>
        </p:spPr>
      </p:pic>
      <p:sp>
        <p:nvSpPr>
          <p:cNvPr id="52" name="도형 7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3" name="텍스트 상자 8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5781FED7-3561-1502-BB26-DEE66CD4C68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6262254" y="5296072"/>
            <a:ext cx="219710" cy="172085"/>
          </a:xfrm>
          <a:prstGeom prst="rect">
            <a:avLst/>
          </a:prstGeom>
        </p:spPr>
      </p:pic>
      <p:sp>
        <p:nvSpPr>
          <p:cNvPr id="20" name="Text 26">
            <a:extLst>
              <a:ext uri="{FF2B5EF4-FFF2-40B4-BE49-F238E27FC236}">
                <a16:creationId xmlns:a16="http://schemas.microsoft.com/office/drawing/2014/main" id="{F1C63954-4DF3-CDED-4C63-16CC5A1D1801}"/>
              </a:ext>
            </a:extLst>
          </p:cNvPr>
          <p:cNvSpPr txBox="1"/>
          <p:nvPr/>
        </p:nvSpPr>
        <p:spPr>
          <a:xfrm>
            <a:off x="6600594" y="5256067"/>
            <a:ext cx="29718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 연동</a:t>
            </a:r>
            <a:endParaRPr lang="en-US" sz="1500" dirty="0"/>
          </a:p>
        </p:txBody>
      </p:sp>
      <p:pic>
        <p:nvPicPr>
          <p:cNvPr id="51" name="Image 8">
            <a:extLst>
              <a:ext uri="{FF2B5EF4-FFF2-40B4-BE49-F238E27FC236}">
                <a16:creationId xmlns:a16="http://schemas.microsoft.com/office/drawing/2014/main" id="{6A327840-7CCF-A75F-FA15-1D6CA90A3FC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773" r="-1773"/>
          <a:stretch/>
        </p:blipFill>
        <p:spPr>
          <a:xfrm>
            <a:off x="6262254" y="4090726"/>
            <a:ext cx="133350" cy="172085"/>
          </a:xfrm>
          <a:prstGeom prst="rect">
            <a:avLst/>
          </a:prstGeom>
        </p:spPr>
      </p:pic>
      <p:sp>
        <p:nvSpPr>
          <p:cNvPr id="54" name="Text 28">
            <a:extLst>
              <a:ext uri="{FF2B5EF4-FFF2-40B4-BE49-F238E27FC236}">
                <a16:creationId xmlns:a16="http://schemas.microsoft.com/office/drawing/2014/main" id="{8884FB93-86B4-54C1-DED8-E89E40480045}"/>
              </a:ext>
            </a:extLst>
          </p:cNvPr>
          <p:cNvSpPr txBox="1"/>
          <p:nvPr/>
        </p:nvSpPr>
        <p:spPr>
          <a:xfrm>
            <a:off x="6548639" y="4050721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 데이터 파일 다운로드</a:t>
            </a:r>
            <a:endParaRPr lang="en-US" sz="15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C8DE3D-6C36-35A9-041F-7246BB75406F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6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1557135" y="1905000"/>
            <a:ext cx="2190750" cy="666750"/>
          </a:xfrm>
          <a:prstGeom prst="rect">
            <a:avLst/>
          </a:prstGeom>
        </p:spPr>
      </p:pic>
      <p:pic>
        <p:nvPicPr>
          <p:cNvPr id="6" name="Image 1" descr="C:/Users/Kim dong gwan/AppData/Roaming/PolarisOffice/ETemp/17048_16254952/image-7-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>
            <a:off x="1548245" y="2572385"/>
            <a:ext cx="2191385" cy="3521075"/>
          </a:xfrm>
          <a:prstGeom prst="rect">
            <a:avLst/>
          </a:prstGeom>
          <a:noFill/>
        </p:spPr>
      </p:pic>
      <p:pic>
        <p:nvPicPr>
          <p:cNvPr id="7" name="Image 2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3939655" y="1905000"/>
            <a:ext cx="2190750" cy="666750"/>
          </a:xfrm>
          <a:prstGeom prst="rect">
            <a:avLst/>
          </a:prstGeom>
        </p:spPr>
      </p:pic>
      <p:pic>
        <p:nvPicPr>
          <p:cNvPr id="8" name="Image 3" descr="C:/Users/Kim dong gwan/AppData/Roaming/PolarisOffice/ETemp/17048_16254952/image-7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>
            <a:off x="3930765" y="2572385"/>
            <a:ext cx="2191385" cy="3521075"/>
          </a:xfrm>
          <a:prstGeom prst="rect">
            <a:avLst/>
          </a:prstGeom>
          <a:noFill/>
        </p:spPr>
      </p:pic>
      <p:pic>
        <p:nvPicPr>
          <p:cNvPr id="9" name="Image 4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6320270" y="1905000"/>
            <a:ext cx="2190750" cy="666750"/>
          </a:xfrm>
          <a:prstGeom prst="rect">
            <a:avLst/>
          </a:prstGeom>
        </p:spPr>
      </p:pic>
      <p:pic>
        <p:nvPicPr>
          <p:cNvPr id="10" name="Image 5" descr="C:/Users/Kim dong gwan/AppData/Roaming/PolarisOffice/ETemp/17048_16254952/image-7-6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>
            <a:off x="6311380" y="2572385"/>
            <a:ext cx="2191385" cy="3521075"/>
          </a:xfrm>
          <a:prstGeom prst="rect">
            <a:avLst/>
          </a:prstGeom>
          <a:noFill/>
        </p:spPr>
      </p:pic>
      <p:pic>
        <p:nvPicPr>
          <p:cNvPr id="11" name="Image 6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8701520" y="1905000"/>
            <a:ext cx="2190750" cy="666750"/>
          </a:xfrm>
          <a:prstGeom prst="rect">
            <a:avLst/>
          </a:prstGeom>
        </p:spPr>
      </p:pic>
      <p:pic>
        <p:nvPicPr>
          <p:cNvPr id="12" name="Image 7" descr="C:/Users/Kim dong gwan/AppData/Roaming/PolarisOffice/ETemp/17048_16254952/image-7-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>
            <a:off x="8701520" y="2572385"/>
            <a:ext cx="2191385" cy="3521075"/>
          </a:xfrm>
          <a:prstGeom prst="rect">
            <a:avLst/>
          </a:prstGeom>
          <a:noFill/>
        </p:spPr>
      </p:pic>
      <p:sp>
        <p:nvSpPr>
          <p:cNvPr id="17" name="Text 5"/>
          <p:cNvSpPr txBox="1"/>
          <p:nvPr/>
        </p:nvSpPr>
        <p:spPr>
          <a:xfrm>
            <a:off x="920547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000" b="1" dirty="0" err="1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</a:t>
            </a:r>
            <a:endParaRPr lang="en-US" sz="3000" dirty="0"/>
          </a:p>
        </p:txBody>
      </p:sp>
      <p:sp>
        <p:nvSpPr>
          <p:cNvPr id="18" name="Text 6"/>
          <p:cNvSpPr txBox="1"/>
          <p:nvPr/>
        </p:nvSpPr>
        <p:spPr>
          <a:xfrm>
            <a:off x="1519670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200" dirty="0"/>
          </a:p>
        </p:txBody>
      </p:sp>
      <p:pic>
        <p:nvPicPr>
          <p:cNvPr id="20" name="Image 10"/>
          <p:cNvPicPr>
            <a:picLocks noChangeAspect="1"/>
          </p:cNvPicPr>
          <p:nvPr/>
        </p:nvPicPr>
        <p:blipFill>
          <a:blip r:embed="rId5"/>
          <a:srcRect l="-21233" r="-21233"/>
          <a:stretch/>
        </p:blipFill>
        <p:spPr>
          <a:xfrm>
            <a:off x="3727738" y="3810000"/>
            <a:ext cx="237490" cy="266700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3900920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결측치 처리</a:t>
            </a:r>
            <a:endParaRPr lang="en-US" sz="1200" dirty="0"/>
          </a:p>
        </p:txBody>
      </p:sp>
      <p:sp>
        <p:nvSpPr>
          <p:cNvPr id="22" name="Text 9"/>
          <p:cNvSpPr txBox="1"/>
          <p:nvPr/>
        </p:nvSpPr>
        <p:spPr>
          <a:xfrm>
            <a:off x="4081895" y="2809875"/>
            <a:ext cx="1981835" cy="27438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•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추정매출액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행정동 항동의 경우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비례배분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적용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임대시세·직장인구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- 0으로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대체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결측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여부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더미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추가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집객시설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- 202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Q4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데이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터로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2025년 데이터 </a:t>
            </a:r>
            <a:r>
              <a:rPr lang="ko-KR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결측치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대체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둔촌2동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2020Q1 ~ 2024Q4까지의 데이터가 없어 제외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3" name="Image 11"/>
          <p:cNvPicPr>
            <a:picLocks noChangeAspect="1"/>
          </p:cNvPicPr>
          <p:nvPr/>
        </p:nvPicPr>
        <p:blipFill>
          <a:blip r:embed="rId5"/>
          <a:srcRect l="-21233" r="-21233"/>
          <a:stretch/>
        </p:blipFill>
        <p:spPr>
          <a:xfrm>
            <a:off x="6108353" y="3810000"/>
            <a:ext cx="237490" cy="266700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6282170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파생변수 생성</a:t>
            </a:r>
            <a:endParaRPr lang="en-US" sz="1200" dirty="0"/>
          </a:p>
        </p:txBody>
      </p:sp>
      <p:sp>
        <p:nvSpPr>
          <p:cNvPr id="25" name="Text 11"/>
          <p:cNvSpPr txBox="1">
            <a:spLocks/>
          </p:cNvSpPr>
          <p:nvPr/>
        </p:nvSpPr>
        <p:spPr>
          <a:xfrm>
            <a:off x="6415520" y="2714625"/>
            <a:ext cx="2077085" cy="30016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0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상권기본지표</a:t>
            </a:r>
            <a:r>
              <a:rPr 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도출</a:t>
            </a:r>
            <a:endParaRPr lang="ko-KR" altLang="en-US" sz="10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r>
              <a:rPr lang="en-US" alt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교통시설 수</a:t>
            </a:r>
          </a:p>
          <a:p>
            <a:r>
              <a:rPr lang="en-US" alt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상업시설 수</a:t>
            </a:r>
            <a:endParaRPr lang="en-US" altLang="ko-KR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r>
              <a:rPr lang="en-US" alt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교육시설 수</a:t>
            </a:r>
            <a:endParaRPr lang="en-US" altLang="ko-KR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r>
              <a:rPr lang="en-US" alt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의료시설 수</a:t>
            </a:r>
            <a:endParaRPr lang="en-US" altLang="ko-KR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r>
              <a:rPr lang="en-US" alt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공공시설 수</a:t>
            </a:r>
          </a:p>
          <a:p>
            <a:pPr marL="0" indent="0" algn="l">
              <a:buFontTx/>
              <a:buNone/>
            </a:pPr>
            <a:endParaRPr lang="ko-KR" altLang="en-US" sz="1000" dirty="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0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변화율지표</a:t>
            </a:r>
            <a:endParaRPr lang="ko-KR" altLang="en-US" sz="10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YoY(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전년동기대비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)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QoQ(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전분기대비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)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000" dirty="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0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추세지표</a:t>
            </a:r>
            <a:endParaRPr lang="ko-KR" altLang="en-US" sz="10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Rolling 4분기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이동평균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000" dirty="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ko-KR" altLang="en-US" sz="10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임대료대비 수익성 변수 생성</a:t>
            </a: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추정매출액</a:t>
            </a:r>
            <a:r>
              <a:rPr lang="en-US" altLang="ko-KR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/</a:t>
            </a:r>
            <a:r>
              <a:rPr lang="ko-KR" alt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임대시세</a:t>
            </a:r>
            <a:endParaRPr lang="en-US" altLang="ko-KR" sz="1000" b="1" dirty="0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altLang="ko-KR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alt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임대시세가 </a:t>
            </a:r>
            <a:r>
              <a:rPr lang="ko-KR" altLang="en-US" sz="1000" b="1" dirty="0" err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결측인</a:t>
            </a:r>
            <a:r>
              <a:rPr lang="ko-KR" alt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 경우 </a:t>
            </a:r>
            <a:r>
              <a:rPr lang="en-US" altLang="ko-KR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altLang="en-US" sz="1000" b="1" dirty="0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으로 대체</a:t>
            </a:r>
          </a:p>
        </p:txBody>
      </p:sp>
      <p:pic>
        <p:nvPicPr>
          <p:cNvPr id="26" name="Image 12" descr="C:/Users/Kim dong gwan/AppData/Roaming/PolarisOffice/ETemp/17048_16254952/image-7-13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33" r="-21233"/>
          <a:stretch>
            <a:fillRect/>
          </a:stretch>
        </p:blipFill>
        <p:spPr>
          <a:xfrm>
            <a:off x="8490873" y="3810000"/>
            <a:ext cx="238125" cy="267335"/>
          </a:xfrm>
          <a:prstGeom prst="rect">
            <a:avLst/>
          </a:prstGeom>
          <a:noFill/>
        </p:spPr>
      </p:pic>
      <p:sp>
        <p:nvSpPr>
          <p:cNvPr id="27" name="Text 12"/>
          <p:cNvSpPr txBox="1"/>
          <p:nvPr/>
        </p:nvSpPr>
        <p:spPr>
          <a:xfrm>
            <a:off x="8663420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왜도 보정</a:t>
            </a:r>
            <a:endParaRPr lang="en-US" sz="1200" dirty="0"/>
          </a:p>
        </p:txBody>
      </p:sp>
      <p:sp>
        <p:nvSpPr>
          <p:cNvPr id="28" name="Text 13"/>
          <p:cNvSpPr txBox="1">
            <a:spLocks/>
          </p:cNvSpPr>
          <p:nvPr/>
        </p:nvSpPr>
        <p:spPr>
          <a:xfrm>
            <a:off x="8844395" y="2791460"/>
            <a:ext cx="1981835" cy="2515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비대칭성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진단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왜도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(Skewness) ≥ 1.0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보정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방법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적용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log(1+x)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변환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수행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정규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분포</a:t>
            </a: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근사화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endParaRPr lang="ko-KR" altLang="en-US" sz="1000" b="1" dirty="0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텍스트 상자 36"/>
          <p:cNvSpPr txBox="1">
            <a:spLocks/>
          </p:cNvSpPr>
          <p:nvPr/>
        </p:nvSpPr>
        <p:spPr>
          <a:xfrm>
            <a:off x="1276350" y="504825"/>
            <a:ext cx="257302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데이터 수집 &amp; 전처리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도형 37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텍스트 상자 38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텍스트 상자 62"/>
          <p:cNvSpPr txBox="1">
            <a:spLocks/>
          </p:cNvSpPr>
          <p:nvPr/>
        </p:nvSpPr>
        <p:spPr>
          <a:xfrm>
            <a:off x="1664450" y="2881630"/>
            <a:ext cx="1981835" cy="2743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• </a:t>
            </a:r>
            <a:r>
              <a:rPr lang="ko-KR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행정동 병합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행정동 코드, 연도, 분기 3개 기준 병합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ko-KR" sz="1100" b="1" dirty="0" err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서울열린데이터</a:t>
            </a:r>
            <a:r>
              <a:rPr lang="ko-KR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광장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유동인구, 매출, 점포 등 각 행정동 코드, 연도, 분기에 따라 병합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</a:t>
            </a:r>
            <a:r>
              <a:rPr lang="ko-KR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통계청 데이터 병합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등록인구, 직장인구 등 각 행정동 코드, 연도, 분기에 따라 병합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 dirty="0"/>
          </a:p>
          <a:p>
            <a:pPr marL="0" indent="0" algn="l">
              <a:buFontTx/>
              <a:buNone/>
            </a:pPr>
            <a:r>
              <a:rPr lang="en-US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• </a:t>
            </a:r>
            <a:r>
              <a:rPr lang="ko-KR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서울시 상권분석 서비스</a:t>
            </a:r>
            <a:r>
              <a:rPr lang="en-US" altLang="ko-KR" sz="1100" b="1" dirty="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 API</a:t>
            </a:r>
            <a:endParaRPr lang="ko-KR" altLang="en-US" sz="1100" b="1" dirty="0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임대시세, </a:t>
            </a:r>
            <a:r>
              <a:rPr lang="ko-KR" sz="1000" b="1" dirty="0" err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집객시설</a:t>
            </a:r>
            <a:r>
              <a:rPr lang="ko-KR" sz="1000" b="1" dirty="0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 등 각 행정동 코드, 연도, 분기에 따라 병합</a:t>
            </a:r>
            <a:endParaRPr lang="ko-KR" altLang="en-US" sz="1000" b="1" dirty="0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451AA-9C5D-3A91-F5D9-48C1979CFC7D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7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333500" y="1714500"/>
            <a:ext cx="9563100" cy="990600"/>
          </a:xfrm>
          <a:prstGeom prst="roundRect">
            <a:avLst>
              <a:gd name="adj" fmla="val 21308"/>
            </a:avLst>
          </a:prstGeom>
          <a:solidFill>
            <a:srgbClr val="E8EEFF"/>
          </a:solidFill>
          <a:ln w="254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333500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1333500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1619250" y="3666490"/>
            <a:ext cx="2381250" cy="889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19625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4619625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4906010" y="3666490"/>
            <a:ext cx="2381250" cy="889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905750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7905750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8191500" y="3666490"/>
            <a:ext cx="2381250" cy="889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333500" y="5334000"/>
            <a:ext cx="9544685" cy="1162050"/>
          </a:xfrm>
          <a:prstGeom prst="roundRect">
            <a:avLst>
              <a:gd name="adj" fmla="val 1031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6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333500" y="5334000"/>
            <a:ext cx="57785" cy="11430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62000" y="952500"/>
            <a:ext cx="640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타겟변수(상권활력점수) 정의</a:t>
            </a:r>
            <a:endParaRPr lang="en-US" sz="3000" dirty="0"/>
          </a:p>
        </p:txBody>
      </p:sp>
      <p:sp>
        <p:nvSpPr>
          <p:cNvPr id="23" name="Text 14"/>
          <p:cNvSpPr txBox="1"/>
          <p:nvPr/>
        </p:nvSpPr>
        <p:spPr>
          <a:xfrm>
            <a:off x="1238250" y="2000885"/>
            <a:ext cx="97155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</a:t>
            </a:r>
            <a:r>
              <a:rPr lang="en-US" sz="24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활력점수</a:t>
            </a:r>
            <a:r>
              <a:rPr lang="en-US" sz="24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</a:t>
            </a:r>
            <a:r>
              <a:rPr lang="en-US" sz="2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</a:t>
            </a:r>
            <a:r>
              <a:rPr lang="en-US" sz="24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소비점수</a:t>
            </a: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r>
              <a:rPr lang="en-US" sz="24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생산점수</a:t>
            </a: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인구점수</a:t>
            </a:r>
            <a:r>
              <a:rPr lang="en-US" sz="2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400" dirty="0"/>
          </a:p>
        </p:txBody>
      </p:sp>
      <p:sp>
        <p:nvSpPr>
          <p:cNvPr id="27" name="Text 15"/>
          <p:cNvSpPr txBox="1"/>
          <p:nvPr/>
        </p:nvSpPr>
        <p:spPr>
          <a:xfrm>
            <a:off x="1238250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소비점수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1295400" y="3952875"/>
            <a:ext cx="3029585" cy="85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Z_유동1인당매출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Z_등록1인당지출 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524375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생산점수</a:t>
            </a:r>
            <a:endParaRPr lang="en-US" sz="1600" dirty="0"/>
          </a:p>
        </p:txBody>
      </p:sp>
      <p:sp>
        <p:nvSpPr>
          <p:cNvPr id="30" name="Text 18"/>
          <p:cNvSpPr txBox="1"/>
          <p:nvPr/>
        </p:nvSpPr>
        <p:spPr>
          <a:xfrm>
            <a:off x="4580890" y="3952875"/>
            <a:ext cx="3029585" cy="85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Z_유사업종점포수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Z_개업률 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7810500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인구점수</a:t>
            </a:r>
            <a:endParaRPr lang="en-US" sz="1600" dirty="0"/>
          </a:p>
        </p:txBody>
      </p:sp>
      <p:sp>
        <p:nvSpPr>
          <p:cNvPr id="32" name="Text 20"/>
          <p:cNvSpPr txBox="1"/>
          <p:nvPr/>
        </p:nvSpPr>
        <p:spPr>
          <a:xfrm>
            <a:off x="7867650" y="3810000"/>
            <a:ext cx="302958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Z_유동인구밀도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Z_직장인구밀도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Z_등록인구밀도 </a:t>
            </a:r>
            <a:endParaRPr lang="en-US" sz="1300" dirty="0"/>
          </a:p>
        </p:txBody>
      </p:sp>
      <p:pic>
        <p:nvPicPr>
          <p:cNvPr id="33" name="Imag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19250" y="5612765"/>
            <a:ext cx="172085" cy="17208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905000" y="556260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방법: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데이터의 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log(1+x)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변환 후 분기별 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cross-sectional Z-score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적용으로 스케일 통일</a:t>
            </a:r>
            <a:endParaRPr lang="en-US" sz="1300" dirty="0"/>
          </a:p>
        </p:txBody>
      </p:sp>
      <p:pic>
        <p:nvPicPr>
          <p:cNvPr id="35" name="Image 1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19250" y="5993765"/>
            <a:ext cx="172085" cy="172085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905001" y="5953124"/>
            <a:ext cx="801378" cy="2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sz="1300" dirty="0"/>
          </a:p>
        </p:txBody>
      </p:sp>
      <p:sp>
        <p:nvSpPr>
          <p:cNvPr id="37" name="Text 23"/>
          <p:cNvSpPr txBox="1"/>
          <p:nvPr/>
        </p:nvSpPr>
        <p:spPr>
          <a:xfrm>
            <a:off x="7518688" y="6550834"/>
            <a:ext cx="352044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[참고] KRIHS 국토변화모니터링 지수 개발 연구 방법론 기반 </a:t>
            </a:r>
            <a:endParaRPr lang="en-US" sz="1000" dirty="0"/>
          </a:p>
        </p:txBody>
      </p:sp>
      <p:pic>
        <p:nvPicPr>
          <p:cNvPr id="38" name="Image 12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7336732" y="6575945"/>
            <a:ext cx="114300" cy="133350"/>
          </a:xfrm>
          <a:prstGeom prst="rect">
            <a:avLst/>
          </a:prstGeom>
        </p:spPr>
      </p:pic>
      <p:sp>
        <p:nvSpPr>
          <p:cNvPr id="39" name="도형 123"/>
          <p:cNvSpPr>
            <a:spLocks/>
          </p:cNvSpPr>
          <p:nvPr/>
        </p:nvSpPr>
        <p:spPr>
          <a:xfrm>
            <a:off x="2588895" y="2707005"/>
            <a:ext cx="579755" cy="262890"/>
          </a:xfrm>
          <a:prstGeom prst="downArrow">
            <a:avLst/>
          </a:prstGeom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0" name="도형 125"/>
          <p:cNvSpPr>
            <a:spLocks/>
          </p:cNvSpPr>
          <p:nvPr/>
        </p:nvSpPr>
        <p:spPr>
          <a:xfrm>
            <a:off x="5819775" y="2706370"/>
            <a:ext cx="579755" cy="262890"/>
          </a:xfrm>
          <a:prstGeom prst="downArrow">
            <a:avLst/>
          </a:prstGeom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1" name="도형 126"/>
          <p:cNvSpPr>
            <a:spLocks/>
          </p:cNvSpPr>
          <p:nvPr/>
        </p:nvSpPr>
        <p:spPr>
          <a:xfrm>
            <a:off x="9150985" y="2706370"/>
            <a:ext cx="579755" cy="262890"/>
          </a:xfrm>
          <a:prstGeom prst="downArrow">
            <a:avLst/>
          </a:prstGeom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CB9BE63B-F64F-5DA7-BFC1-66688FADBF9E}"/>
              </a:ext>
            </a:extLst>
          </p:cNvPr>
          <p:cNvSpPr txBox="1"/>
          <p:nvPr/>
        </p:nvSpPr>
        <p:spPr>
          <a:xfrm>
            <a:off x="2675206" y="6032589"/>
            <a:ext cx="7257234" cy="3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국토부의 </a:t>
            </a:r>
            <a:r>
              <a:rPr lang="ko-KR" alt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지역활력지수</a:t>
            </a:r>
            <a:r>
              <a:rPr lang="ko-KR" alt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산출 방법론을 준용</a:t>
            </a: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가능한 데이터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일관성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대표성을 기준으로 지표를 선정하고 표준화 점수의 평균으로 </a:t>
            </a:r>
            <a:r>
              <a:rPr lang="ko-KR" altLang="en-US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상권활력점수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(Y) </a:t>
            </a:r>
            <a:r>
              <a:rPr lang="ko-KR" alt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1D964-A097-320D-22AE-109FAA8DF533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12</a:t>
            </a:r>
            <a:endParaRPr lang="ko-KR" altLang="en-US" sz="1000" dirty="0"/>
          </a:p>
        </p:txBody>
      </p:sp>
      <p:sp>
        <p:nvSpPr>
          <p:cNvPr id="2" name="텍스트 상자 36">
            <a:extLst>
              <a:ext uri="{FF2B5EF4-FFF2-40B4-BE49-F238E27FC236}">
                <a16:creationId xmlns:a16="http://schemas.microsoft.com/office/drawing/2014/main" id="{8C8047B5-7574-B6B4-D180-E5C7A5A6CA1B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57302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데이터 수집 &amp; 전처리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" name="도형 37">
            <a:extLst>
              <a:ext uri="{FF2B5EF4-FFF2-40B4-BE49-F238E27FC236}">
                <a16:creationId xmlns:a16="http://schemas.microsoft.com/office/drawing/2014/main" id="{5B2EB8C3-EBCF-4D90-14D4-19135C622E28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텍스트 상자 38">
            <a:extLst>
              <a:ext uri="{FF2B5EF4-FFF2-40B4-BE49-F238E27FC236}">
                <a16:creationId xmlns:a16="http://schemas.microsoft.com/office/drawing/2014/main" id="{03622DAC-3846-2BC1-F71F-31A0E1D0C955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>
            <a:spLocks/>
          </p:cNvSpPr>
          <p:nvPr/>
        </p:nvSpPr>
        <p:spPr>
          <a:xfrm>
            <a:off x="84963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2745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264922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2745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Shape 5"/>
          <p:cNvSpPr>
            <a:spLocks/>
          </p:cNvSpPr>
          <p:nvPr/>
        </p:nvSpPr>
        <p:spPr>
          <a:xfrm>
            <a:off x="4449445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2745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" name="Shape 6"/>
          <p:cNvSpPr>
            <a:spLocks/>
          </p:cNvSpPr>
          <p:nvPr/>
        </p:nvSpPr>
        <p:spPr>
          <a:xfrm>
            <a:off x="624967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2745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8050530" y="2057400"/>
            <a:ext cx="1515110" cy="781685"/>
          </a:xfrm>
          <a:prstGeom prst="roundRect">
            <a:avLst>
              <a:gd name="adj" fmla="val 22848"/>
            </a:avLst>
          </a:prstGeom>
          <a:solidFill>
            <a:srgbClr val="E8EEFF"/>
          </a:solidFill>
          <a:ln w="25400" cap="flat" cmpd="sng">
            <a:solidFill>
              <a:srgbClr val="1A35B5">
                <a:alpha val="100000"/>
              </a:srgbClr>
            </a:solidFill>
            <a:prstDash val="solid"/>
          </a:ln>
          <a:effectLst>
            <a:outerShdw blurRad="101600" dist="38100" dir="16200000" algn="bl" rotWithShape="0">
              <a:srgbClr val="1A35B5">
                <a:alpha val="14901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Shape 8"/>
          <p:cNvSpPr>
            <a:spLocks/>
          </p:cNvSpPr>
          <p:nvPr/>
        </p:nvSpPr>
        <p:spPr>
          <a:xfrm>
            <a:off x="985012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2745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2000" y="3381374"/>
            <a:ext cx="10687685" cy="2670467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62000" y="3381375"/>
            <a:ext cx="10687685" cy="28575"/>
          </a:xfrm>
          <a:prstGeom prst="roundRect">
            <a:avLst>
              <a:gd name="adj" fmla="val 15240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62000" y="6123711"/>
            <a:ext cx="10668000" cy="476250"/>
          </a:xfrm>
          <a:prstGeom prst="roundRect">
            <a:avLst>
              <a:gd name="adj" fmla="val 46065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3"/>
          <a:srcRect l="-384" r="-384"/>
          <a:stretch/>
        </p:blipFill>
        <p:spPr>
          <a:xfrm>
            <a:off x="762000" y="6123711"/>
            <a:ext cx="57785" cy="476250"/>
          </a:xfrm>
          <a:prstGeom prst="rect">
            <a:avLst/>
          </a:prstGeom>
        </p:spPr>
      </p:pic>
      <p:pic>
        <p:nvPicPr>
          <p:cNvPr id="15" name="Image 1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500" y="3905250"/>
            <a:ext cx="10287000" cy="8890"/>
          </a:xfrm>
          <a:prstGeom prst="rect">
            <a:avLst/>
          </a:prstGeom>
        </p:spPr>
      </p:pic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500" y="4476750"/>
            <a:ext cx="10287000" cy="8890"/>
          </a:xfrm>
          <a:prstGeom prst="rect">
            <a:avLst/>
          </a:prstGeom>
        </p:spPr>
      </p:pic>
      <p:pic>
        <p:nvPicPr>
          <p:cNvPr id="17" name="Image 3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500" y="5048250"/>
            <a:ext cx="10287000" cy="88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620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방법론 &amp; PCA 결과</a:t>
            </a:r>
            <a:endParaRPr lang="en-US" sz="3000" dirty="0"/>
          </a:p>
        </p:txBody>
      </p:sp>
      <p:pic>
        <p:nvPicPr>
          <p:cNvPr id="21" name="Image 4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762000" y="1764665"/>
            <a:ext cx="190500" cy="1720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47750" y="1714500"/>
            <a:ext cx="30486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및 모델링 파이프라인</a:t>
            </a:r>
            <a:endParaRPr lang="en-US" sz="1300" dirty="0"/>
          </a:p>
        </p:txBody>
      </p:sp>
      <p:sp>
        <p:nvSpPr>
          <p:cNvPr id="23" name="Text 16"/>
          <p:cNvSpPr txBox="1">
            <a:spLocks/>
          </p:cNvSpPr>
          <p:nvPr/>
        </p:nvSpPr>
        <p:spPr>
          <a:xfrm>
            <a:off x="810895" y="2095500"/>
            <a:ext cx="1553210" cy="6680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11개 변수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4" name="Image 5" descr="C:/Users/Kim dong gwan/AppData/Roaming/PolarisOffice/ETemp/17048_16254952/image-9-6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2372995" y="2329180"/>
            <a:ext cx="123825" cy="191135"/>
          </a:xfrm>
          <a:prstGeom prst="rect">
            <a:avLst/>
          </a:prstGeom>
          <a:noFill/>
        </p:spPr>
      </p:pic>
      <p:sp>
        <p:nvSpPr>
          <p:cNvPr id="25" name="Text 17"/>
          <p:cNvSpPr txBox="1">
            <a:spLocks/>
          </p:cNvSpPr>
          <p:nvPr/>
        </p:nvSpPr>
        <p:spPr>
          <a:xfrm>
            <a:off x="2619375" y="2159635"/>
            <a:ext cx="1536700" cy="5435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윈저라이징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90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(1% / 99%)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6" name="Image 6" descr="C:/Users/Kim dong gwan/AppData/Roaming/PolarisOffice/ETemp/17048_16254952/image-9-7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4173220" y="2329180"/>
            <a:ext cx="123825" cy="191135"/>
          </a:xfrm>
          <a:prstGeom prst="rect">
            <a:avLst/>
          </a:prstGeom>
          <a:noFill/>
        </p:spPr>
      </p:pic>
      <p:sp>
        <p:nvSpPr>
          <p:cNvPr id="27" name="Text 18"/>
          <p:cNvSpPr txBox="1">
            <a:spLocks/>
          </p:cNvSpPr>
          <p:nvPr/>
        </p:nvSpPr>
        <p:spPr>
          <a:xfrm>
            <a:off x="4420235" y="2159635"/>
            <a:ext cx="1536700" cy="5435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왜도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&gt; 1.0</a:t>
            </a:r>
            <a:endParaRPr lang="ko-KR" altLang="en-US" sz="1200" b="1" dirty="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log </a:t>
            </a:r>
            <a:r>
              <a:rPr lang="en-US" sz="1000" b="1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변환</a:t>
            </a:r>
            <a:endParaRPr lang="ko-KR" altLang="en-US" sz="1000" b="1" dirty="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8" name="Image 7" descr="C:/Users/Kim dong gwan/AppData/Roaming/PolarisOffice/ETemp/17048_16254952/image-9-8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5973445" y="2329180"/>
            <a:ext cx="123825" cy="191135"/>
          </a:xfrm>
          <a:prstGeom prst="rect">
            <a:avLst/>
          </a:prstGeom>
          <a:noFill/>
        </p:spPr>
      </p:pic>
      <p:sp>
        <p:nvSpPr>
          <p:cNvPr id="29" name="Text 19"/>
          <p:cNvSpPr txBox="1">
            <a:spLocks/>
          </p:cNvSpPr>
          <p:nvPr/>
        </p:nvSpPr>
        <p:spPr>
          <a:xfrm>
            <a:off x="6220460" y="2159635"/>
            <a:ext cx="1536700" cy="5435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Robust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Scaler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0" name="Image 8" descr="C:/Users/Kim dong gwan/AppData/Roaming/PolarisOffice/ETemp/17048_16254952/image-9-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7774305" y="2329180"/>
            <a:ext cx="123825" cy="191135"/>
          </a:xfrm>
          <a:prstGeom prst="rect">
            <a:avLst/>
          </a:prstGeom>
          <a:noFill/>
        </p:spPr>
      </p:pic>
      <p:sp>
        <p:nvSpPr>
          <p:cNvPr id="31" name="Text 20"/>
          <p:cNvSpPr txBox="1">
            <a:spLocks/>
          </p:cNvSpPr>
          <p:nvPr/>
        </p:nvSpPr>
        <p:spPr>
          <a:xfrm>
            <a:off x="8020050" y="2157846"/>
            <a:ext cx="1536700" cy="5721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PCA</a:t>
            </a:r>
            <a:endParaRPr lang="ko-KR" altLang="en-US" sz="1300" b="1" dirty="0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(</a:t>
            </a:r>
            <a:r>
              <a:rPr lang="en-US" sz="1000" b="1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주성분</a:t>
            </a:r>
            <a:r>
              <a:rPr lang="en-US" sz="10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000" b="1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분석</a:t>
            </a:r>
            <a:r>
              <a:rPr lang="en-US" sz="10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)</a:t>
            </a:r>
            <a:endParaRPr lang="ko-KR" altLang="en-US" sz="1000" b="1" dirty="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2" name="Image 9" descr="C:/Users/Kim dong gwan/AppData/Roaming/PolarisOffice/ETemp/17048_16254952/image-9-10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9573895" y="2329180"/>
            <a:ext cx="123825" cy="191135"/>
          </a:xfrm>
          <a:prstGeom prst="rect">
            <a:avLst/>
          </a:prstGeom>
          <a:noFill/>
        </p:spPr>
      </p:pic>
      <p:sp>
        <p:nvSpPr>
          <p:cNvPr id="33" name="Text 21"/>
          <p:cNvSpPr txBox="1">
            <a:spLocks/>
          </p:cNvSpPr>
          <p:nvPr/>
        </p:nvSpPr>
        <p:spPr>
          <a:xfrm>
            <a:off x="9820275" y="2170026"/>
            <a:ext cx="1536700" cy="5435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K-Means</a:t>
            </a:r>
            <a:endParaRPr lang="ko-KR" altLang="en-US" sz="1200" b="1" dirty="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(k=3)</a:t>
            </a:r>
            <a:endParaRPr lang="ko-KR" altLang="en-US" sz="1000" b="1" dirty="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4" name="Image 10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2000" y="3098165"/>
            <a:ext cx="172085" cy="17208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047750" y="30480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PCA 결과 상세</a:t>
            </a:r>
            <a:endParaRPr lang="en-US" sz="1300" dirty="0"/>
          </a:p>
        </p:txBody>
      </p:sp>
      <p:sp>
        <p:nvSpPr>
          <p:cNvPr id="36" name="Text 23"/>
          <p:cNvSpPr txBox="1"/>
          <p:nvPr/>
        </p:nvSpPr>
        <p:spPr>
          <a:xfrm>
            <a:off x="1009650" y="3571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1953895" y="3571875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설명분산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3288030" y="3571875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누적분산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4762500" y="3571875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기여 변수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9048750" y="3571875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 해석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1009650" y="40957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PC1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1962150" y="40957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37.8%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3" name="Text 30"/>
          <p:cNvSpPr txBox="1"/>
          <p:nvPr/>
        </p:nvSpPr>
        <p:spPr>
          <a:xfrm>
            <a:off x="3295650" y="40957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37.8%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Text 31"/>
          <p:cNvSpPr txBox="1"/>
          <p:nvPr/>
        </p:nvSpPr>
        <p:spPr>
          <a:xfrm>
            <a:off x="4762500" y="4095750"/>
            <a:ext cx="4401820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등록1인당지출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(28.9%)</a:t>
            </a: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, 직장인구밀도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(21.2%)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Text 32"/>
          <p:cNvSpPr txBox="1"/>
          <p:nvPr/>
        </p:nvSpPr>
        <p:spPr>
          <a:xfrm>
            <a:off x="9048750" y="40582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 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1009650" y="46672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PC2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1962150" y="46672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22.2%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8" name="Text 35"/>
          <p:cNvSpPr txBox="1"/>
          <p:nvPr/>
        </p:nvSpPr>
        <p:spPr>
          <a:xfrm>
            <a:off x="3295650" y="46672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60.0%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Text 36"/>
          <p:cNvSpPr txBox="1"/>
          <p:nvPr/>
        </p:nvSpPr>
        <p:spPr>
          <a:xfrm>
            <a:off x="4762500" y="4667250"/>
            <a:ext cx="4401820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집객시설밀도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(25.3%)</a:t>
            </a: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, 유동인구밀도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(25.2%)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0" name="Text 37"/>
          <p:cNvSpPr txBox="1"/>
          <p:nvPr/>
        </p:nvSpPr>
        <p:spPr>
          <a:xfrm>
            <a:off x="9048750" y="46297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밀도 축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1009650" y="52387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PC3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1962150" y="52387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11.7%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3295650" y="5238750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71.7%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4" name="Text 41"/>
          <p:cNvSpPr txBox="1"/>
          <p:nvPr/>
        </p:nvSpPr>
        <p:spPr>
          <a:xfrm>
            <a:off x="4762500" y="5238750"/>
            <a:ext cx="4401820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프랜차이즈비율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(46.9%)</a:t>
            </a:r>
            <a:r>
              <a:rPr lang="en-US" sz="1200" b="1" spc="-1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, 상권변동성 </a:t>
            </a:r>
            <a:r>
              <a:rPr lang="en-US" sz="1000" b="1" spc="-1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(28.1%)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5" name="Text 42"/>
          <p:cNvSpPr txBox="1"/>
          <p:nvPr/>
        </p:nvSpPr>
        <p:spPr>
          <a:xfrm>
            <a:off x="9048750" y="52012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안정성 축</a:t>
            </a:r>
            <a:endParaRPr lang="en-US" sz="1200" dirty="0"/>
          </a:p>
        </p:txBody>
      </p:sp>
      <p:pic>
        <p:nvPicPr>
          <p:cNvPr id="56" name="Image 11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00125" y="6280556"/>
            <a:ext cx="190500" cy="1905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333500" y="6247536"/>
            <a:ext cx="10020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PC4(</a:t>
            </a:r>
            <a:r>
              <a:rPr lang="en-US" sz="1300" kern="0" spc="-22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</a:t>
            </a:r>
            <a:r>
              <a:rPr lang="en-US" sz="1300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kern="0" spc="-22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</a:t>
            </a:r>
            <a:r>
              <a:rPr lang="en-US" sz="1300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비율)까지 </a:t>
            </a:r>
            <a:r>
              <a:rPr lang="en-US" sz="1300" b="1" kern="0" spc="-22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누적분산 81.0%</a:t>
            </a:r>
            <a:r>
              <a:rPr lang="en-US" sz="1300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도달 → 최종적으로 </a:t>
            </a:r>
            <a:r>
              <a:rPr lang="en-US" sz="1300" b="1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Principal Component 채택</a:t>
            </a:r>
            <a:r>
              <a:rPr lang="en-US" sz="1300" kern="0" spc="-2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상권 클러스터링 수행</a:t>
            </a:r>
            <a:endParaRPr lang="en-US" sz="1300" dirty="0"/>
          </a:p>
        </p:txBody>
      </p:sp>
      <p:sp>
        <p:nvSpPr>
          <p:cNvPr id="59" name="도형 11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0" name="텍스트 상자 12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BBD9D-146F-E980-449A-809FEF1E4B0D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8</a:t>
            </a:r>
            <a:endParaRPr lang="ko-KR" altLang="en-US" sz="1000" dirty="0"/>
          </a:p>
        </p:txBody>
      </p:sp>
      <p:sp>
        <p:nvSpPr>
          <p:cNvPr id="2" name="Text 38">
            <a:extLst>
              <a:ext uri="{FF2B5EF4-FFF2-40B4-BE49-F238E27FC236}">
                <a16:creationId xmlns:a16="http://schemas.microsoft.com/office/drawing/2014/main" id="{A474D213-AE17-A601-942A-F4AE83012444}"/>
              </a:ext>
            </a:extLst>
          </p:cNvPr>
          <p:cNvSpPr txBox="1"/>
          <p:nvPr/>
        </p:nvSpPr>
        <p:spPr>
          <a:xfrm>
            <a:off x="1006185" y="5713271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PC4</a:t>
            </a:r>
            <a:endParaRPr lang="en-US" sz="1200" dirty="0"/>
          </a:p>
        </p:txBody>
      </p:sp>
      <p:sp>
        <p:nvSpPr>
          <p:cNvPr id="3" name="Text 39">
            <a:extLst>
              <a:ext uri="{FF2B5EF4-FFF2-40B4-BE49-F238E27FC236}">
                <a16:creationId xmlns:a16="http://schemas.microsoft.com/office/drawing/2014/main" id="{A644DDCC-A277-D92B-ED01-D08494761493}"/>
              </a:ext>
            </a:extLst>
          </p:cNvPr>
          <p:cNvSpPr txBox="1"/>
          <p:nvPr/>
        </p:nvSpPr>
        <p:spPr>
          <a:xfrm>
            <a:off x="1958685" y="5713271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9.3%</a:t>
            </a:r>
            <a:endParaRPr lang="ko-KR" altLang="en-US" sz="12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8" name="Text 40">
            <a:extLst>
              <a:ext uri="{FF2B5EF4-FFF2-40B4-BE49-F238E27FC236}">
                <a16:creationId xmlns:a16="http://schemas.microsoft.com/office/drawing/2014/main" id="{820A1554-66FB-1468-9368-8ED1E02C91F9}"/>
              </a:ext>
            </a:extLst>
          </p:cNvPr>
          <p:cNvSpPr txBox="1"/>
          <p:nvPr/>
        </p:nvSpPr>
        <p:spPr>
          <a:xfrm>
            <a:off x="3292185" y="5713271"/>
            <a:ext cx="1220470" cy="2393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81.0%</a:t>
            </a:r>
            <a:endParaRPr lang="ko-KR" altLang="en-US" sz="12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8" name="Text 41">
            <a:extLst>
              <a:ext uri="{FF2B5EF4-FFF2-40B4-BE49-F238E27FC236}">
                <a16:creationId xmlns:a16="http://schemas.microsoft.com/office/drawing/2014/main" id="{533A302C-4988-18E4-64C4-595583601B88}"/>
              </a:ext>
            </a:extLst>
          </p:cNvPr>
          <p:cNvSpPr txBox="1"/>
          <p:nvPr/>
        </p:nvSpPr>
        <p:spPr>
          <a:xfrm>
            <a:off x="4759035" y="5713271"/>
            <a:ext cx="4401820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altLang="en-US" sz="1200" b="1" spc="-10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유동등록</a:t>
            </a:r>
            <a:r>
              <a:rPr lang="en-US" sz="1200" b="1" spc="-10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비율</a:t>
            </a:r>
            <a:r>
              <a:rPr lang="en-US" sz="1200" b="1" spc="-10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000" b="1" spc="-10" dirty="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(36.5%)</a:t>
            </a:r>
            <a:r>
              <a:rPr lang="en-US" sz="1200" b="1" spc="-10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, </a:t>
            </a:r>
            <a:r>
              <a:rPr lang="ko-KR" altLang="en-US" sz="1200" b="1" spc="-10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등록인구밀도</a:t>
            </a:r>
            <a:r>
              <a:rPr lang="en-US" sz="1200" b="1" spc="-10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000" b="1" spc="-10" dirty="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(17.3%)</a:t>
            </a:r>
            <a:endParaRPr lang="ko-KR" altLang="en-US" sz="1000" b="1" dirty="0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Text 42">
            <a:extLst>
              <a:ext uri="{FF2B5EF4-FFF2-40B4-BE49-F238E27FC236}">
                <a16:creationId xmlns:a16="http://schemas.microsoft.com/office/drawing/2014/main" id="{5CD07B36-1D70-8A46-EC49-DAE3233B1982}"/>
              </a:ext>
            </a:extLst>
          </p:cNvPr>
          <p:cNvSpPr txBox="1"/>
          <p:nvPr/>
        </p:nvSpPr>
        <p:spPr>
          <a:xfrm>
            <a:off x="9045285" y="5675806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유입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 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76A8-059E-A3C9-F546-1F922630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4">
            <a:extLst>
              <a:ext uri="{FF2B5EF4-FFF2-40B4-BE49-F238E27FC236}">
                <a16:creationId xmlns:a16="http://schemas.microsoft.com/office/drawing/2014/main" id="{001BBBEF-5308-250D-8FA6-A30551C8928B}"/>
              </a:ext>
            </a:extLst>
          </p:cNvPr>
          <p:cNvSpPr txBox="1"/>
          <p:nvPr/>
        </p:nvSpPr>
        <p:spPr>
          <a:xfrm>
            <a:off x="7620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</a:rPr>
              <a:t>최적의 </a:t>
            </a:r>
            <a:r>
              <a:rPr lang="en-US" altLang="ko-KR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</a:rPr>
              <a:t>K</a:t>
            </a:r>
            <a:r>
              <a:rPr lang="ko-KR" alt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</a:rPr>
              <a:t>값 도출</a:t>
            </a:r>
            <a:endParaRPr lang="en-US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BC586-33C5-1531-0243-325939F52F2E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9</a:t>
            </a:r>
            <a:endParaRPr lang="ko-KR" altLang="en-US" sz="1000" dirty="0"/>
          </a:p>
        </p:txBody>
      </p:sp>
      <p:cxnSp>
        <p:nvCxnSpPr>
          <p:cNvPr id="18" name="직선 연결선 9">
            <a:extLst>
              <a:ext uri="{FF2B5EF4-FFF2-40B4-BE49-F238E27FC236}">
                <a16:creationId xmlns:a16="http://schemas.microsoft.com/office/drawing/2014/main" id="{408149EB-64EA-86F5-5F86-02DCCA0AA86D}"/>
              </a:ext>
            </a:extLst>
          </p:cNvPr>
          <p:cNvCxnSpPr>
            <a:cxnSpLocks/>
          </p:cNvCxnSpPr>
          <p:nvPr/>
        </p:nvCxnSpPr>
        <p:spPr>
          <a:xfrm>
            <a:off x="976148" y="1566350"/>
            <a:ext cx="10664990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10">
            <a:extLst>
              <a:ext uri="{FF2B5EF4-FFF2-40B4-BE49-F238E27FC236}">
                <a16:creationId xmlns:a16="http://schemas.microsoft.com/office/drawing/2014/main" id="{6EE785D3-799D-CE00-97DA-1E0D3B5B677C}"/>
              </a:ext>
            </a:extLst>
          </p:cNvPr>
          <p:cNvCxnSpPr>
            <a:cxnSpLocks/>
          </p:cNvCxnSpPr>
          <p:nvPr/>
        </p:nvCxnSpPr>
        <p:spPr>
          <a:xfrm>
            <a:off x="570850" y="1566350"/>
            <a:ext cx="403037" cy="0"/>
          </a:xfrm>
          <a:prstGeom prst="line">
            <a:avLst/>
          </a:prstGeom>
          <a:ln w="381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 3">
            <a:extLst>
              <a:ext uri="{FF2B5EF4-FFF2-40B4-BE49-F238E27FC236}">
                <a16:creationId xmlns:a16="http://schemas.microsoft.com/office/drawing/2014/main" id="{D607103B-15A7-DF00-B4AF-BF997F10CEB1}"/>
              </a:ext>
            </a:extLst>
          </p:cNvPr>
          <p:cNvSpPr/>
          <p:nvPr/>
        </p:nvSpPr>
        <p:spPr>
          <a:xfrm>
            <a:off x="782782" y="5591806"/>
            <a:ext cx="5286375" cy="733425"/>
          </a:xfrm>
          <a:prstGeom prst="roundRect">
            <a:avLst>
              <a:gd name="adj" fmla="val 2590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4097E0C-19F3-5AD3-7F5D-0020710A16B0}"/>
              </a:ext>
            </a:extLst>
          </p:cNvPr>
          <p:cNvSpPr/>
          <p:nvPr/>
        </p:nvSpPr>
        <p:spPr>
          <a:xfrm>
            <a:off x="782782" y="5591806"/>
            <a:ext cx="38100" cy="733425"/>
          </a:xfrm>
          <a:prstGeom prst="roundRect">
            <a:avLst>
              <a:gd name="adj" fmla="val 49474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0792878-4C1E-7202-8B58-837374604831}"/>
              </a:ext>
            </a:extLst>
          </p:cNvPr>
          <p:cNvSpPr/>
          <p:nvPr/>
        </p:nvSpPr>
        <p:spPr>
          <a:xfrm>
            <a:off x="6357506" y="5591806"/>
            <a:ext cx="5286375" cy="733425"/>
          </a:xfrm>
          <a:prstGeom prst="roundRect">
            <a:avLst>
              <a:gd name="adj" fmla="val 2590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1BC31B2-68CF-382D-EAD5-52BEACD0C0E2}"/>
              </a:ext>
            </a:extLst>
          </p:cNvPr>
          <p:cNvSpPr/>
          <p:nvPr/>
        </p:nvSpPr>
        <p:spPr>
          <a:xfrm>
            <a:off x="6357506" y="5591806"/>
            <a:ext cx="38100" cy="733425"/>
          </a:xfrm>
          <a:prstGeom prst="roundRect">
            <a:avLst>
              <a:gd name="adj" fmla="val 49474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1">
            <a:extLst>
              <a:ext uri="{FF2B5EF4-FFF2-40B4-BE49-F238E27FC236}">
                <a16:creationId xmlns:a16="http://schemas.microsoft.com/office/drawing/2014/main" id="{E7ED7F6E-2B4A-9B28-C4DE-AA8978147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3282" y="5746111"/>
            <a:ext cx="172085" cy="172085"/>
          </a:xfrm>
          <a:prstGeom prst="rect">
            <a:avLst/>
          </a:prstGeom>
        </p:spPr>
      </p:pic>
      <p:sp>
        <p:nvSpPr>
          <p:cNvPr id="11" name="Text 19">
            <a:extLst>
              <a:ext uri="{FF2B5EF4-FFF2-40B4-BE49-F238E27FC236}">
                <a16:creationId xmlns:a16="http://schemas.microsoft.com/office/drawing/2014/main" id="{EB624595-E2E1-0993-613F-81CA5C8B5AF2}"/>
              </a:ext>
            </a:extLst>
          </p:cNvPr>
          <p:cNvSpPr txBox="1"/>
          <p:nvPr/>
        </p:nvSpPr>
        <p:spPr>
          <a:xfrm>
            <a:off x="1259032" y="5686421"/>
            <a:ext cx="468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Elbow Method</a:t>
            </a:r>
            <a:endParaRPr lang="en-US" sz="11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F3F90C94-19E4-3502-6B8B-F42842E47EEE}"/>
              </a:ext>
            </a:extLst>
          </p:cNvPr>
          <p:cNvSpPr txBox="1">
            <a:spLocks/>
          </p:cNvSpPr>
          <p:nvPr/>
        </p:nvSpPr>
        <p:spPr>
          <a:xfrm>
            <a:off x="1259032" y="6010964"/>
            <a:ext cx="4687570" cy="2012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k=3일 때 </a:t>
            </a:r>
            <a:r>
              <a:rPr lang="en-US" sz="12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감소율</a:t>
            </a:r>
            <a:r>
              <a:rPr lang="en-US" sz="12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23.5% (k=4는 11.3%로 </a:t>
            </a:r>
            <a:r>
              <a:rPr lang="en-US" sz="12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둔화</a:t>
            </a:r>
            <a:r>
              <a:rPr lang="en-US" sz="12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)</a:t>
            </a:r>
            <a:endParaRPr lang="ko-KR" altLang="en-US" sz="1200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E03D7F6-1560-6382-F422-9C2D0CF539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6548006" y="5746111"/>
            <a:ext cx="190500" cy="172085"/>
          </a:xfrm>
          <a:prstGeom prst="rect">
            <a:avLst/>
          </a:prstGeom>
        </p:spPr>
      </p:pic>
      <p:sp>
        <p:nvSpPr>
          <p:cNvPr id="14" name="Text 21">
            <a:extLst>
              <a:ext uri="{FF2B5EF4-FFF2-40B4-BE49-F238E27FC236}">
                <a16:creationId xmlns:a16="http://schemas.microsoft.com/office/drawing/2014/main" id="{693FBBE7-572D-1558-4D26-EB7BFDD19D8B}"/>
              </a:ext>
            </a:extLst>
          </p:cNvPr>
          <p:cNvSpPr txBox="1"/>
          <p:nvPr/>
        </p:nvSpPr>
        <p:spPr>
          <a:xfrm>
            <a:off x="6833756" y="5686421"/>
            <a:ext cx="468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A2CF3E68-9544-7322-3E25-66DD2D33DD3B}"/>
              </a:ext>
            </a:extLst>
          </p:cNvPr>
          <p:cNvSpPr txBox="1">
            <a:spLocks/>
          </p:cNvSpPr>
          <p:nvPr/>
        </p:nvSpPr>
        <p:spPr>
          <a:xfrm>
            <a:off x="6833756" y="6010964"/>
            <a:ext cx="4764405" cy="2012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k=2가 더 높으나, 상권 유형의 해석 가능성을 고려하여 k=3 채택</a:t>
            </a:r>
            <a:endParaRPr lang="ko-KR" altLang="en-US" sz="12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6583921-EF59-A691-3B26-1918D58381E9}"/>
              </a:ext>
            </a:extLst>
          </p:cNvPr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21" name="도형 11">
            <a:extLst>
              <a:ext uri="{FF2B5EF4-FFF2-40B4-BE49-F238E27FC236}">
                <a16:creationId xmlns:a16="http://schemas.microsoft.com/office/drawing/2014/main" id="{6A410FDB-AAF9-3300-61FC-16B93FD26D5B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2" name="텍스트 상자 12">
            <a:extLst>
              <a:ext uri="{FF2B5EF4-FFF2-40B4-BE49-F238E27FC236}">
                <a16:creationId xmlns:a16="http://schemas.microsoft.com/office/drawing/2014/main" id="{EF238037-B07E-21E9-0BEB-2D77820412AD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93B561-B2CE-1760-11FD-AB383FB44E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45" b="11139"/>
          <a:stretch>
            <a:fillRect/>
          </a:stretch>
        </p:blipFill>
        <p:spPr>
          <a:xfrm>
            <a:off x="781050" y="1778625"/>
            <a:ext cx="10314620" cy="36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8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>
            <a:spLocks/>
          </p:cNvSpPr>
          <p:nvPr/>
        </p:nvSpPr>
        <p:spPr>
          <a:xfrm>
            <a:off x="762000" y="1897203"/>
            <a:ext cx="10688320" cy="3334385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2000" y="5648091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1500" y="5648091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01000" y="5648091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C:/Users/Kim dong gwan/AppData/Roaming/PolarisOffice/ETemp/11016_9687800/image-10-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9" b="-39"/>
          <a:stretch>
            <a:fillRect/>
          </a:stretch>
        </p:blipFill>
        <p:spPr>
          <a:xfrm>
            <a:off x="762000" y="1897203"/>
            <a:ext cx="10668635" cy="381635"/>
          </a:xfrm>
          <a:prstGeom prst="rect">
            <a:avLst/>
          </a:prstGeom>
          <a:noFill/>
        </p:spPr>
      </p:pic>
      <p:sp>
        <p:nvSpPr>
          <p:cNvPr id="14" name="Shape 11"/>
          <p:cNvSpPr>
            <a:spLocks/>
          </p:cNvSpPr>
          <p:nvPr/>
        </p:nvSpPr>
        <p:spPr>
          <a:xfrm>
            <a:off x="762000" y="2544268"/>
            <a:ext cx="10668635" cy="267335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5" name="Shape 12"/>
          <p:cNvSpPr>
            <a:spLocks/>
          </p:cNvSpPr>
          <p:nvPr/>
        </p:nvSpPr>
        <p:spPr>
          <a:xfrm>
            <a:off x="762000" y="3078303"/>
            <a:ext cx="10668635" cy="267335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6" name="Shape 13"/>
          <p:cNvSpPr>
            <a:spLocks/>
          </p:cNvSpPr>
          <p:nvPr/>
        </p:nvSpPr>
        <p:spPr>
          <a:xfrm>
            <a:off x="762000" y="3611703"/>
            <a:ext cx="10668635" cy="267335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7" name="Shape 14"/>
          <p:cNvSpPr>
            <a:spLocks/>
          </p:cNvSpPr>
          <p:nvPr/>
        </p:nvSpPr>
        <p:spPr>
          <a:xfrm>
            <a:off x="762000" y="4144468"/>
            <a:ext cx="10668635" cy="267335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8" name="Shape 15"/>
          <p:cNvSpPr>
            <a:spLocks/>
          </p:cNvSpPr>
          <p:nvPr/>
        </p:nvSpPr>
        <p:spPr>
          <a:xfrm>
            <a:off x="762000" y="4678503"/>
            <a:ext cx="10668635" cy="267335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19" name="Image 1" descr="C:/Users/Kim dong gwan/AppData/Roaming/PolarisOffice/ETemp/11016_9687800/image-10-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2544268"/>
            <a:ext cx="10668635" cy="9525"/>
          </a:xfrm>
          <a:prstGeom prst="rect">
            <a:avLst/>
          </a:prstGeom>
          <a:noFill/>
        </p:spPr>
      </p:pic>
      <p:pic>
        <p:nvPicPr>
          <p:cNvPr id="20" name="Image 2" descr="C:/Users/Kim dong gwan/AppData/Roaming/PolarisOffice/ETemp/11016_9687800/image-10-3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2811603"/>
            <a:ext cx="10668635" cy="9525"/>
          </a:xfrm>
          <a:prstGeom prst="rect">
            <a:avLst/>
          </a:prstGeom>
          <a:noFill/>
        </p:spPr>
      </p:pic>
      <p:pic>
        <p:nvPicPr>
          <p:cNvPr id="21" name="Image 3" descr="C:/Users/Kim dong gwan/AppData/Roaming/PolarisOffice/ETemp/11016_9687800/image-10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3078303"/>
            <a:ext cx="10668635" cy="9525"/>
          </a:xfrm>
          <a:prstGeom prst="rect">
            <a:avLst/>
          </a:prstGeom>
          <a:noFill/>
        </p:spPr>
      </p:pic>
      <p:pic>
        <p:nvPicPr>
          <p:cNvPr id="22" name="Image 4" descr="C:/Users/Kim dong gwan/AppData/Roaming/PolarisOffice/ETemp/11016_9687800/image-10-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3344368"/>
            <a:ext cx="10668635" cy="9525"/>
          </a:xfrm>
          <a:prstGeom prst="rect">
            <a:avLst/>
          </a:prstGeom>
          <a:noFill/>
        </p:spPr>
      </p:pic>
      <p:pic>
        <p:nvPicPr>
          <p:cNvPr id="23" name="Image 5" descr="C:/Users/Kim dong gwan/AppData/Roaming/PolarisOffice/ETemp/11016_9687800/image-10-6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3611703"/>
            <a:ext cx="10668635" cy="9525"/>
          </a:xfrm>
          <a:prstGeom prst="rect">
            <a:avLst/>
          </a:prstGeom>
          <a:noFill/>
        </p:spPr>
      </p:pic>
      <p:pic>
        <p:nvPicPr>
          <p:cNvPr id="24" name="Image 6" descr="C:/Users/Kim dong gwan/AppData/Roaming/PolarisOffice/ETemp/11016_9687800/image-10-7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3878403"/>
            <a:ext cx="10668635" cy="9525"/>
          </a:xfrm>
          <a:prstGeom prst="rect">
            <a:avLst/>
          </a:prstGeom>
          <a:noFill/>
        </p:spPr>
      </p:pic>
      <p:pic>
        <p:nvPicPr>
          <p:cNvPr id="25" name="Image 7" descr="C:/Users/Kim dong gwan/AppData/Roaming/PolarisOffice/ETemp/11016_9687800/image-10-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4144468"/>
            <a:ext cx="10668635" cy="9525"/>
          </a:xfrm>
          <a:prstGeom prst="rect">
            <a:avLst/>
          </a:prstGeom>
          <a:noFill/>
        </p:spPr>
      </p:pic>
      <p:pic>
        <p:nvPicPr>
          <p:cNvPr id="26" name="Image 8" descr="C:/Users/Kim dong gwan/AppData/Roaming/PolarisOffice/ETemp/11016_9687800/image-10-9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4411803"/>
            <a:ext cx="10668635" cy="9525"/>
          </a:xfrm>
          <a:prstGeom prst="rect">
            <a:avLst/>
          </a:prstGeom>
          <a:noFill/>
        </p:spPr>
      </p:pic>
      <p:pic>
        <p:nvPicPr>
          <p:cNvPr id="27" name="Image 9" descr="C:/Users/Kim dong gwan/AppData/Roaming/PolarisOffice/ETemp/11016_9687800/image-10-1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4678503"/>
            <a:ext cx="10668635" cy="9525"/>
          </a:xfrm>
          <a:prstGeom prst="rect">
            <a:avLst/>
          </a:prstGeom>
          <a:noFill/>
        </p:spPr>
      </p:pic>
      <p:pic>
        <p:nvPicPr>
          <p:cNvPr id="28" name="Image 10" descr="C:/Users/Kim dong gwan/AppData/Roaming/PolarisOffice/ETemp/11016_9687800/image-10-1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762000" y="4944568"/>
            <a:ext cx="10668635" cy="9525"/>
          </a:xfrm>
          <a:prstGeom prst="rect">
            <a:avLst/>
          </a:prstGeom>
          <a:noFill/>
        </p:spPr>
      </p:pic>
      <p:sp>
        <p:nvSpPr>
          <p:cNvPr id="31" name="Text 18"/>
          <p:cNvSpPr txBox="1"/>
          <p:nvPr/>
        </p:nvSpPr>
        <p:spPr>
          <a:xfrm>
            <a:off x="762000" y="952500"/>
            <a:ext cx="7925435" cy="4578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클러스터별 특성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8" name="Text 23"/>
          <p:cNvSpPr txBox="1">
            <a:spLocks/>
          </p:cNvSpPr>
          <p:nvPr/>
        </p:nvSpPr>
        <p:spPr>
          <a:xfrm>
            <a:off x="952500" y="1992453"/>
            <a:ext cx="28581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지표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9" name="Text 24"/>
          <p:cNvSpPr txBox="1">
            <a:spLocks/>
          </p:cNvSpPr>
          <p:nvPr/>
        </p:nvSpPr>
        <p:spPr>
          <a:xfrm>
            <a:off x="3566795" y="1992453"/>
            <a:ext cx="27057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Cluster 0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0" name="Text 25"/>
          <p:cNvSpPr txBox="1">
            <a:spLocks/>
          </p:cNvSpPr>
          <p:nvPr/>
        </p:nvSpPr>
        <p:spPr>
          <a:xfrm>
            <a:off x="6167755" y="1992453"/>
            <a:ext cx="27057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Cluster 1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1" name="Text 26"/>
          <p:cNvSpPr txBox="1">
            <a:spLocks/>
          </p:cNvSpPr>
          <p:nvPr/>
        </p:nvSpPr>
        <p:spPr>
          <a:xfrm>
            <a:off x="8768080" y="1992453"/>
            <a:ext cx="271526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Cluster 2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2" name="Text 27"/>
          <p:cNvSpPr txBox="1">
            <a:spLocks/>
          </p:cNvSpPr>
          <p:nvPr/>
        </p:nvSpPr>
        <p:spPr>
          <a:xfrm>
            <a:off x="952500" y="23258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 1인당 매출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3" name="Text 28"/>
          <p:cNvSpPr txBox="1">
            <a:spLocks/>
          </p:cNvSpPr>
          <p:nvPr/>
        </p:nvSpPr>
        <p:spPr>
          <a:xfrm>
            <a:off x="4646930" y="2325828"/>
            <a:ext cx="16776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10.07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44" name="Image 13" descr="C:/Users/Kim dong gwan/AppData/Roaming/PolarisOffice/ETemp/11016_9687800/image-10-14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5077460" y="2396313"/>
            <a:ext cx="114935" cy="106045"/>
          </a:xfrm>
          <a:prstGeom prst="rect">
            <a:avLst/>
          </a:prstGeom>
          <a:noFill/>
        </p:spPr>
      </p:pic>
      <p:sp>
        <p:nvSpPr>
          <p:cNvPr id="45" name="Text 29"/>
          <p:cNvSpPr txBox="1">
            <a:spLocks/>
          </p:cNvSpPr>
          <p:nvPr/>
        </p:nvSpPr>
        <p:spPr>
          <a:xfrm>
            <a:off x="6167755" y="23258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8.58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6" name="Text 30"/>
          <p:cNvSpPr txBox="1">
            <a:spLocks/>
          </p:cNvSpPr>
          <p:nvPr/>
        </p:nvSpPr>
        <p:spPr>
          <a:xfrm>
            <a:off x="8768080" y="2325828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8.68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7" name="Text 31"/>
          <p:cNvSpPr txBox="1">
            <a:spLocks/>
          </p:cNvSpPr>
          <p:nvPr/>
        </p:nvSpPr>
        <p:spPr>
          <a:xfrm>
            <a:off x="952500" y="2593163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 1인당 지출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8" name="Text 32"/>
          <p:cNvSpPr txBox="1">
            <a:spLocks/>
          </p:cNvSpPr>
          <p:nvPr/>
        </p:nvSpPr>
        <p:spPr>
          <a:xfrm>
            <a:off x="4646930" y="2593163"/>
            <a:ext cx="16776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14.49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49" name="Image 14" descr="C:/Users/Kim dong gwan/AppData/Roaming/PolarisOffice/ETemp/11016_9687800/image-10-1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5077460" y="2662378"/>
            <a:ext cx="114935" cy="106045"/>
          </a:xfrm>
          <a:prstGeom prst="rect">
            <a:avLst/>
          </a:prstGeom>
          <a:noFill/>
        </p:spPr>
      </p:pic>
      <p:sp>
        <p:nvSpPr>
          <p:cNvPr id="50" name="Text 33"/>
          <p:cNvSpPr txBox="1">
            <a:spLocks/>
          </p:cNvSpPr>
          <p:nvPr/>
        </p:nvSpPr>
        <p:spPr>
          <a:xfrm>
            <a:off x="6167755" y="25931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11.75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1" name="Text 34"/>
          <p:cNvSpPr txBox="1">
            <a:spLocks/>
          </p:cNvSpPr>
          <p:nvPr/>
        </p:nvSpPr>
        <p:spPr>
          <a:xfrm>
            <a:off x="8768080" y="2593163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12.15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2" name="Text 35"/>
          <p:cNvSpPr txBox="1">
            <a:spLocks/>
          </p:cNvSpPr>
          <p:nvPr/>
        </p:nvSpPr>
        <p:spPr>
          <a:xfrm>
            <a:off x="952500" y="28592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직장인구 밀도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Text 36"/>
          <p:cNvSpPr txBox="1">
            <a:spLocks/>
          </p:cNvSpPr>
          <p:nvPr/>
        </p:nvSpPr>
        <p:spPr>
          <a:xfrm>
            <a:off x="4688840" y="2859228"/>
            <a:ext cx="16357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9.86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54" name="Image 15" descr="C:/Users/Kim dong gwan/AppData/Roaming/PolarisOffice/ETemp/11016_9687800/image-10-16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5035550" y="2929713"/>
            <a:ext cx="114935" cy="106045"/>
          </a:xfrm>
          <a:prstGeom prst="rect">
            <a:avLst/>
          </a:prstGeom>
          <a:noFill/>
        </p:spPr>
      </p:pic>
      <p:sp>
        <p:nvSpPr>
          <p:cNvPr id="55" name="Text 37"/>
          <p:cNvSpPr txBox="1">
            <a:spLocks/>
          </p:cNvSpPr>
          <p:nvPr/>
        </p:nvSpPr>
        <p:spPr>
          <a:xfrm>
            <a:off x="6167755" y="28592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6.17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6" name="Text 38"/>
          <p:cNvSpPr txBox="1">
            <a:spLocks/>
          </p:cNvSpPr>
          <p:nvPr/>
        </p:nvSpPr>
        <p:spPr>
          <a:xfrm>
            <a:off x="8768080" y="2859228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7.91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7" name="Text 39"/>
          <p:cNvSpPr txBox="1">
            <a:spLocks/>
          </p:cNvSpPr>
          <p:nvPr/>
        </p:nvSpPr>
        <p:spPr>
          <a:xfrm>
            <a:off x="952500" y="31259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임대시세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8" name="Text 40"/>
          <p:cNvSpPr txBox="1">
            <a:spLocks/>
          </p:cNvSpPr>
          <p:nvPr/>
        </p:nvSpPr>
        <p:spPr>
          <a:xfrm>
            <a:off x="4646930" y="3125928"/>
            <a:ext cx="16776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12.02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59" name="Image 16" descr="C:/Users/Kim dong gwan/AppData/Roaming/PolarisOffice/ETemp/11016_9687800/image-10-1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5077460" y="3196413"/>
            <a:ext cx="114935" cy="106045"/>
          </a:xfrm>
          <a:prstGeom prst="rect">
            <a:avLst/>
          </a:prstGeom>
          <a:noFill/>
        </p:spPr>
      </p:pic>
      <p:sp>
        <p:nvSpPr>
          <p:cNvPr id="60" name="Text 41"/>
          <p:cNvSpPr txBox="1">
            <a:spLocks/>
          </p:cNvSpPr>
          <p:nvPr/>
        </p:nvSpPr>
        <p:spPr>
          <a:xfrm>
            <a:off x="6167755" y="31259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11.66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Text 42"/>
          <p:cNvSpPr txBox="1">
            <a:spLocks/>
          </p:cNvSpPr>
          <p:nvPr/>
        </p:nvSpPr>
        <p:spPr>
          <a:xfrm>
            <a:off x="8768080" y="3125928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11.65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2" name="Text 43"/>
          <p:cNvSpPr txBox="1">
            <a:spLocks/>
          </p:cNvSpPr>
          <p:nvPr/>
        </p:nvSpPr>
        <p:spPr>
          <a:xfrm>
            <a:off x="952500" y="3393263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상권 변동성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3" name="Text 44"/>
          <p:cNvSpPr txBox="1">
            <a:spLocks/>
          </p:cNvSpPr>
          <p:nvPr/>
        </p:nvSpPr>
        <p:spPr>
          <a:xfrm>
            <a:off x="3566795" y="33932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4.66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4" name="Text 45"/>
          <p:cNvSpPr txBox="1">
            <a:spLocks/>
          </p:cNvSpPr>
          <p:nvPr/>
        </p:nvSpPr>
        <p:spPr>
          <a:xfrm>
            <a:off x="6167755" y="33932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5.43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5" name="Text 46"/>
          <p:cNvSpPr txBox="1">
            <a:spLocks/>
          </p:cNvSpPr>
          <p:nvPr/>
        </p:nvSpPr>
        <p:spPr>
          <a:xfrm>
            <a:off x="8768080" y="3393263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5.73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6" name="Text 47"/>
          <p:cNvSpPr txBox="1">
            <a:spLocks/>
          </p:cNvSpPr>
          <p:nvPr/>
        </p:nvSpPr>
        <p:spPr>
          <a:xfrm>
            <a:off x="952500" y="36593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유동인구 밀도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7" name="Text 48"/>
          <p:cNvSpPr txBox="1">
            <a:spLocks/>
          </p:cNvSpPr>
          <p:nvPr/>
        </p:nvSpPr>
        <p:spPr>
          <a:xfrm>
            <a:off x="3566795" y="36593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15.19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8" name="Text 49"/>
          <p:cNvSpPr txBox="1">
            <a:spLocks/>
          </p:cNvSpPr>
          <p:nvPr/>
        </p:nvSpPr>
        <p:spPr>
          <a:xfrm>
            <a:off x="6167755" y="36593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14.41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9" name="Text 50"/>
          <p:cNvSpPr txBox="1">
            <a:spLocks/>
          </p:cNvSpPr>
          <p:nvPr/>
        </p:nvSpPr>
        <p:spPr>
          <a:xfrm>
            <a:off x="9852660" y="3659328"/>
            <a:ext cx="168338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15.81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70" name="Image 17" descr="C:/Users/Kim dong gwan/AppData/Roaming/PolarisOffice/ETemp/11016_9687800/image-10-18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10283190" y="3729813"/>
            <a:ext cx="114935" cy="106045"/>
          </a:xfrm>
          <a:prstGeom prst="rect">
            <a:avLst/>
          </a:prstGeom>
          <a:noFill/>
        </p:spPr>
      </p:pic>
      <p:sp>
        <p:nvSpPr>
          <p:cNvPr id="71" name="Text 51"/>
          <p:cNvSpPr txBox="1">
            <a:spLocks/>
          </p:cNvSpPr>
          <p:nvPr/>
        </p:nvSpPr>
        <p:spPr>
          <a:xfrm>
            <a:off x="952500" y="39260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등록인구 밀도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2" name="Text 52"/>
          <p:cNvSpPr txBox="1">
            <a:spLocks/>
          </p:cNvSpPr>
          <p:nvPr/>
        </p:nvSpPr>
        <p:spPr>
          <a:xfrm>
            <a:off x="3566795" y="388094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9.37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Text 53"/>
          <p:cNvSpPr txBox="1">
            <a:spLocks/>
          </p:cNvSpPr>
          <p:nvPr/>
        </p:nvSpPr>
        <p:spPr>
          <a:xfrm>
            <a:off x="6167755" y="39260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9.40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4" name="Text 54"/>
          <p:cNvSpPr txBox="1">
            <a:spLocks/>
          </p:cNvSpPr>
          <p:nvPr/>
        </p:nvSpPr>
        <p:spPr>
          <a:xfrm>
            <a:off x="9852660" y="3926028"/>
            <a:ext cx="168338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10.25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75" name="Image 18" descr="C:/Users/Kim dong gwan/AppData/Roaming/PolarisOffice/ETemp/11016_9687800/image-10-19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10283190" y="3996513"/>
            <a:ext cx="114935" cy="106045"/>
          </a:xfrm>
          <a:prstGeom prst="rect">
            <a:avLst/>
          </a:prstGeom>
          <a:noFill/>
        </p:spPr>
      </p:pic>
      <p:sp>
        <p:nvSpPr>
          <p:cNvPr id="76" name="Text 55"/>
          <p:cNvSpPr txBox="1">
            <a:spLocks/>
          </p:cNvSpPr>
          <p:nvPr/>
        </p:nvSpPr>
        <p:spPr>
          <a:xfrm>
            <a:off x="952500" y="4193363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집객시설 밀도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7" name="Text 56"/>
          <p:cNvSpPr txBox="1">
            <a:spLocks/>
          </p:cNvSpPr>
          <p:nvPr/>
        </p:nvSpPr>
        <p:spPr>
          <a:xfrm>
            <a:off x="3566795" y="41933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5.21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8" name="Text 57"/>
          <p:cNvSpPr txBox="1">
            <a:spLocks/>
          </p:cNvSpPr>
          <p:nvPr/>
        </p:nvSpPr>
        <p:spPr>
          <a:xfrm>
            <a:off x="6167755" y="41933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4.46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9" name="Text 58"/>
          <p:cNvSpPr txBox="1">
            <a:spLocks/>
          </p:cNvSpPr>
          <p:nvPr/>
        </p:nvSpPr>
        <p:spPr>
          <a:xfrm>
            <a:off x="9895840" y="4193363"/>
            <a:ext cx="164020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5.32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80" name="Image 19" descr="C:/Users/Kim dong gwan/AppData/Roaming/PolarisOffice/ETemp/11016_9687800/image-10-2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10240645" y="4262578"/>
            <a:ext cx="114935" cy="106045"/>
          </a:xfrm>
          <a:prstGeom prst="rect">
            <a:avLst/>
          </a:prstGeom>
          <a:noFill/>
        </p:spPr>
      </p:pic>
      <p:sp>
        <p:nvSpPr>
          <p:cNvPr id="81" name="Text 59"/>
          <p:cNvSpPr txBox="1">
            <a:spLocks/>
          </p:cNvSpPr>
          <p:nvPr/>
        </p:nvSpPr>
        <p:spPr>
          <a:xfrm>
            <a:off x="952500" y="44594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프랜차이즈 비율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2" name="Text 60"/>
          <p:cNvSpPr txBox="1">
            <a:spLocks/>
          </p:cNvSpPr>
          <p:nvPr/>
        </p:nvSpPr>
        <p:spPr>
          <a:xfrm>
            <a:off x="3566795" y="44594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0.071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3" name="Text 61"/>
          <p:cNvSpPr txBox="1">
            <a:spLocks/>
          </p:cNvSpPr>
          <p:nvPr/>
        </p:nvSpPr>
        <p:spPr>
          <a:xfrm>
            <a:off x="6167755" y="44594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0.091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4" name="Text 62"/>
          <p:cNvSpPr txBox="1">
            <a:spLocks/>
          </p:cNvSpPr>
          <p:nvPr/>
        </p:nvSpPr>
        <p:spPr>
          <a:xfrm>
            <a:off x="9852660" y="4459428"/>
            <a:ext cx="168338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0.093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85" name="Image 20" descr="C:/Users/Kim dong gwan/AppData/Roaming/PolarisOffice/ETemp/11016_9687800/image-10-2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10283190" y="4529913"/>
            <a:ext cx="114935" cy="106045"/>
          </a:xfrm>
          <a:prstGeom prst="rect">
            <a:avLst/>
          </a:prstGeom>
          <a:noFill/>
        </p:spPr>
      </p:pic>
      <p:sp>
        <p:nvSpPr>
          <p:cNvPr id="86" name="Text 63"/>
          <p:cNvSpPr txBox="1">
            <a:spLocks/>
          </p:cNvSpPr>
          <p:nvPr/>
        </p:nvSpPr>
        <p:spPr>
          <a:xfrm>
            <a:off x="952500" y="4726128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유동/등록 비율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7" name="Text 64"/>
          <p:cNvSpPr txBox="1">
            <a:spLocks/>
          </p:cNvSpPr>
          <p:nvPr/>
        </p:nvSpPr>
        <p:spPr>
          <a:xfrm>
            <a:off x="4603750" y="4726128"/>
            <a:ext cx="172085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428.02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88" name="Image 21" descr="C:/Users/Kim dong gwan/AppData/Roaming/PolarisOffice/ETemp/11016_9687800/image-10-22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5120640" y="4755049"/>
            <a:ext cx="114935" cy="106045"/>
          </a:xfrm>
          <a:prstGeom prst="rect">
            <a:avLst/>
          </a:prstGeom>
          <a:noFill/>
        </p:spPr>
      </p:pic>
      <p:sp>
        <p:nvSpPr>
          <p:cNvPr id="89" name="Text 65"/>
          <p:cNvSpPr txBox="1">
            <a:spLocks/>
          </p:cNvSpPr>
          <p:nvPr/>
        </p:nvSpPr>
        <p:spPr>
          <a:xfrm>
            <a:off x="6167755" y="4726128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166.07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0" name="Text 66"/>
          <p:cNvSpPr txBox="1">
            <a:spLocks/>
          </p:cNvSpPr>
          <p:nvPr/>
        </p:nvSpPr>
        <p:spPr>
          <a:xfrm>
            <a:off x="8768080" y="4726128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275.28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1" name="Text 67"/>
          <p:cNvSpPr txBox="1">
            <a:spLocks/>
          </p:cNvSpPr>
          <p:nvPr/>
        </p:nvSpPr>
        <p:spPr>
          <a:xfrm>
            <a:off x="952500" y="4993463"/>
            <a:ext cx="28581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유동/직장 비율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2" name="Text 68"/>
          <p:cNvSpPr txBox="1">
            <a:spLocks/>
          </p:cNvSpPr>
          <p:nvPr/>
        </p:nvSpPr>
        <p:spPr>
          <a:xfrm>
            <a:off x="3566795" y="4993463"/>
            <a:ext cx="27057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390.33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3" name="Text 69"/>
          <p:cNvSpPr txBox="1">
            <a:spLocks/>
          </p:cNvSpPr>
          <p:nvPr/>
        </p:nvSpPr>
        <p:spPr>
          <a:xfrm>
            <a:off x="7094855" y="4993463"/>
            <a:ext cx="18300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32,898.49 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94" name="Image 22" descr="C:/Users/Kim dong gwan/AppData/Roaming/PolarisOffice/ETemp/11016_9687800/image-10-23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50" b="-1750"/>
          <a:stretch>
            <a:fillRect/>
          </a:stretch>
        </p:blipFill>
        <p:spPr>
          <a:xfrm>
            <a:off x="7830820" y="5041896"/>
            <a:ext cx="114935" cy="106045"/>
          </a:xfrm>
          <a:prstGeom prst="rect">
            <a:avLst/>
          </a:prstGeom>
          <a:noFill/>
        </p:spPr>
      </p:pic>
      <p:sp>
        <p:nvSpPr>
          <p:cNvPr id="95" name="Text 70"/>
          <p:cNvSpPr txBox="1">
            <a:spLocks/>
          </p:cNvSpPr>
          <p:nvPr/>
        </p:nvSpPr>
        <p:spPr>
          <a:xfrm>
            <a:off x="8768080" y="4993463"/>
            <a:ext cx="271526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7,536.35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6" name="Text 71"/>
          <p:cNvSpPr txBox="1">
            <a:spLocks/>
          </p:cNvSpPr>
          <p:nvPr/>
        </p:nvSpPr>
        <p:spPr>
          <a:xfrm>
            <a:off x="762000" y="5278578"/>
            <a:ext cx="487807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※ 값은 log(1+x) 변환 후 클러스터 평균값 기준</a:t>
            </a:r>
            <a:endParaRPr lang="ko-KR" altLang="en-US" sz="900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7" name="Shape 72"/>
          <p:cNvSpPr/>
          <p:nvPr/>
        </p:nvSpPr>
        <p:spPr>
          <a:xfrm>
            <a:off x="905510" y="5780806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3"/>
          <p:cNvSpPr txBox="1"/>
          <p:nvPr/>
        </p:nvSpPr>
        <p:spPr>
          <a:xfrm>
            <a:off x="876300" y="5780806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0</a:t>
            </a:r>
            <a:endParaRPr lang="en-US" sz="900" dirty="0"/>
          </a:p>
        </p:txBody>
      </p:sp>
      <p:sp>
        <p:nvSpPr>
          <p:cNvPr id="99" name="Text 74"/>
          <p:cNvSpPr txBox="1">
            <a:spLocks/>
          </p:cNvSpPr>
          <p:nvPr/>
        </p:nvSpPr>
        <p:spPr>
          <a:xfrm>
            <a:off x="1666875" y="5761756"/>
            <a:ext cx="2506345" cy="3536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수익성</a:t>
            </a:r>
            <a:r>
              <a:rPr lang="en-US" sz="9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지표</a:t>
            </a:r>
            <a:r>
              <a:rPr lang="en-US" sz="9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(</a:t>
            </a: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매출·지출·직장인구</a:t>
            </a:r>
            <a:r>
              <a:rPr lang="en-US" sz="9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) </a:t>
            </a: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압도적</a:t>
            </a:r>
            <a:r>
              <a:rPr lang="en-US" sz="9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1위 + </a:t>
            </a:r>
          </a:p>
          <a:p>
            <a:pPr marL="0" indent="0" algn="l">
              <a:buFontTx/>
              <a:buNone/>
            </a:pP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변동성</a:t>
            </a:r>
            <a:r>
              <a:rPr lang="en-US" sz="9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9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최저</a:t>
            </a:r>
            <a:endParaRPr lang="ko-KR" altLang="en-US" sz="900" b="1" dirty="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0" name="Shape 75"/>
          <p:cNvSpPr/>
          <p:nvPr/>
        </p:nvSpPr>
        <p:spPr>
          <a:xfrm>
            <a:off x="4524375" y="5780806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4A90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76"/>
          <p:cNvSpPr txBox="1"/>
          <p:nvPr/>
        </p:nvSpPr>
        <p:spPr>
          <a:xfrm>
            <a:off x="4495800" y="5780806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1</a:t>
            </a:r>
            <a:endParaRPr lang="en-US" sz="900" dirty="0"/>
          </a:p>
        </p:txBody>
      </p:sp>
      <p:sp>
        <p:nvSpPr>
          <p:cNvPr id="102" name="Text 77"/>
          <p:cNvSpPr txBox="1">
            <a:spLocks/>
          </p:cNvSpPr>
          <p:nvPr/>
        </p:nvSpPr>
        <p:spPr>
          <a:xfrm>
            <a:off x="5286375" y="5761756"/>
            <a:ext cx="2506345" cy="3536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유동/직장비율 높음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(직장인구 거의 없음)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3" name="Shape 78"/>
          <p:cNvSpPr/>
          <p:nvPr/>
        </p:nvSpPr>
        <p:spPr>
          <a:xfrm>
            <a:off x="8143875" y="5780806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7EB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79"/>
          <p:cNvSpPr txBox="1"/>
          <p:nvPr/>
        </p:nvSpPr>
        <p:spPr>
          <a:xfrm>
            <a:off x="8115300" y="5780806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2</a:t>
            </a:r>
            <a:endParaRPr lang="en-US" sz="900" dirty="0"/>
          </a:p>
        </p:txBody>
      </p:sp>
      <p:sp>
        <p:nvSpPr>
          <p:cNvPr id="105" name="Text 80"/>
          <p:cNvSpPr txBox="1">
            <a:spLocks/>
          </p:cNvSpPr>
          <p:nvPr/>
        </p:nvSpPr>
        <p:spPr>
          <a:xfrm>
            <a:off x="8906510" y="5761756"/>
            <a:ext cx="2506345" cy="3536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등록·유동인구 밀도 최고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+ 점포 변화 활발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DBAB7-9A60-E9A8-E0CF-4D2572021E61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9F6D5764-FF95-BB43-32C4-72B1486F3182}"/>
              </a:ext>
            </a:extLst>
          </p:cNvPr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29" name="도형 11">
            <a:extLst>
              <a:ext uri="{FF2B5EF4-FFF2-40B4-BE49-F238E27FC236}">
                <a16:creationId xmlns:a16="http://schemas.microsoft.com/office/drawing/2014/main" id="{AEF98E92-D9DF-1AD8-2663-73BDB5E38F90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6" name="텍스트 상자 12">
            <a:extLst>
              <a:ext uri="{FF2B5EF4-FFF2-40B4-BE49-F238E27FC236}">
                <a16:creationId xmlns:a16="http://schemas.microsoft.com/office/drawing/2014/main" id="{7AD93E16-B22A-E802-0718-FC7362FFA3B5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6192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2000" y="33337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2000" y="50482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34250" y="1619250"/>
            <a:ext cx="4114800" cy="4876800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 t="-217" b="-217"/>
          <a:stretch/>
        </p:blipFill>
        <p:spPr>
          <a:xfrm>
            <a:off x="762000" y="1619250"/>
            <a:ext cx="76200" cy="1429385"/>
          </a:xfrm>
          <a:prstGeom prst="rect">
            <a:avLst/>
          </a:prstGeom>
        </p:spPr>
      </p:pic>
      <p:pic>
        <p:nvPicPr>
          <p:cNvPr id="10" name="Image 1"/>
          <p:cNvPicPr>
            <a:picLocks noChangeAspect="1"/>
          </p:cNvPicPr>
          <p:nvPr/>
        </p:nvPicPr>
        <p:blipFill>
          <a:blip r:embed="rId4"/>
          <a:srcRect t="-217" b="-217"/>
          <a:stretch/>
        </p:blipFill>
        <p:spPr>
          <a:xfrm>
            <a:off x="762000" y="3333750"/>
            <a:ext cx="76200" cy="1429385"/>
          </a:xfrm>
          <a:prstGeom prst="rect">
            <a:avLst/>
          </a:prstGeom>
        </p:spPr>
      </p:pic>
      <p:pic>
        <p:nvPicPr>
          <p:cNvPr id="11" name="Image 2"/>
          <p:cNvPicPr>
            <a:picLocks noChangeAspect="1"/>
          </p:cNvPicPr>
          <p:nvPr/>
        </p:nvPicPr>
        <p:blipFill>
          <a:blip r:embed="rId5"/>
          <a:srcRect t="-217" b="-217"/>
          <a:stretch/>
        </p:blipFill>
        <p:spPr>
          <a:xfrm>
            <a:off x="762000" y="5048250"/>
            <a:ext cx="76200" cy="14293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결과</a:t>
            </a:r>
            <a:endParaRPr lang="en-US" sz="3000" dirty="0"/>
          </a:p>
        </p:txBody>
      </p:sp>
      <p:sp>
        <p:nvSpPr>
          <p:cNvPr id="15" name="Shape 10"/>
          <p:cNvSpPr/>
          <p:nvPr/>
        </p:nvSpPr>
        <p:spPr>
          <a:xfrm>
            <a:off x="1047750" y="18478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019810" y="18478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17" name="Text 12"/>
          <p:cNvSpPr txBox="1">
            <a:spLocks/>
          </p:cNvSpPr>
          <p:nvPr/>
        </p:nvSpPr>
        <p:spPr>
          <a:xfrm>
            <a:off x="2095500" y="1837690"/>
            <a:ext cx="2561590" cy="3346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상업 및 업무 상권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5257800" y="18764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67개 </a:t>
            </a: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(16%)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47750" y="2333625"/>
            <a:ext cx="5906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유동인구·직장인구·매출 압도적, 서울 대표 상권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047750" y="2667000"/>
            <a:ext cx="5906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역삼1동 · 명동 · 청담동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47750" y="35623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4A90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1019810" y="35623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095500" y="3552190"/>
            <a:ext cx="4000500" cy="33464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8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유동집중 주거 배후지</a:t>
            </a:r>
            <a:endParaRPr lang="ko-KR" altLang="en-US" sz="1800" b="1" dirty="0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5257800" y="35909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123개 </a:t>
            </a: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(29%)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047750" y="4048125"/>
            <a:ext cx="5906770" cy="24828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r>
              <a:rPr lang="ko-KR" altLang="en-US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</a:t>
            </a:r>
            <a:r>
              <a:rPr lang="en-US" altLang="ko-KR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/</a:t>
            </a:r>
            <a:r>
              <a:rPr lang="ko-KR" altLang="en-US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직장비율이 높은 생활권 지역</a:t>
            </a:r>
            <a:r>
              <a:rPr lang="en-US" altLang="ko-KR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(</a:t>
            </a:r>
            <a:r>
              <a:rPr lang="ko-KR" altLang="en-US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외곽</a:t>
            </a:r>
            <a:r>
              <a:rPr lang="en-US" altLang="ko-KR" sz="13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)</a:t>
            </a:r>
            <a:endParaRPr lang="ko-KR" altLang="en-US" sz="1300" b="1" dirty="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047750" y="438150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상계1동 · 도봉1동 · 방학3동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47750" y="52768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7EB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1019810" y="52768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095500" y="5266690"/>
            <a:ext cx="2058035" cy="33464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주거 생활 밀착 상권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5257800" y="53054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EB6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234개 </a:t>
            </a: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(55%)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47750" y="5762625"/>
            <a:ext cx="5906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주거+상업이 혼합된 서울의 일반적 주거 동네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047750" y="6096000"/>
            <a:ext cx="5906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화곡1동 · 신림동 · 답십리1동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239000" y="1905000"/>
            <a:ext cx="4286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 구성 비율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8489950" y="3619500"/>
            <a:ext cx="1783080" cy="534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424개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행정동</a:t>
            </a:r>
            <a:endParaRPr lang="en-US" sz="1200" dirty="0"/>
          </a:p>
        </p:txBody>
      </p:sp>
      <p:pic>
        <p:nvPicPr>
          <p:cNvPr id="35" name="Image 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" r="-4"/>
          <a:stretch>
            <a:fillRect/>
          </a:stretch>
        </p:blipFill>
        <p:spPr>
          <a:xfrm>
            <a:off x="7458710" y="2286000"/>
            <a:ext cx="3810635" cy="4001135"/>
          </a:xfrm>
          <a:prstGeom prst="rect">
            <a:avLst/>
          </a:prstGeom>
          <a:noFill/>
        </p:spPr>
      </p:pic>
      <p:grpSp>
        <p:nvGrpSpPr>
          <p:cNvPr id="50" name="그룹 33"/>
          <p:cNvGrpSpPr>
            <a:grpSpLocks/>
          </p:cNvGrpSpPr>
          <p:nvPr/>
        </p:nvGrpSpPr>
        <p:grpSpPr>
          <a:xfrm>
            <a:off x="7270115" y="5567045"/>
            <a:ext cx="3569970" cy="666115"/>
            <a:chOff x="7270115" y="5567045"/>
            <a:chExt cx="3569970" cy="666115"/>
          </a:xfrm>
        </p:grpSpPr>
        <p:sp>
          <p:nvSpPr>
            <p:cNvPr id="37" name="도형 15"/>
            <p:cNvSpPr>
              <a:spLocks/>
            </p:cNvSpPr>
            <p:nvPr/>
          </p:nvSpPr>
          <p:spPr>
            <a:xfrm>
              <a:off x="8386445" y="5612765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38" name="도형 17"/>
            <p:cNvSpPr>
              <a:spLocks/>
            </p:cNvSpPr>
            <p:nvPr/>
          </p:nvSpPr>
          <p:spPr>
            <a:xfrm>
              <a:off x="10170795" y="5567045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39" name="도형 18"/>
            <p:cNvSpPr>
              <a:spLocks/>
            </p:cNvSpPr>
            <p:nvPr/>
          </p:nvSpPr>
          <p:spPr>
            <a:xfrm>
              <a:off x="9262745" y="5847080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3" name="도형 24"/>
            <p:cNvSpPr>
              <a:spLocks/>
            </p:cNvSpPr>
            <p:nvPr/>
          </p:nvSpPr>
          <p:spPr>
            <a:xfrm>
              <a:off x="7270115" y="5622290"/>
              <a:ext cx="3288030" cy="498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pic>
          <p:nvPicPr>
            <p:cNvPr id="44" name="그림 2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6500" y="5661025"/>
              <a:ext cx="3210560" cy="572135"/>
            </a:xfrm>
            <a:prstGeom prst="rect">
              <a:avLst/>
            </a:prstGeom>
            <a:noFill/>
          </p:spPr>
        </p:pic>
        <p:sp>
          <p:nvSpPr>
            <p:cNvPr id="46" name="도형 29"/>
            <p:cNvSpPr>
              <a:spLocks/>
            </p:cNvSpPr>
            <p:nvPr/>
          </p:nvSpPr>
          <p:spPr>
            <a:xfrm>
              <a:off x="8157210" y="567626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8" name="도형 31"/>
            <p:cNvSpPr>
              <a:spLocks/>
            </p:cNvSpPr>
            <p:nvPr/>
          </p:nvSpPr>
          <p:spPr>
            <a:xfrm>
              <a:off x="10043160" y="565721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9" name="도형 32"/>
            <p:cNvSpPr>
              <a:spLocks/>
            </p:cNvSpPr>
            <p:nvPr/>
          </p:nvSpPr>
          <p:spPr>
            <a:xfrm>
              <a:off x="9099550" y="591121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/>
              <a:endParaRPr lang="ko-KR" altLang="en-US"/>
            </a:p>
          </p:txBody>
        </p:sp>
      </p:grpSp>
      <p:sp>
        <p:nvSpPr>
          <p:cNvPr id="45" name="텍스트 상자 28"/>
          <p:cNvSpPr txBox="1">
            <a:spLocks/>
          </p:cNvSpPr>
          <p:nvPr/>
        </p:nvSpPr>
        <p:spPr>
          <a:xfrm>
            <a:off x="8128635" y="5621886"/>
            <a:ext cx="1499235" cy="3346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0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상업 및 업무 상권</a:t>
            </a:r>
            <a:endParaRPr lang="ko-KR" altLang="en-US" sz="1000" b="1" dirty="0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2" name="도형 39"/>
          <p:cNvSpPr>
            <a:spLocks/>
          </p:cNvSpPr>
          <p:nvPr/>
        </p:nvSpPr>
        <p:spPr>
          <a:xfrm>
            <a:off x="10478135" y="5539105"/>
            <a:ext cx="709930" cy="244475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>
            <a:noFill/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1" name="텍스트 상자 34"/>
          <p:cNvSpPr txBox="1">
            <a:spLocks/>
          </p:cNvSpPr>
          <p:nvPr/>
        </p:nvSpPr>
        <p:spPr>
          <a:xfrm>
            <a:off x="10029190" y="5610860"/>
            <a:ext cx="1499235" cy="3346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유동집중 주거 배후지</a:t>
            </a:r>
            <a:endParaRPr lang="ko-KR" altLang="en-US" sz="10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텍스트 상자 40"/>
          <p:cNvSpPr txBox="1">
            <a:spLocks/>
          </p:cNvSpPr>
          <p:nvPr/>
        </p:nvSpPr>
        <p:spPr>
          <a:xfrm>
            <a:off x="9077960" y="5864225"/>
            <a:ext cx="1499235" cy="3346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주거 생활 밀착 상권</a:t>
            </a:r>
            <a:endParaRPr lang="ko-KR" altLang="en-US" sz="10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71E8-6F0B-519A-E80C-CE228D6FF2A8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BEBFA3A5-F703-2208-29CE-2E9E16B3465B}"/>
              </a:ext>
            </a:extLst>
          </p:cNvPr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도형 11">
            <a:extLst>
              <a:ext uri="{FF2B5EF4-FFF2-40B4-BE49-F238E27FC236}">
                <a16:creationId xmlns:a16="http://schemas.microsoft.com/office/drawing/2014/main" id="{DFFD1E38-369A-D169-B346-2C3DA2DD5251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3" name="텍스트 상자 12">
            <a:extLst>
              <a:ext uri="{FF2B5EF4-FFF2-40B4-BE49-F238E27FC236}">
                <a16:creationId xmlns:a16="http://schemas.microsoft.com/office/drawing/2014/main" id="{AE04922F-467B-9681-0C55-8F8460448AC7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0852-3770-C7B6-7534-F2A1CCBB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1">
            <a:extLst>
              <a:ext uri="{FF2B5EF4-FFF2-40B4-BE49-F238E27FC236}">
                <a16:creationId xmlns:a16="http://schemas.microsoft.com/office/drawing/2014/main" id="{FCDE388B-422A-E3A9-E873-0A913936CEC8}"/>
              </a:ext>
            </a:extLst>
          </p:cNvPr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구성 &amp; 데이터셋 구조</a:t>
            </a:r>
            <a:endParaRPr lang="en-US" sz="3000" dirty="0"/>
          </a:p>
        </p:txBody>
      </p:sp>
      <p:sp>
        <p:nvSpPr>
          <p:cNvPr id="72" name="텍스트 상자 41">
            <a:extLst>
              <a:ext uri="{FF2B5EF4-FFF2-40B4-BE49-F238E27FC236}">
                <a16:creationId xmlns:a16="http://schemas.microsoft.com/office/drawing/2014/main" id="{C3026FC1-8B85-AE27-00EE-DF7B3E2358D3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도형 42">
            <a:extLst>
              <a:ext uri="{FF2B5EF4-FFF2-40B4-BE49-F238E27FC236}">
                <a16:creationId xmlns:a16="http://schemas.microsoft.com/office/drawing/2014/main" id="{C9244961-B7D3-1C76-50F1-FB26318E2D29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4" name="텍스트 상자 43">
            <a:extLst>
              <a:ext uri="{FF2B5EF4-FFF2-40B4-BE49-F238E27FC236}">
                <a16:creationId xmlns:a16="http://schemas.microsoft.com/office/drawing/2014/main" id="{F0B8737A-50CD-04CA-68C3-6D18CB824701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3" name="Image 0">
            <a:extLst>
              <a:ext uri="{FF2B5EF4-FFF2-40B4-BE49-F238E27FC236}">
                <a16:creationId xmlns:a16="http://schemas.microsoft.com/office/drawing/2014/main" id="{2B400AE0-11D1-6B0B-1AC3-E331A2F491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762000" y="2333625"/>
            <a:ext cx="4953000" cy="8890"/>
          </a:xfrm>
          <a:prstGeom prst="rect">
            <a:avLst/>
          </a:prstGeom>
        </p:spPr>
      </p:pic>
      <p:pic>
        <p:nvPicPr>
          <p:cNvPr id="71" name="Image 1">
            <a:extLst>
              <a:ext uri="{FF2B5EF4-FFF2-40B4-BE49-F238E27FC236}">
                <a16:creationId xmlns:a16="http://schemas.microsoft.com/office/drawing/2014/main" id="{576E47EB-2584-6382-7AF2-A7B8F66DCD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762000" y="2714625"/>
            <a:ext cx="4953000" cy="8890"/>
          </a:xfrm>
          <a:prstGeom prst="rect">
            <a:avLst/>
          </a:prstGeom>
        </p:spPr>
      </p:pic>
      <p:pic>
        <p:nvPicPr>
          <p:cNvPr id="75" name="Image 2">
            <a:extLst>
              <a:ext uri="{FF2B5EF4-FFF2-40B4-BE49-F238E27FC236}">
                <a16:creationId xmlns:a16="http://schemas.microsoft.com/office/drawing/2014/main" id="{FE960D54-CA4D-DE32-FAE8-5A503C1366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3480955"/>
            <a:ext cx="4953000" cy="8890"/>
          </a:xfrm>
          <a:prstGeom prst="rect">
            <a:avLst/>
          </a:prstGeom>
        </p:spPr>
      </p:pic>
      <p:pic>
        <p:nvPicPr>
          <p:cNvPr id="76" name="Image 3">
            <a:extLst>
              <a:ext uri="{FF2B5EF4-FFF2-40B4-BE49-F238E27FC236}">
                <a16:creationId xmlns:a16="http://schemas.microsoft.com/office/drawing/2014/main" id="{531E9BBC-D59A-70C5-04DC-8F1C19C2B6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4004830"/>
            <a:ext cx="4953000" cy="8890"/>
          </a:xfrm>
          <a:prstGeom prst="rect">
            <a:avLst/>
          </a:prstGeom>
        </p:spPr>
      </p:pic>
      <p:pic>
        <p:nvPicPr>
          <p:cNvPr id="77" name="Image 4">
            <a:extLst>
              <a:ext uri="{FF2B5EF4-FFF2-40B4-BE49-F238E27FC236}">
                <a16:creationId xmlns:a16="http://schemas.microsoft.com/office/drawing/2014/main" id="{52E46C0F-0117-BA15-0C09-B5B382E20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4528705"/>
            <a:ext cx="4953000" cy="8890"/>
          </a:xfrm>
          <a:prstGeom prst="rect">
            <a:avLst/>
          </a:prstGeom>
        </p:spPr>
      </p:pic>
      <p:pic>
        <p:nvPicPr>
          <p:cNvPr id="78" name="Image 5">
            <a:extLst>
              <a:ext uri="{FF2B5EF4-FFF2-40B4-BE49-F238E27FC236}">
                <a16:creationId xmlns:a16="http://schemas.microsoft.com/office/drawing/2014/main" id="{ED523C48-554F-298E-8362-24A273F917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5290705"/>
            <a:ext cx="4953000" cy="8890"/>
          </a:xfrm>
          <a:prstGeom prst="rect">
            <a:avLst/>
          </a:prstGeom>
        </p:spPr>
      </p:pic>
      <p:pic>
        <p:nvPicPr>
          <p:cNvPr id="79" name="Image 6">
            <a:extLst>
              <a:ext uri="{FF2B5EF4-FFF2-40B4-BE49-F238E27FC236}">
                <a16:creationId xmlns:a16="http://schemas.microsoft.com/office/drawing/2014/main" id="{612EA1F0-622C-01ED-BF8B-B4FCF08D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6477000" y="2333625"/>
            <a:ext cx="4953000" cy="8890"/>
          </a:xfrm>
          <a:prstGeom prst="rect">
            <a:avLst/>
          </a:prstGeom>
        </p:spPr>
      </p:pic>
      <p:pic>
        <p:nvPicPr>
          <p:cNvPr id="80" name="Image 7">
            <a:extLst>
              <a:ext uri="{FF2B5EF4-FFF2-40B4-BE49-F238E27FC236}">
                <a16:creationId xmlns:a16="http://schemas.microsoft.com/office/drawing/2014/main" id="{2BC3D804-1702-3F6D-B289-ED522BBF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6466609" y="2714625"/>
            <a:ext cx="4953000" cy="8890"/>
          </a:xfrm>
          <a:prstGeom prst="rect">
            <a:avLst/>
          </a:prstGeom>
        </p:spPr>
      </p:pic>
      <p:pic>
        <p:nvPicPr>
          <p:cNvPr id="81" name="Image 8">
            <a:extLst>
              <a:ext uri="{FF2B5EF4-FFF2-40B4-BE49-F238E27FC236}">
                <a16:creationId xmlns:a16="http://schemas.microsoft.com/office/drawing/2014/main" id="{B826121F-4F30-485C-0381-3B0545D797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6466609" y="3338080"/>
            <a:ext cx="4953000" cy="8890"/>
          </a:xfrm>
          <a:prstGeom prst="rect">
            <a:avLst/>
          </a:prstGeom>
        </p:spPr>
      </p:pic>
      <p:pic>
        <p:nvPicPr>
          <p:cNvPr id="82" name="Image 9">
            <a:extLst>
              <a:ext uri="{FF2B5EF4-FFF2-40B4-BE49-F238E27FC236}">
                <a16:creationId xmlns:a16="http://schemas.microsoft.com/office/drawing/2014/main" id="{67F4C78F-B327-8D60-08A6-3FC4431762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6466609" y="3861955"/>
            <a:ext cx="4953000" cy="8890"/>
          </a:xfrm>
          <a:prstGeom prst="rect">
            <a:avLst/>
          </a:prstGeom>
        </p:spPr>
      </p:pic>
      <p:pic>
        <p:nvPicPr>
          <p:cNvPr id="83" name="Image 10">
            <a:extLst>
              <a:ext uri="{FF2B5EF4-FFF2-40B4-BE49-F238E27FC236}">
                <a16:creationId xmlns:a16="http://schemas.microsoft.com/office/drawing/2014/main" id="{D05BA44D-3E12-0B36-D0B9-0E1B6BBA68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6466609" y="4386465"/>
            <a:ext cx="4953000" cy="8890"/>
          </a:xfrm>
          <a:prstGeom prst="rect">
            <a:avLst/>
          </a:prstGeom>
        </p:spPr>
      </p:pic>
      <p:pic>
        <p:nvPicPr>
          <p:cNvPr id="84" name="Image 11">
            <a:extLst>
              <a:ext uri="{FF2B5EF4-FFF2-40B4-BE49-F238E27FC236}">
                <a16:creationId xmlns:a16="http://schemas.microsoft.com/office/drawing/2014/main" id="{DBA90C51-72FF-A161-DE78-24FC742D17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62000" y="1966595"/>
            <a:ext cx="219710" cy="190500"/>
          </a:xfrm>
          <a:prstGeom prst="rect">
            <a:avLst/>
          </a:prstGeom>
        </p:spPr>
      </p:pic>
      <p:pic>
        <p:nvPicPr>
          <p:cNvPr id="85" name="Image 12">
            <a:extLst>
              <a:ext uri="{FF2B5EF4-FFF2-40B4-BE49-F238E27FC236}">
                <a16:creationId xmlns:a16="http://schemas.microsoft.com/office/drawing/2014/main" id="{BAC06DC9-39BE-3730-3995-29CA759EB0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477000" y="1966595"/>
            <a:ext cx="172085" cy="190500"/>
          </a:xfrm>
          <a:prstGeom prst="rect">
            <a:avLst/>
          </a:prstGeom>
        </p:spPr>
      </p:pic>
      <p:pic>
        <p:nvPicPr>
          <p:cNvPr id="86" name="Image 13">
            <a:extLst>
              <a:ext uri="{FF2B5EF4-FFF2-40B4-BE49-F238E27FC236}">
                <a16:creationId xmlns:a16="http://schemas.microsoft.com/office/drawing/2014/main" id="{3F545103-8C8C-50ED-96F3-6782864C94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13599" y="5405005"/>
            <a:ext cx="209550" cy="209550"/>
          </a:xfrm>
          <a:prstGeom prst="rect">
            <a:avLst/>
          </a:prstGeom>
        </p:spPr>
      </p:pic>
      <p:sp>
        <p:nvSpPr>
          <p:cNvPr id="88" name="card_bg">
            <a:extLst>
              <a:ext uri="{FF2B5EF4-FFF2-40B4-BE49-F238E27FC236}">
                <a16:creationId xmlns:a16="http://schemas.microsoft.com/office/drawing/2014/main" id="{FC184ACE-59AA-8F6A-5DEF-D3479E418723}"/>
              </a:ext>
            </a:extLst>
          </p:cNvPr>
          <p:cNvSpPr/>
          <p:nvPr/>
        </p:nvSpPr>
        <p:spPr>
          <a:xfrm>
            <a:off x="571500" y="1480000"/>
            <a:ext cx="11050000" cy="4901750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89" name="card_topbar">
            <a:extLst>
              <a:ext uri="{FF2B5EF4-FFF2-40B4-BE49-F238E27FC236}">
                <a16:creationId xmlns:a16="http://schemas.microsoft.com/office/drawing/2014/main" id="{833ACDB2-BA6F-FF6C-8529-334C4C5003CF}"/>
              </a:ext>
            </a:extLst>
          </p:cNvPr>
          <p:cNvSpPr/>
          <p:nvPr/>
        </p:nvSpPr>
        <p:spPr>
          <a:xfrm>
            <a:off x="571500" y="1480000"/>
            <a:ext cx="11050000" cy="38100"/>
          </a:xfrm>
          <a:prstGeom prst="roundRect">
            <a:avLst>
              <a:gd name="adj" fmla="val 78546"/>
            </a:avLst>
          </a:prstGeom>
          <a:solidFill>
            <a:srgbClr val="1A35B5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90" name="card_title">
            <a:extLst>
              <a:ext uri="{FF2B5EF4-FFF2-40B4-BE49-F238E27FC236}">
                <a16:creationId xmlns:a16="http://schemas.microsoft.com/office/drawing/2014/main" id="{4A332809-0BAA-2F09-8F8E-37547677D066}"/>
              </a:ext>
            </a:extLst>
          </p:cNvPr>
          <p:cNvSpPr/>
          <p:nvPr/>
        </p:nvSpPr>
        <p:spPr>
          <a:xfrm>
            <a:off x="800000" y="1530000"/>
            <a:ext cx="10000000" cy="50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r>
              <a:rPr lang="ko-KR" altLang="en-US" sz="1400" b="1" dirty="0">
                <a:solidFill>
                  <a:srgbClr val="1A35B5"/>
                </a:solidFill>
                <a:latin typeface="Pretendard" charset="0"/>
                <a:ea typeface="Pretendard" charset="0"/>
              </a:rPr>
              <a:t>Multi-Horizon Forecasting Framework</a:t>
            </a:r>
          </a:p>
        </p:txBody>
      </p:sp>
      <p:sp>
        <p:nvSpPr>
          <p:cNvPr id="91" name="hdr_bg">
            <a:extLst>
              <a:ext uri="{FF2B5EF4-FFF2-40B4-BE49-F238E27FC236}">
                <a16:creationId xmlns:a16="http://schemas.microsoft.com/office/drawing/2014/main" id="{532B0B0D-B8EC-EFBD-3363-4ACD5A494FCE}"/>
              </a:ext>
            </a:extLst>
          </p:cNvPr>
          <p:cNvSpPr/>
          <p:nvPr/>
        </p:nvSpPr>
        <p:spPr>
          <a:xfrm>
            <a:off x="570500" y="2030000"/>
            <a:ext cx="11059500" cy="470000"/>
          </a:xfrm>
          <a:prstGeom prst="rect">
            <a:avLst/>
          </a:prstGeom>
          <a:solidFill>
            <a:srgbClr val="EEF1FB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92" name="hdr_210">
            <a:extLst>
              <a:ext uri="{FF2B5EF4-FFF2-40B4-BE49-F238E27FC236}">
                <a16:creationId xmlns:a16="http://schemas.microsoft.com/office/drawing/2014/main" id="{59FA5431-C4C0-5BF7-AFCF-20B3A6EB0994}"/>
              </a:ext>
            </a:extLst>
          </p:cNvPr>
          <p:cNvSpPr/>
          <p:nvPr/>
        </p:nvSpPr>
        <p:spPr>
          <a:xfrm>
            <a:off x="640000" y="2037960"/>
            <a:ext cx="1300000" cy="4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000" b="1" dirty="0">
                <a:solidFill>
                  <a:srgbClr val="222222"/>
                </a:solidFill>
                <a:latin typeface="Pretendard" charset="0"/>
                <a:ea typeface="Pretendard" charset="0"/>
              </a:rPr>
              <a:t>Horizon (h)</a:t>
            </a:r>
          </a:p>
        </p:txBody>
      </p:sp>
      <p:sp>
        <p:nvSpPr>
          <p:cNvPr id="93" name="hdr_211">
            <a:extLst>
              <a:ext uri="{FF2B5EF4-FFF2-40B4-BE49-F238E27FC236}">
                <a16:creationId xmlns:a16="http://schemas.microsoft.com/office/drawing/2014/main" id="{472F6331-1C7E-96F1-E1C9-7BC321E411D3}"/>
              </a:ext>
            </a:extLst>
          </p:cNvPr>
          <p:cNvSpPr/>
          <p:nvPr/>
        </p:nvSpPr>
        <p:spPr>
          <a:xfrm>
            <a:off x="2050000" y="2037960"/>
            <a:ext cx="2400000" cy="4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000" b="1" dirty="0">
                <a:solidFill>
                  <a:srgbClr val="222222"/>
                </a:solidFill>
                <a:latin typeface="Pretendard" charset="0"/>
                <a:ea typeface="Pretendard" charset="0"/>
              </a:rPr>
              <a:t>Input Time  X(t)</a:t>
            </a:r>
          </a:p>
        </p:txBody>
      </p:sp>
      <p:sp>
        <p:nvSpPr>
          <p:cNvPr id="94" name="hdr_212">
            <a:extLst>
              <a:ext uri="{FF2B5EF4-FFF2-40B4-BE49-F238E27FC236}">
                <a16:creationId xmlns:a16="http://schemas.microsoft.com/office/drawing/2014/main" id="{0498D16D-95DE-0D3D-7E49-6BE473D07353}"/>
              </a:ext>
            </a:extLst>
          </p:cNvPr>
          <p:cNvSpPr/>
          <p:nvPr/>
        </p:nvSpPr>
        <p:spPr>
          <a:xfrm>
            <a:off x="4311007" y="2037960"/>
            <a:ext cx="2500000" cy="4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000" b="1" dirty="0">
                <a:solidFill>
                  <a:srgbClr val="222222"/>
                </a:solidFill>
                <a:latin typeface="Pretendard" charset="0"/>
                <a:ea typeface="Pretendard" charset="0"/>
              </a:rPr>
              <a:t>Prediction Target  y(t+h)</a:t>
            </a:r>
          </a:p>
        </p:txBody>
      </p:sp>
      <p:sp>
        <p:nvSpPr>
          <p:cNvPr id="95" name="hdr_213">
            <a:extLst>
              <a:ext uri="{FF2B5EF4-FFF2-40B4-BE49-F238E27FC236}">
                <a16:creationId xmlns:a16="http://schemas.microsoft.com/office/drawing/2014/main" id="{E0D37275-3C1A-AEB2-9E50-83198074FE48}"/>
              </a:ext>
            </a:extLst>
          </p:cNvPr>
          <p:cNvSpPr/>
          <p:nvPr/>
        </p:nvSpPr>
        <p:spPr>
          <a:xfrm>
            <a:off x="6869443" y="2037960"/>
            <a:ext cx="2400000" cy="4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000" b="1" dirty="0">
                <a:solidFill>
                  <a:srgbClr val="222222"/>
                </a:solidFill>
                <a:latin typeface="Pretendard" charset="0"/>
                <a:ea typeface="Pretendard" charset="0"/>
              </a:rPr>
              <a:t>Example (t = 2025Q3)</a:t>
            </a:r>
          </a:p>
        </p:txBody>
      </p:sp>
      <p:sp>
        <p:nvSpPr>
          <p:cNvPr id="96" name="hdr_214">
            <a:extLst>
              <a:ext uri="{FF2B5EF4-FFF2-40B4-BE49-F238E27FC236}">
                <a16:creationId xmlns:a16="http://schemas.microsoft.com/office/drawing/2014/main" id="{4614FD94-4267-8F70-8FCA-15483C302CAC}"/>
              </a:ext>
            </a:extLst>
          </p:cNvPr>
          <p:cNvSpPr/>
          <p:nvPr/>
        </p:nvSpPr>
        <p:spPr>
          <a:xfrm>
            <a:off x="9442180" y="2037960"/>
            <a:ext cx="1850000" cy="4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000" b="1" dirty="0">
                <a:solidFill>
                  <a:srgbClr val="222222"/>
                </a:solidFill>
                <a:latin typeface="Pretendard" charset="0"/>
                <a:ea typeface="Pretendard" charset="0"/>
              </a:rPr>
              <a:t>Meaning</a:t>
            </a:r>
          </a:p>
        </p:txBody>
      </p:sp>
      <p:sp>
        <p:nvSpPr>
          <p:cNvPr id="97" name="hdr_line">
            <a:extLst>
              <a:ext uri="{FF2B5EF4-FFF2-40B4-BE49-F238E27FC236}">
                <a16:creationId xmlns:a16="http://schemas.microsoft.com/office/drawing/2014/main" id="{FAF50201-E31A-A6D4-C681-104DE69DCC64}"/>
              </a:ext>
            </a:extLst>
          </p:cNvPr>
          <p:cNvSpPr/>
          <p:nvPr/>
        </p:nvSpPr>
        <p:spPr>
          <a:xfrm>
            <a:off x="620000" y="2550000"/>
            <a:ext cx="10950000" cy="15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98" name="rowbg_0">
            <a:extLst>
              <a:ext uri="{FF2B5EF4-FFF2-40B4-BE49-F238E27FC236}">
                <a16:creationId xmlns:a16="http://schemas.microsoft.com/office/drawing/2014/main" id="{B4FAD15E-F42D-0501-63C0-F1B5B493299C}"/>
              </a:ext>
            </a:extLst>
          </p:cNvPr>
          <p:cNvSpPr/>
          <p:nvPr/>
        </p:nvSpPr>
        <p:spPr>
          <a:xfrm>
            <a:off x="620000" y="2570000"/>
            <a:ext cx="10950000" cy="870000"/>
          </a:xfrm>
          <a:prstGeom prst="rect">
            <a:avLst/>
          </a:prstGeom>
          <a:solidFill>
            <a:srgbClr val="F4F6FF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99" name="badge_0">
            <a:extLst>
              <a:ext uri="{FF2B5EF4-FFF2-40B4-BE49-F238E27FC236}">
                <a16:creationId xmlns:a16="http://schemas.microsoft.com/office/drawing/2014/main" id="{0B6CD210-0A3C-FB97-6170-A09995A5D4AE}"/>
              </a:ext>
            </a:extLst>
          </p:cNvPr>
          <p:cNvSpPr/>
          <p:nvPr/>
        </p:nvSpPr>
        <p:spPr>
          <a:xfrm>
            <a:off x="680000" y="2780000"/>
            <a:ext cx="1150000" cy="440000"/>
          </a:xfrm>
          <a:prstGeom prst="roundRect">
            <a:avLst>
              <a:gd name="adj" fmla="val 22222"/>
            </a:avLst>
          </a:prstGeom>
          <a:solidFill>
            <a:srgbClr val="1A35B5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charset="0"/>
                <a:ea typeface="Pretendard" charset="0"/>
              </a:rPr>
              <a:t>h = 1</a:t>
            </a:r>
          </a:p>
        </p:txBody>
      </p:sp>
      <p:sp>
        <p:nvSpPr>
          <p:cNvPr id="100" name="cell_0_0">
            <a:extLst>
              <a:ext uri="{FF2B5EF4-FFF2-40B4-BE49-F238E27FC236}">
                <a16:creationId xmlns:a16="http://schemas.microsoft.com/office/drawing/2014/main" id="{D55DAC43-7CC5-0B04-81C7-DE33F7BFD92B}"/>
              </a:ext>
            </a:extLst>
          </p:cNvPr>
          <p:cNvSpPr/>
          <p:nvPr/>
        </p:nvSpPr>
        <p:spPr>
          <a:xfrm>
            <a:off x="2039609" y="2570000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en-US" altLang="ko-KR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X(t)</a:t>
            </a:r>
            <a:endParaRPr lang="ko-KR" altLang="en-US" sz="1200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101" name="cell_0_1">
            <a:extLst>
              <a:ext uri="{FF2B5EF4-FFF2-40B4-BE49-F238E27FC236}">
                <a16:creationId xmlns:a16="http://schemas.microsoft.com/office/drawing/2014/main" id="{B1FE5E31-085E-5F99-191D-CF1BBDFB9A9D}"/>
              </a:ext>
            </a:extLst>
          </p:cNvPr>
          <p:cNvSpPr/>
          <p:nvPr/>
        </p:nvSpPr>
        <p:spPr>
          <a:xfrm>
            <a:off x="4165532" y="2570000"/>
            <a:ext cx="2817155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y(t + 1)</a:t>
            </a:r>
            <a:endParaRPr lang="en-US" altLang="ko-KR" sz="1200" b="1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102" name="cell_0_2">
            <a:extLst>
              <a:ext uri="{FF2B5EF4-FFF2-40B4-BE49-F238E27FC236}">
                <a16:creationId xmlns:a16="http://schemas.microsoft.com/office/drawing/2014/main" id="{7EFF29DC-37F9-6E32-7E35-7C78A0018127}"/>
              </a:ext>
            </a:extLst>
          </p:cNvPr>
          <p:cNvSpPr/>
          <p:nvPr/>
        </p:nvSpPr>
        <p:spPr>
          <a:xfrm>
            <a:off x="6859052" y="2570000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2025Q3  </a:t>
            </a:r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→  2025Q4</a:t>
            </a:r>
          </a:p>
        </p:txBody>
      </p:sp>
      <p:sp>
        <p:nvSpPr>
          <p:cNvPr id="103" name="cell_0_3">
            <a:extLst>
              <a:ext uri="{FF2B5EF4-FFF2-40B4-BE49-F238E27FC236}">
                <a16:creationId xmlns:a16="http://schemas.microsoft.com/office/drawing/2014/main" id="{D1DCC71E-ACA7-FD8E-AF8D-09213DB8374F}"/>
              </a:ext>
            </a:extLst>
          </p:cNvPr>
          <p:cNvSpPr/>
          <p:nvPr/>
        </p:nvSpPr>
        <p:spPr>
          <a:xfrm>
            <a:off x="9431789" y="2570000"/>
            <a:ext cx="185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Short-term prediction</a:t>
            </a:r>
          </a:p>
        </p:txBody>
      </p:sp>
      <p:sp>
        <p:nvSpPr>
          <p:cNvPr id="104" name="rowline_0">
            <a:extLst>
              <a:ext uri="{FF2B5EF4-FFF2-40B4-BE49-F238E27FC236}">
                <a16:creationId xmlns:a16="http://schemas.microsoft.com/office/drawing/2014/main" id="{D490B5EE-ABD5-2DAB-D55B-FF9A6B4968D7}"/>
              </a:ext>
            </a:extLst>
          </p:cNvPr>
          <p:cNvSpPr/>
          <p:nvPr/>
        </p:nvSpPr>
        <p:spPr>
          <a:xfrm>
            <a:off x="620000" y="3486955"/>
            <a:ext cx="10950000" cy="127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05" name="rowbg_1">
            <a:extLst>
              <a:ext uri="{FF2B5EF4-FFF2-40B4-BE49-F238E27FC236}">
                <a16:creationId xmlns:a16="http://schemas.microsoft.com/office/drawing/2014/main" id="{40B6DE50-D888-2326-228C-0C3C7A60A63C}"/>
              </a:ext>
            </a:extLst>
          </p:cNvPr>
          <p:cNvSpPr/>
          <p:nvPr/>
        </p:nvSpPr>
        <p:spPr>
          <a:xfrm>
            <a:off x="620000" y="3491955"/>
            <a:ext cx="10950000" cy="87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06" name="badge_1">
            <a:extLst>
              <a:ext uri="{FF2B5EF4-FFF2-40B4-BE49-F238E27FC236}">
                <a16:creationId xmlns:a16="http://schemas.microsoft.com/office/drawing/2014/main" id="{709E1828-C16B-AE5B-6870-85E1DC7AE5AA}"/>
              </a:ext>
            </a:extLst>
          </p:cNvPr>
          <p:cNvSpPr/>
          <p:nvPr/>
        </p:nvSpPr>
        <p:spPr>
          <a:xfrm>
            <a:off x="680000" y="3701955"/>
            <a:ext cx="1150000" cy="440000"/>
          </a:xfrm>
          <a:prstGeom prst="roundRect">
            <a:avLst>
              <a:gd name="adj" fmla="val 22222"/>
            </a:avLst>
          </a:prstGeom>
          <a:solidFill>
            <a:srgbClr val="1A35B5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charset="0"/>
                <a:ea typeface="Pretendard" charset="0"/>
              </a:rPr>
              <a:t>h = 2</a:t>
            </a:r>
          </a:p>
        </p:txBody>
      </p:sp>
      <p:sp>
        <p:nvSpPr>
          <p:cNvPr id="107" name="cell_1_0">
            <a:extLst>
              <a:ext uri="{FF2B5EF4-FFF2-40B4-BE49-F238E27FC236}">
                <a16:creationId xmlns:a16="http://schemas.microsoft.com/office/drawing/2014/main" id="{06E2E3C2-5E3C-1E54-A717-9CF9CD11455A}"/>
              </a:ext>
            </a:extLst>
          </p:cNvPr>
          <p:cNvSpPr/>
          <p:nvPr/>
        </p:nvSpPr>
        <p:spPr>
          <a:xfrm>
            <a:off x="2039609" y="3543910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en-US" altLang="ko-KR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X(t)</a:t>
            </a:r>
            <a:endParaRPr lang="ko-KR" altLang="en-US" sz="1200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109" name="cell_1_2">
            <a:extLst>
              <a:ext uri="{FF2B5EF4-FFF2-40B4-BE49-F238E27FC236}">
                <a16:creationId xmlns:a16="http://schemas.microsoft.com/office/drawing/2014/main" id="{354187C1-BED6-0782-BBDD-79837C1951AC}"/>
              </a:ext>
            </a:extLst>
          </p:cNvPr>
          <p:cNvSpPr/>
          <p:nvPr/>
        </p:nvSpPr>
        <p:spPr>
          <a:xfrm>
            <a:off x="6859052" y="3491955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2025Q3  </a:t>
            </a:r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→  2026Q1</a:t>
            </a:r>
          </a:p>
        </p:txBody>
      </p:sp>
      <p:sp>
        <p:nvSpPr>
          <p:cNvPr id="110" name="cell_1_3">
            <a:extLst>
              <a:ext uri="{FF2B5EF4-FFF2-40B4-BE49-F238E27FC236}">
                <a16:creationId xmlns:a16="http://schemas.microsoft.com/office/drawing/2014/main" id="{2119FE2F-7627-A80A-C682-5F6A7749A36A}"/>
              </a:ext>
            </a:extLst>
          </p:cNvPr>
          <p:cNvSpPr/>
          <p:nvPr/>
        </p:nvSpPr>
        <p:spPr>
          <a:xfrm>
            <a:off x="9431789" y="3460782"/>
            <a:ext cx="185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Near-future prediction</a:t>
            </a:r>
          </a:p>
        </p:txBody>
      </p:sp>
      <p:sp>
        <p:nvSpPr>
          <p:cNvPr id="111" name="rowline_1">
            <a:extLst>
              <a:ext uri="{FF2B5EF4-FFF2-40B4-BE49-F238E27FC236}">
                <a16:creationId xmlns:a16="http://schemas.microsoft.com/office/drawing/2014/main" id="{13949A58-DC9D-1F47-0E2C-4D11EC756B78}"/>
              </a:ext>
            </a:extLst>
          </p:cNvPr>
          <p:cNvSpPr/>
          <p:nvPr/>
        </p:nvSpPr>
        <p:spPr>
          <a:xfrm>
            <a:off x="620000" y="4356955"/>
            <a:ext cx="10950000" cy="127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12" name="rowbg_2">
            <a:extLst>
              <a:ext uri="{FF2B5EF4-FFF2-40B4-BE49-F238E27FC236}">
                <a16:creationId xmlns:a16="http://schemas.microsoft.com/office/drawing/2014/main" id="{CF56298C-58BD-C5C5-98BB-C342808BBBD2}"/>
              </a:ext>
            </a:extLst>
          </p:cNvPr>
          <p:cNvSpPr/>
          <p:nvPr/>
        </p:nvSpPr>
        <p:spPr>
          <a:xfrm>
            <a:off x="620000" y="4361955"/>
            <a:ext cx="10950000" cy="870000"/>
          </a:xfrm>
          <a:prstGeom prst="rect">
            <a:avLst/>
          </a:prstGeom>
          <a:solidFill>
            <a:srgbClr val="F4F6FF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13" name="badge_2">
            <a:extLst>
              <a:ext uri="{FF2B5EF4-FFF2-40B4-BE49-F238E27FC236}">
                <a16:creationId xmlns:a16="http://schemas.microsoft.com/office/drawing/2014/main" id="{75B369E0-987F-D402-766E-3FC67EDDB26B}"/>
              </a:ext>
            </a:extLst>
          </p:cNvPr>
          <p:cNvSpPr/>
          <p:nvPr/>
        </p:nvSpPr>
        <p:spPr>
          <a:xfrm>
            <a:off x="680000" y="4571955"/>
            <a:ext cx="1150000" cy="440000"/>
          </a:xfrm>
          <a:prstGeom prst="roundRect">
            <a:avLst>
              <a:gd name="adj" fmla="val 22222"/>
            </a:avLst>
          </a:prstGeom>
          <a:solidFill>
            <a:srgbClr val="1A35B5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charset="0"/>
                <a:ea typeface="Pretendard" charset="0"/>
              </a:rPr>
              <a:t>h = 3</a:t>
            </a:r>
          </a:p>
        </p:txBody>
      </p:sp>
      <p:sp>
        <p:nvSpPr>
          <p:cNvPr id="114" name="cell_2_0">
            <a:extLst>
              <a:ext uri="{FF2B5EF4-FFF2-40B4-BE49-F238E27FC236}">
                <a16:creationId xmlns:a16="http://schemas.microsoft.com/office/drawing/2014/main" id="{D024067A-6C69-C948-BAEA-062033E8D15C}"/>
              </a:ext>
            </a:extLst>
          </p:cNvPr>
          <p:cNvSpPr/>
          <p:nvPr/>
        </p:nvSpPr>
        <p:spPr>
          <a:xfrm>
            <a:off x="2039609" y="4393128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en-US" altLang="ko-KR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X(t)</a:t>
            </a:r>
            <a:endParaRPr lang="ko-KR" altLang="en-US" sz="1200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116" name="cell_2_2">
            <a:extLst>
              <a:ext uri="{FF2B5EF4-FFF2-40B4-BE49-F238E27FC236}">
                <a16:creationId xmlns:a16="http://schemas.microsoft.com/office/drawing/2014/main" id="{133CDB7B-3892-150E-720C-82FA3332E2F9}"/>
              </a:ext>
            </a:extLst>
          </p:cNvPr>
          <p:cNvSpPr/>
          <p:nvPr/>
        </p:nvSpPr>
        <p:spPr>
          <a:xfrm>
            <a:off x="6859052" y="4361955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2025Q3  </a:t>
            </a:r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→  2026Q2</a:t>
            </a:r>
          </a:p>
        </p:txBody>
      </p:sp>
      <p:sp>
        <p:nvSpPr>
          <p:cNvPr id="117" name="cell_2_3">
            <a:extLst>
              <a:ext uri="{FF2B5EF4-FFF2-40B4-BE49-F238E27FC236}">
                <a16:creationId xmlns:a16="http://schemas.microsoft.com/office/drawing/2014/main" id="{11F923D5-2B0D-E1CA-4FAD-7A499A7D6B96}"/>
              </a:ext>
            </a:extLst>
          </p:cNvPr>
          <p:cNvSpPr/>
          <p:nvPr/>
        </p:nvSpPr>
        <p:spPr>
          <a:xfrm>
            <a:off x="9431789" y="4361955"/>
            <a:ext cx="185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Mid-term prediction</a:t>
            </a:r>
          </a:p>
        </p:txBody>
      </p:sp>
      <p:sp>
        <p:nvSpPr>
          <p:cNvPr id="118" name="rowline_2">
            <a:extLst>
              <a:ext uri="{FF2B5EF4-FFF2-40B4-BE49-F238E27FC236}">
                <a16:creationId xmlns:a16="http://schemas.microsoft.com/office/drawing/2014/main" id="{1865583B-E9C8-CA04-DEEC-E7CA2898ABAC}"/>
              </a:ext>
            </a:extLst>
          </p:cNvPr>
          <p:cNvSpPr/>
          <p:nvPr/>
        </p:nvSpPr>
        <p:spPr>
          <a:xfrm>
            <a:off x="620000" y="5226955"/>
            <a:ext cx="10950000" cy="127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19" name="rowbg_3">
            <a:extLst>
              <a:ext uri="{FF2B5EF4-FFF2-40B4-BE49-F238E27FC236}">
                <a16:creationId xmlns:a16="http://schemas.microsoft.com/office/drawing/2014/main" id="{D7DA882D-52FC-3943-69A1-584BC6D7392F}"/>
              </a:ext>
            </a:extLst>
          </p:cNvPr>
          <p:cNvSpPr/>
          <p:nvPr/>
        </p:nvSpPr>
        <p:spPr>
          <a:xfrm>
            <a:off x="620000" y="5231955"/>
            <a:ext cx="10950000" cy="87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anchor="ctr"/>
          <a:lstStyle/>
          <a:p>
            <a:pPr algn="ctr"/>
            <a:endParaRPr lang="ko-KR"/>
          </a:p>
        </p:txBody>
      </p:sp>
      <p:sp>
        <p:nvSpPr>
          <p:cNvPr id="120" name="badge_3">
            <a:extLst>
              <a:ext uri="{FF2B5EF4-FFF2-40B4-BE49-F238E27FC236}">
                <a16:creationId xmlns:a16="http://schemas.microsoft.com/office/drawing/2014/main" id="{9183AEE5-423B-F7AE-BDB0-10CEBEF4F391}"/>
              </a:ext>
            </a:extLst>
          </p:cNvPr>
          <p:cNvSpPr/>
          <p:nvPr/>
        </p:nvSpPr>
        <p:spPr>
          <a:xfrm>
            <a:off x="680000" y="5441955"/>
            <a:ext cx="1150000" cy="440000"/>
          </a:xfrm>
          <a:prstGeom prst="roundRect">
            <a:avLst>
              <a:gd name="adj" fmla="val 22222"/>
            </a:avLst>
          </a:prstGeom>
          <a:solidFill>
            <a:srgbClr val="1A35B5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charset="0"/>
                <a:ea typeface="Pretendard" charset="0"/>
              </a:rPr>
              <a:t>h = 4</a:t>
            </a:r>
          </a:p>
        </p:txBody>
      </p:sp>
      <p:sp>
        <p:nvSpPr>
          <p:cNvPr id="121" name="cell_3_0">
            <a:extLst>
              <a:ext uri="{FF2B5EF4-FFF2-40B4-BE49-F238E27FC236}">
                <a16:creationId xmlns:a16="http://schemas.microsoft.com/office/drawing/2014/main" id="{F64D94E9-FA7E-6B24-465F-5441030321E7}"/>
              </a:ext>
            </a:extLst>
          </p:cNvPr>
          <p:cNvSpPr/>
          <p:nvPr/>
        </p:nvSpPr>
        <p:spPr>
          <a:xfrm>
            <a:off x="2039609" y="5283910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en-US" altLang="ko-KR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X(t)</a:t>
            </a:r>
            <a:endParaRPr lang="ko-KR" altLang="en-US" sz="1200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123" name="cell_3_2">
            <a:extLst>
              <a:ext uri="{FF2B5EF4-FFF2-40B4-BE49-F238E27FC236}">
                <a16:creationId xmlns:a16="http://schemas.microsoft.com/office/drawing/2014/main" id="{FB549448-219F-ECF4-20BF-82CEF35267F4}"/>
              </a:ext>
            </a:extLst>
          </p:cNvPr>
          <p:cNvSpPr/>
          <p:nvPr/>
        </p:nvSpPr>
        <p:spPr>
          <a:xfrm>
            <a:off x="6859052" y="5231955"/>
            <a:ext cx="240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2025Q3  </a:t>
            </a:r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→  2026Q3</a:t>
            </a:r>
          </a:p>
        </p:txBody>
      </p:sp>
      <p:sp>
        <p:nvSpPr>
          <p:cNvPr id="124" name="cell_3_3">
            <a:extLst>
              <a:ext uri="{FF2B5EF4-FFF2-40B4-BE49-F238E27FC236}">
                <a16:creationId xmlns:a16="http://schemas.microsoft.com/office/drawing/2014/main" id="{A9C2A2AC-998D-E2B1-ED73-D8E71C55D218}"/>
              </a:ext>
            </a:extLst>
          </p:cNvPr>
          <p:cNvSpPr/>
          <p:nvPr/>
        </p:nvSpPr>
        <p:spPr>
          <a:xfrm>
            <a:off x="9431789" y="5231955"/>
            <a:ext cx="1850000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dirty="0">
                <a:solidFill>
                  <a:srgbClr val="333333"/>
                </a:solidFill>
                <a:latin typeface="Pretendard" charset="0"/>
                <a:ea typeface="Pretendard" charset="0"/>
              </a:rPr>
              <a:t>Long-term prediction</a:t>
            </a:r>
          </a:p>
        </p:txBody>
      </p:sp>
      <p:sp>
        <p:nvSpPr>
          <p:cNvPr id="2" name="cell_0_1">
            <a:extLst>
              <a:ext uri="{FF2B5EF4-FFF2-40B4-BE49-F238E27FC236}">
                <a16:creationId xmlns:a16="http://schemas.microsoft.com/office/drawing/2014/main" id="{468DF52B-3E83-FB0B-E42E-B56F65730F70}"/>
              </a:ext>
            </a:extLst>
          </p:cNvPr>
          <p:cNvSpPr/>
          <p:nvPr/>
        </p:nvSpPr>
        <p:spPr>
          <a:xfrm>
            <a:off x="4153640" y="3451488"/>
            <a:ext cx="2817155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y(t + </a:t>
            </a:r>
            <a:r>
              <a:rPr lang="en-US" altLang="ko-KR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2)</a:t>
            </a:r>
          </a:p>
        </p:txBody>
      </p:sp>
      <p:sp>
        <p:nvSpPr>
          <p:cNvPr id="3" name="cell_0_1">
            <a:extLst>
              <a:ext uri="{FF2B5EF4-FFF2-40B4-BE49-F238E27FC236}">
                <a16:creationId xmlns:a16="http://schemas.microsoft.com/office/drawing/2014/main" id="{2666733F-E428-536D-8A90-03D33DE4B666}"/>
              </a:ext>
            </a:extLst>
          </p:cNvPr>
          <p:cNvSpPr/>
          <p:nvPr/>
        </p:nvSpPr>
        <p:spPr>
          <a:xfrm>
            <a:off x="4168239" y="4354255"/>
            <a:ext cx="2817155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y(t + </a:t>
            </a:r>
            <a:r>
              <a:rPr lang="en-US" altLang="ko-KR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3)</a:t>
            </a:r>
          </a:p>
        </p:txBody>
      </p:sp>
      <p:sp>
        <p:nvSpPr>
          <p:cNvPr id="4" name="cell_0_1">
            <a:extLst>
              <a:ext uri="{FF2B5EF4-FFF2-40B4-BE49-F238E27FC236}">
                <a16:creationId xmlns:a16="http://schemas.microsoft.com/office/drawing/2014/main" id="{B5F90EC1-C9D5-90C2-B8C3-56E658765D4E}"/>
              </a:ext>
            </a:extLst>
          </p:cNvPr>
          <p:cNvSpPr/>
          <p:nvPr/>
        </p:nvSpPr>
        <p:spPr>
          <a:xfrm>
            <a:off x="4154506" y="5211555"/>
            <a:ext cx="2817155" cy="870000"/>
          </a:xfrm>
          <a:prstGeom prst="rect">
            <a:avLst/>
          </a:prstGeom>
          <a:noFill/>
        </p:spPr>
        <p:txBody>
          <a:bodyPr lIns="91440" rIns="91440" anchor="ctr"/>
          <a:lstStyle/>
          <a:p>
            <a:pPr algn="ctr"/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y(t + </a:t>
            </a:r>
            <a:r>
              <a:rPr lang="en-US" altLang="ko-KR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4</a:t>
            </a:r>
            <a:r>
              <a:rPr lang="ko-KR" altLang="en-US" sz="120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)</a:t>
            </a:r>
            <a:endParaRPr lang="en-US" altLang="ko-KR" sz="1200" b="1" dirty="0">
              <a:solidFill>
                <a:srgbClr val="333333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91939-A9B3-45FE-2EB6-3E7B7EB8D214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3472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1714500"/>
            <a:ext cx="5353050" cy="4619625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714500"/>
            <a:ext cx="5353050" cy="38100"/>
          </a:xfrm>
          <a:prstGeom prst="roundRect">
            <a:avLst>
              <a:gd name="adj" fmla="val 785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762000" y="2333625"/>
            <a:ext cx="4953000" cy="889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762000" y="2714625"/>
            <a:ext cx="4953000" cy="8890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3429000"/>
            <a:ext cx="4953000" cy="8890"/>
          </a:xfrm>
          <a:prstGeom prst="rect">
            <a:avLst/>
          </a:prstGeom>
        </p:spPr>
      </p:pic>
      <p:pic>
        <p:nvPicPr>
          <p:cNvPr id="10" name="Image 3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3952875"/>
            <a:ext cx="4953000" cy="8890"/>
          </a:xfrm>
          <a:prstGeom prst="rect">
            <a:avLst/>
          </a:prstGeom>
        </p:spPr>
      </p:pic>
      <p:pic>
        <p:nvPicPr>
          <p:cNvPr id="11" name="Image 4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4476750"/>
            <a:ext cx="4953000" cy="8890"/>
          </a:xfrm>
          <a:prstGeom prst="rect">
            <a:avLst/>
          </a:prstGeom>
        </p:spPr>
      </p:pic>
      <p:pic>
        <p:nvPicPr>
          <p:cNvPr id="12" name="Image 5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762000" y="5238750"/>
            <a:ext cx="4953000" cy="889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62000" y="5715000"/>
            <a:ext cx="4953000" cy="419100"/>
          </a:xfrm>
          <a:prstGeom prst="roundRect">
            <a:avLst>
              <a:gd name="adj" fmla="val 5954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1"/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구성 &amp; 데이터셋 구조</a:t>
            </a:r>
            <a:endParaRPr lang="en-US" sz="3000" dirty="0"/>
          </a:p>
        </p:txBody>
      </p:sp>
      <p:pic>
        <p:nvPicPr>
          <p:cNvPr id="25" name="Image 11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62000" y="1966595"/>
            <a:ext cx="219710" cy="19050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1047750" y="1924050"/>
            <a:ext cx="39243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피처(X변수) 구성 </a:t>
            </a: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[총 19개]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723900" y="2428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200" dirty="0"/>
          </a:p>
        </p:txBody>
      </p:sp>
      <p:sp>
        <p:nvSpPr>
          <p:cNvPr id="28" name="Text 14"/>
          <p:cNvSpPr txBox="1"/>
          <p:nvPr/>
        </p:nvSpPr>
        <p:spPr>
          <a:xfrm>
            <a:off x="1676400" y="2428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수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2667000" y="24288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200" dirty="0"/>
          </a:p>
        </p:txBody>
      </p:sp>
      <p:sp>
        <p:nvSpPr>
          <p:cNvPr id="30" name="Text 16"/>
          <p:cNvSpPr txBox="1"/>
          <p:nvPr/>
        </p:nvSpPr>
        <p:spPr>
          <a:xfrm>
            <a:off x="723900" y="29718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기초</a:t>
            </a:r>
            <a:endParaRPr lang="en-US" sz="1200" dirty="0"/>
          </a:p>
        </p:txBody>
      </p:sp>
      <p:sp>
        <p:nvSpPr>
          <p:cNvPr id="31" name="Text 17"/>
          <p:cNvSpPr txBox="1"/>
          <p:nvPr/>
        </p:nvSpPr>
        <p:spPr>
          <a:xfrm>
            <a:off x="1676400" y="29718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2667000" y="2857500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전체_임대시세, 프랜차이즈_점포_수,</a:t>
            </a:r>
            <a:endParaRPr lang="en-US" sz="1100" dirty="0"/>
          </a:p>
        </p:txBody>
      </p:sp>
      <p:sp>
        <p:nvSpPr>
          <p:cNvPr id="33" name="Text 19"/>
          <p:cNvSpPr txBox="1"/>
          <p:nvPr/>
        </p:nvSpPr>
        <p:spPr>
          <a:xfrm>
            <a:off x="2667000" y="3057525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개업_점포_수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723900" y="3571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집객시설</a:t>
            </a:r>
            <a:endParaRPr lang="en-US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1676400" y="3571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2667000" y="3571875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교통·교육·의료·공공·상업시설_수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723900" y="40957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1676400" y="40957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2667000" y="4095750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임대료대비수익성(추정매출액/전체_임대시세)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723900" y="4714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</a:rPr>
              <a:t>변화율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1676400" y="4714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2667000" y="4619625"/>
            <a:ext cx="3124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개업률·추정매출액·총유동인구_수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YoY · QoQ · diff_roll4</a:t>
            </a:r>
            <a:endParaRPr lang="en-US" sz="1100" dirty="0"/>
          </a:p>
        </p:txBody>
      </p:sp>
      <p:sp>
        <p:nvSpPr>
          <p:cNvPr id="43" name="Text 29"/>
          <p:cNvSpPr txBox="1"/>
          <p:nvPr/>
        </p:nvSpPr>
        <p:spPr>
          <a:xfrm>
            <a:off x="723900" y="538099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더미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1676400" y="538099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2667000" y="5380990"/>
            <a:ext cx="316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IS_RENT_MISSING(전체_임대시세 더미변수)</a:t>
            </a:r>
            <a:endParaRPr lang="en-US" sz="1100" dirty="0"/>
          </a:p>
        </p:txBody>
      </p:sp>
      <p:sp>
        <p:nvSpPr>
          <p:cNvPr id="46" name="Text 32"/>
          <p:cNvSpPr txBox="1"/>
          <p:nvPr/>
        </p:nvSpPr>
        <p:spPr>
          <a:xfrm>
            <a:off x="905510" y="5829300"/>
            <a:ext cx="48583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Y 구성 재료 변수 제외 · </a:t>
            </a: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변화율 및 구조 중심</a:t>
            </a: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구성</a:t>
            </a:r>
            <a:endParaRPr lang="en-US" sz="1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E6CB40-85B3-6E65-FA2E-ACF5D468C673}"/>
              </a:ext>
            </a:extLst>
          </p:cNvPr>
          <p:cNvGrpSpPr/>
          <p:nvPr/>
        </p:nvGrpSpPr>
        <p:grpSpPr>
          <a:xfrm>
            <a:off x="6286500" y="3106894"/>
            <a:ext cx="5353050" cy="3191510"/>
            <a:chOff x="6286500" y="1714500"/>
            <a:chExt cx="5353050" cy="3191510"/>
          </a:xfrm>
        </p:grpSpPr>
        <p:sp>
          <p:nvSpPr>
            <p:cNvPr id="14" name="Shape 6"/>
            <p:cNvSpPr/>
            <p:nvPr/>
          </p:nvSpPr>
          <p:spPr>
            <a:xfrm>
              <a:off x="6286500" y="1714500"/>
              <a:ext cx="5353050" cy="3191510"/>
            </a:xfrm>
            <a:prstGeom prst="roundRect">
              <a:avLst>
                <a:gd name="adj" fmla="val 1369"/>
              </a:avLst>
            </a:prstGeom>
            <a:solidFill>
              <a:srgbClr val="FFFFFF"/>
            </a:solidFill>
            <a:ln w="12700">
              <a:solidFill>
                <a:srgbClr val="EAEAEA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7"/>
            <p:cNvSpPr/>
            <p:nvPr/>
          </p:nvSpPr>
          <p:spPr>
            <a:xfrm>
              <a:off x="6286500" y="1714500"/>
              <a:ext cx="5353050" cy="38100"/>
            </a:xfrm>
            <a:prstGeom prst="roundRect">
              <a:avLst>
                <a:gd name="adj" fmla="val 113717"/>
              </a:avLst>
            </a:prstGeom>
            <a:solidFill>
              <a:srgbClr val="1A35B5"/>
            </a:solidFill>
            <a:ln w="12700">
              <a:solidFill>
                <a:srgbClr val="1A35B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6"/>
            <p:cNvPicPr>
              <a:picLocks noChangeAspect="1"/>
            </p:cNvPicPr>
            <p:nvPr/>
          </p:nvPicPr>
          <p:blipFill>
            <a:blip r:embed="rId3"/>
            <a:srcRect l="-2089" r="-2089"/>
            <a:stretch/>
          </p:blipFill>
          <p:spPr>
            <a:xfrm>
              <a:off x="6477000" y="2333625"/>
              <a:ext cx="4953000" cy="8890"/>
            </a:xfrm>
            <a:prstGeom prst="rect">
              <a:avLst/>
            </a:prstGeom>
          </p:spPr>
        </p:pic>
        <p:pic>
          <p:nvPicPr>
            <p:cNvPr id="17" name="Image 7"/>
            <p:cNvPicPr>
              <a:picLocks noChangeAspect="1"/>
            </p:cNvPicPr>
            <p:nvPr/>
          </p:nvPicPr>
          <p:blipFill>
            <a:blip r:embed="rId4"/>
            <a:srcRect l="-2089" r="-2089"/>
            <a:stretch/>
          </p:blipFill>
          <p:spPr>
            <a:xfrm>
              <a:off x="6477000" y="2714625"/>
              <a:ext cx="4953000" cy="8890"/>
            </a:xfrm>
            <a:prstGeom prst="rect">
              <a:avLst/>
            </a:prstGeom>
          </p:spPr>
        </p:pic>
        <p:pic>
          <p:nvPicPr>
            <p:cNvPr id="18" name="Image 8"/>
            <p:cNvPicPr>
              <a:picLocks noChangeAspect="1"/>
            </p:cNvPicPr>
            <p:nvPr/>
          </p:nvPicPr>
          <p:blipFill>
            <a:blip r:embed="rId5"/>
            <a:srcRect l="-2089" r="-2089"/>
            <a:stretch/>
          </p:blipFill>
          <p:spPr>
            <a:xfrm>
              <a:off x="6477000" y="3286125"/>
              <a:ext cx="4953000" cy="8890"/>
            </a:xfrm>
            <a:prstGeom prst="rect">
              <a:avLst/>
            </a:prstGeom>
          </p:spPr>
        </p:pic>
        <p:pic>
          <p:nvPicPr>
            <p:cNvPr id="19" name="Image 9"/>
            <p:cNvPicPr>
              <a:picLocks noChangeAspect="1"/>
            </p:cNvPicPr>
            <p:nvPr/>
          </p:nvPicPr>
          <p:blipFill>
            <a:blip r:embed="rId5"/>
            <a:srcRect l="-2089" r="-2089"/>
            <a:stretch/>
          </p:blipFill>
          <p:spPr>
            <a:xfrm>
              <a:off x="6477000" y="3810000"/>
              <a:ext cx="4953000" cy="8890"/>
            </a:xfrm>
            <a:prstGeom prst="rect">
              <a:avLst/>
            </a:prstGeom>
          </p:spPr>
        </p:pic>
        <p:pic>
          <p:nvPicPr>
            <p:cNvPr id="20" name="Image 10"/>
            <p:cNvPicPr>
              <a:picLocks noChangeAspect="1"/>
            </p:cNvPicPr>
            <p:nvPr/>
          </p:nvPicPr>
          <p:blipFill>
            <a:blip r:embed="rId5"/>
            <a:srcRect l="-2089" r="-2089"/>
            <a:stretch/>
          </p:blipFill>
          <p:spPr>
            <a:xfrm>
              <a:off x="6477000" y="4334510"/>
              <a:ext cx="4953000" cy="8890"/>
            </a:xfrm>
            <a:prstGeom prst="rect">
              <a:avLst/>
            </a:prstGeom>
          </p:spPr>
        </p:pic>
        <p:pic>
          <p:nvPicPr>
            <p:cNvPr id="47" name="Image 12"/>
            <p:cNvPicPr>
              <a:picLocks noChangeAspect="1"/>
            </p:cNvPicPr>
            <p:nvPr/>
          </p:nvPicPr>
          <p:blipFill>
            <a:blip r:embed="rId7"/>
            <a:srcRect l="-1648" r="-1648"/>
            <a:stretch/>
          </p:blipFill>
          <p:spPr>
            <a:xfrm>
              <a:off x="6477000" y="1966595"/>
              <a:ext cx="172085" cy="190500"/>
            </a:xfrm>
            <a:prstGeom prst="rect">
              <a:avLst/>
            </a:prstGeom>
          </p:spPr>
        </p:pic>
        <p:sp>
          <p:nvSpPr>
            <p:cNvPr id="48" name="Text 33"/>
            <p:cNvSpPr txBox="1"/>
            <p:nvPr/>
          </p:nvSpPr>
          <p:spPr>
            <a:xfrm>
              <a:off x="6762750" y="1924050"/>
              <a:ext cx="4000500" cy="27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 시계열(h)별 데이터셋 구조</a:t>
              </a:r>
              <a:endParaRPr lang="en-US" sz="1500" dirty="0"/>
            </a:p>
          </p:txBody>
        </p:sp>
        <p:sp>
          <p:nvSpPr>
            <p:cNvPr id="49" name="Text 34"/>
            <p:cNvSpPr txBox="1"/>
            <p:nvPr/>
          </p:nvSpPr>
          <p:spPr>
            <a:xfrm>
              <a:off x="6438900" y="2428875"/>
              <a:ext cx="1028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데이터셋</a:t>
              </a:r>
              <a:endParaRPr lang="en-US" sz="1200" dirty="0"/>
            </a:p>
          </p:txBody>
        </p:sp>
        <p:sp>
          <p:nvSpPr>
            <p:cNvPr id="50" name="Text 35"/>
            <p:cNvSpPr txBox="1"/>
            <p:nvPr/>
          </p:nvSpPr>
          <p:spPr>
            <a:xfrm>
              <a:off x="7581900" y="242887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 범위 (학습 피처)</a:t>
              </a:r>
              <a:endParaRPr lang="en-US" sz="1200" dirty="0"/>
            </a:p>
          </p:txBody>
        </p:sp>
        <p:sp>
          <p:nvSpPr>
            <p:cNvPr id="51" name="Text 36"/>
            <p:cNvSpPr txBox="1"/>
            <p:nvPr/>
          </p:nvSpPr>
          <p:spPr>
            <a:xfrm>
              <a:off x="9486900" y="242887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Y 범위 (타겟 변수)</a:t>
              </a:r>
              <a:endParaRPr lang="en-US" sz="1200" dirty="0"/>
            </a:p>
          </p:txBody>
        </p:sp>
        <p:sp>
          <p:nvSpPr>
            <p:cNvPr id="52" name="Shape 37"/>
            <p:cNvSpPr/>
            <p:nvPr/>
          </p:nvSpPr>
          <p:spPr>
            <a:xfrm>
              <a:off x="6477000" y="2905125"/>
              <a:ext cx="952500" cy="286385"/>
            </a:xfrm>
            <a:prstGeom prst="roundRect">
              <a:avLst>
                <a:gd name="adj" fmla="val 85197"/>
              </a:avLst>
            </a:prstGeom>
            <a:solidFill>
              <a:srgbClr val="E8EE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38"/>
            <p:cNvSpPr txBox="1"/>
            <p:nvPr/>
          </p:nvSpPr>
          <p:spPr>
            <a:xfrm>
              <a:off x="6448425" y="2905125"/>
              <a:ext cx="1010285" cy="2863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25400" rIns="0" bIns="254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35B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 = 1</a:t>
              </a:r>
              <a:endParaRPr lang="en-US" sz="1300" dirty="0"/>
            </a:p>
          </p:txBody>
        </p:sp>
        <p:sp>
          <p:nvSpPr>
            <p:cNvPr id="54" name="Text 39"/>
            <p:cNvSpPr txBox="1"/>
            <p:nvPr/>
          </p:nvSpPr>
          <p:spPr>
            <a:xfrm>
              <a:off x="7581900" y="292417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2021Q1 ~ 2025Q2</a:t>
              </a:r>
              <a:endParaRPr lang="en-US" sz="1200" dirty="0"/>
            </a:p>
          </p:txBody>
        </p:sp>
        <p:sp>
          <p:nvSpPr>
            <p:cNvPr id="55" name="Text 40"/>
            <p:cNvSpPr txBox="1"/>
            <p:nvPr/>
          </p:nvSpPr>
          <p:spPr>
            <a:xfrm>
              <a:off x="9486900" y="292417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2021Q2 ~ 2025Q3</a:t>
              </a:r>
              <a:endParaRPr lang="en-US" sz="1200" dirty="0"/>
            </a:p>
          </p:txBody>
        </p:sp>
        <p:sp>
          <p:nvSpPr>
            <p:cNvPr id="56" name="Shape 41"/>
            <p:cNvSpPr/>
            <p:nvPr/>
          </p:nvSpPr>
          <p:spPr>
            <a:xfrm>
              <a:off x="6477000" y="3429000"/>
              <a:ext cx="952500" cy="286385"/>
            </a:xfrm>
            <a:prstGeom prst="roundRect">
              <a:avLst>
                <a:gd name="adj" fmla="val 85197"/>
              </a:avLst>
            </a:prstGeom>
            <a:solidFill>
              <a:srgbClr val="E8EE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42"/>
            <p:cNvSpPr txBox="1"/>
            <p:nvPr/>
          </p:nvSpPr>
          <p:spPr>
            <a:xfrm>
              <a:off x="6448425" y="3429000"/>
              <a:ext cx="1010285" cy="2863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25400" rIns="0" bIns="254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35B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 = 2</a:t>
              </a:r>
              <a:endParaRPr lang="en-US" sz="1300" dirty="0"/>
            </a:p>
          </p:txBody>
        </p:sp>
        <p:sp>
          <p:nvSpPr>
            <p:cNvPr id="58" name="Text 43"/>
            <p:cNvSpPr txBox="1"/>
            <p:nvPr/>
          </p:nvSpPr>
          <p:spPr>
            <a:xfrm>
              <a:off x="7581900" y="3448050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2021Q1 ~ 2025Q1</a:t>
              </a:r>
              <a:endParaRPr lang="en-US" sz="1200" dirty="0"/>
            </a:p>
          </p:txBody>
        </p:sp>
        <p:sp>
          <p:nvSpPr>
            <p:cNvPr id="59" name="Text 44"/>
            <p:cNvSpPr txBox="1"/>
            <p:nvPr/>
          </p:nvSpPr>
          <p:spPr>
            <a:xfrm>
              <a:off x="9486900" y="3448050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2021Q3 ~ 2025Q3</a:t>
              </a:r>
              <a:endParaRPr lang="en-US" sz="1200" dirty="0"/>
            </a:p>
          </p:txBody>
        </p:sp>
        <p:sp>
          <p:nvSpPr>
            <p:cNvPr id="60" name="Shape 45"/>
            <p:cNvSpPr/>
            <p:nvPr/>
          </p:nvSpPr>
          <p:spPr>
            <a:xfrm>
              <a:off x="6477000" y="3952875"/>
              <a:ext cx="952500" cy="286385"/>
            </a:xfrm>
            <a:prstGeom prst="roundRect">
              <a:avLst>
                <a:gd name="adj" fmla="val 85197"/>
              </a:avLst>
            </a:prstGeom>
            <a:solidFill>
              <a:srgbClr val="E8EE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46"/>
            <p:cNvSpPr txBox="1"/>
            <p:nvPr/>
          </p:nvSpPr>
          <p:spPr>
            <a:xfrm>
              <a:off x="6448425" y="3952875"/>
              <a:ext cx="1010285" cy="2863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25400" rIns="0" bIns="254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35B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 = 3</a:t>
              </a:r>
              <a:endParaRPr lang="en-US" sz="1300" dirty="0"/>
            </a:p>
          </p:txBody>
        </p:sp>
        <p:sp>
          <p:nvSpPr>
            <p:cNvPr id="62" name="Text 47"/>
            <p:cNvSpPr txBox="1"/>
            <p:nvPr/>
          </p:nvSpPr>
          <p:spPr>
            <a:xfrm>
              <a:off x="7581900" y="397192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2021Q1 ~ 2024Q4</a:t>
              </a:r>
              <a:endParaRPr lang="en-US" sz="1200" dirty="0"/>
            </a:p>
          </p:txBody>
        </p:sp>
        <p:sp>
          <p:nvSpPr>
            <p:cNvPr id="63" name="Text 48"/>
            <p:cNvSpPr txBox="1"/>
            <p:nvPr/>
          </p:nvSpPr>
          <p:spPr>
            <a:xfrm>
              <a:off x="9486900" y="3971925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2021Q4 ~ 2025Q3</a:t>
              </a:r>
              <a:endParaRPr lang="en-US" sz="1200" dirty="0"/>
            </a:p>
          </p:txBody>
        </p:sp>
        <p:sp>
          <p:nvSpPr>
            <p:cNvPr id="64" name="Shape 49"/>
            <p:cNvSpPr/>
            <p:nvPr/>
          </p:nvSpPr>
          <p:spPr>
            <a:xfrm>
              <a:off x="6477000" y="4476750"/>
              <a:ext cx="952500" cy="286385"/>
            </a:xfrm>
            <a:prstGeom prst="roundRect">
              <a:avLst>
                <a:gd name="adj" fmla="val 85197"/>
              </a:avLst>
            </a:prstGeom>
            <a:solidFill>
              <a:srgbClr val="E8EE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50"/>
            <p:cNvSpPr txBox="1"/>
            <p:nvPr/>
          </p:nvSpPr>
          <p:spPr>
            <a:xfrm>
              <a:off x="6448425" y="4476750"/>
              <a:ext cx="1010285" cy="2863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25400" rIns="0" bIns="254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35B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 = 4</a:t>
              </a:r>
              <a:endParaRPr lang="en-US" sz="1300" dirty="0"/>
            </a:p>
          </p:txBody>
        </p:sp>
        <p:sp>
          <p:nvSpPr>
            <p:cNvPr id="66" name="Text 51"/>
            <p:cNvSpPr txBox="1"/>
            <p:nvPr/>
          </p:nvSpPr>
          <p:spPr>
            <a:xfrm>
              <a:off x="7581900" y="4495800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2021Q1 ~ 2024Q3</a:t>
              </a:r>
              <a:endParaRPr lang="en-US" sz="1200" dirty="0"/>
            </a:p>
          </p:txBody>
        </p:sp>
        <p:sp>
          <p:nvSpPr>
            <p:cNvPr id="67" name="Text 52"/>
            <p:cNvSpPr txBox="1"/>
            <p:nvPr/>
          </p:nvSpPr>
          <p:spPr>
            <a:xfrm>
              <a:off x="9486900" y="4495800"/>
              <a:ext cx="17913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2022Q1 ~ 2025Q3</a:t>
              </a:r>
              <a:endParaRPr lang="en-US" sz="120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C4FCF8-0414-249B-5FEB-92C508012D4E}"/>
              </a:ext>
            </a:extLst>
          </p:cNvPr>
          <p:cNvGrpSpPr/>
          <p:nvPr/>
        </p:nvGrpSpPr>
        <p:grpSpPr>
          <a:xfrm>
            <a:off x="6286500" y="1691120"/>
            <a:ext cx="5353050" cy="1162050"/>
            <a:chOff x="6286500" y="5143500"/>
            <a:chExt cx="5353050" cy="1162050"/>
          </a:xfrm>
        </p:grpSpPr>
        <p:sp>
          <p:nvSpPr>
            <p:cNvPr id="21" name="Shape 8"/>
            <p:cNvSpPr/>
            <p:nvPr/>
          </p:nvSpPr>
          <p:spPr>
            <a:xfrm>
              <a:off x="6286500" y="5143500"/>
              <a:ext cx="5353050" cy="1162050"/>
            </a:xfrm>
            <a:prstGeom prst="roundRect">
              <a:avLst>
                <a:gd name="adj" fmla="val 10318"/>
              </a:avLst>
            </a:prstGeom>
            <a:solidFill>
              <a:srgbClr val="FFF5F5"/>
            </a:solidFill>
            <a:ln w="12700">
              <a:solidFill>
                <a:srgbClr val="FFD6D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8" name="Image 13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523990" y="5353050"/>
              <a:ext cx="209550" cy="209550"/>
            </a:xfrm>
            <a:prstGeom prst="rect">
              <a:avLst/>
            </a:prstGeom>
          </p:spPr>
        </p:pic>
        <p:sp>
          <p:nvSpPr>
            <p:cNvPr id="69" name="Text 53"/>
            <p:cNvSpPr txBox="1"/>
            <p:nvPr/>
          </p:nvSpPr>
          <p:spPr>
            <a:xfrm>
              <a:off x="6858000" y="5334000"/>
              <a:ext cx="4763135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D9404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시작점 변동 주의 (2020년 데이터 소실)</a:t>
              </a:r>
              <a:endParaRPr lang="en-US" sz="1300" dirty="0"/>
            </a:p>
          </p:txBody>
        </p:sp>
        <p:sp>
          <p:nvSpPr>
            <p:cNvPr id="70" name="Text 54"/>
            <p:cNvSpPr txBox="1"/>
            <p:nvPr/>
          </p:nvSpPr>
          <p:spPr>
            <a:xfrm>
              <a:off x="6847609" y="5605028"/>
              <a:ext cx="4648835" cy="638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YoY(</a:t>
              </a: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전년동기대비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), diff_roll4(</a:t>
              </a:r>
              <a:r>
                <a:rPr lang="ko-KR" alt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최근 </a:t>
              </a:r>
              <a:r>
                <a:rPr lang="en-US" altLang="ko-KR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r>
                <a:rPr lang="ko-KR" alt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분기 변화 평균</a:t>
              </a:r>
              <a:r>
                <a:rPr lang="en-US" altLang="ko-KR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파생변수 생성 </a:t>
              </a: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과정에서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초기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4개 분기(2020년) 데이터가 소실되어, 모든 모델의 실질적인 학습 시작점은 </a:t>
              </a:r>
              <a:r>
                <a:rPr lang="en-US" sz="1100" b="1" dirty="0">
                  <a:solidFill>
                    <a:srgbClr val="D9404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2021Q1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 고정됨.</a:t>
              </a:r>
              <a:endParaRPr lang="en-US" sz="1100" dirty="0"/>
            </a:p>
          </p:txBody>
        </p:sp>
      </p:grpSp>
      <p:sp>
        <p:nvSpPr>
          <p:cNvPr id="72" name="텍스트 상자 41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도형 42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4" name="텍스트 상자 43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763A8-5322-3A7B-2682-90B54B51CC31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6BAF-A927-311E-C647-29C95ACC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2">
            <a:extLst>
              <a:ext uri="{FF2B5EF4-FFF2-40B4-BE49-F238E27FC236}">
                <a16:creationId xmlns:a16="http://schemas.microsoft.com/office/drawing/2014/main" id="{A6F3067E-E65F-A497-24EE-A19259F520E7}"/>
              </a:ext>
            </a:extLst>
          </p:cNvPr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3000" dirty="0"/>
          </a:p>
        </p:txBody>
      </p:sp>
      <p:sp>
        <p:nvSpPr>
          <p:cNvPr id="60" name="텍스트 상자 44">
            <a:extLst>
              <a:ext uri="{FF2B5EF4-FFF2-40B4-BE49-F238E27FC236}">
                <a16:creationId xmlns:a16="http://schemas.microsoft.com/office/drawing/2014/main" id="{5D25686C-A594-5E4E-2563-0AED9DB4AB88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도형 45">
            <a:extLst>
              <a:ext uri="{FF2B5EF4-FFF2-40B4-BE49-F238E27FC236}">
                <a16:creationId xmlns:a16="http://schemas.microsoft.com/office/drawing/2014/main" id="{FD64D8B8-5250-B694-6FEE-EDF2F922BA22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2" name="텍스트 상자 46">
            <a:extLst>
              <a:ext uri="{FF2B5EF4-FFF2-40B4-BE49-F238E27FC236}">
                <a16:creationId xmlns:a16="http://schemas.microsoft.com/office/drawing/2014/main" id="{4BDB07C7-69E0-9A0D-3B93-42F1734345EB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F8FE2-E603-4279-EA54-33E2C043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71500" y="3726004"/>
            <a:ext cx="11049000" cy="8890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60F5A282-6B27-A7D1-84F9-4B343BB781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154629"/>
            <a:ext cx="11049000" cy="8890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A7F5290F-3A8C-E1E3-4302-D660C0A32E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583889"/>
            <a:ext cx="11049000" cy="8890"/>
          </a:xfrm>
          <a:prstGeom prst="rect">
            <a:avLst/>
          </a:prstGeom>
        </p:spPr>
      </p:pic>
      <p:pic>
        <p:nvPicPr>
          <p:cNvPr id="59" name="Image 4">
            <a:extLst>
              <a:ext uri="{FF2B5EF4-FFF2-40B4-BE49-F238E27FC236}">
                <a16:creationId xmlns:a16="http://schemas.microsoft.com/office/drawing/2014/main" id="{F235A123-A39F-3DE0-0816-82178E87E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5011879"/>
            <a:ext cx="11049000" cy="8890"/>
          </a:xfrm>
          <a:prstGeom prst="rect">
            <a:avLst/>
          </a:prstGeom>
        </p:spPr>
      </p:pic>
      <p:pic>
        <p:nvPicPr>
          <p:cNvPr id="63" name="Image 8">
            <a:extLst>
              <a:ext uri="{FF2B5EF4-FFF2-40B4-BE49-F238E27FC236}">
                <a16:creationId xmlns:a16="http://schemas.microsoft.com/office/drawing/2014/main" id="{FB7B26BA-CAB0-8115-4194-898A093B00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2854784"/>
            <a:ext cx="190500" cy="190500"/>
          </a:xfrm>
          <a:prstGeom prst="rect">
            <a:avLst/>
          </a:prstGeom>
        </p:spPr>
      </p:pic>
      <p:pic>
        <p:nvPicPr>
          <p:cNvPr id="64" name="Image 9">
            <a:extLst>
              <a:ext uri="{FF2B5EF4-FFF2-40B4-BE49-F238E27FC236}">
                <a16:creationId xmlns:a16="http://schemas.microsoft.com/office/drawing/2014/main" id="{85E05A2F-1AF7-6EBD-63A2-444ADF9EB0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3630295" y="3458669"/>
            <a:ext cx="172085" cy="152400"/>
          </a:xfrm>
          <a:prstGeom prst="rect">
            <a:avLst/>
          </a:prstGeom>
        </p:spPr>
      </p:pic>
      <p:pic>
        <p:nvPicPr>
          <p:cNvPr id="65" name="Image 10">
            <a:extLst>
              <a:ext uri="{FF2B5EF4-FFF2-40B4-BE49-F238E27FC236}">
                <a16:creationId xmlns:a16="http://schemas.microsoft.com/office/drawing/2014/main" id="{72F2D7F2-0C45-FD15-2C57-93278224EF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38500" y="5850079"/>
            <a:ext cx="228600" cy="228600"/>
          </a:xfrm>
          <a:prstGeom prst="rect">
            <a:avLst/>
          </a:prstGeom>
        </p:spPr>
      </p:pic>
      <p:sp>
        <p:nvSpPr>
          <p:cNvPr id="66" name="lcard">
            <a:extLst>
              <a:ext uri="{FF2B5EF4-FFF2-40B4-BE49-F238E27FC236}">
                <a16:creationId xmlns:a16="http://schemas.microsoft.com/office/drawing/2014/main" id="{D8BACB8C-7BA3-80C7-C77C-6568060AB805}"/>
              </a:ext>
            </a:extLst>
          </p:cNvPr>
          <p:cNvSpPr/>
          <p:nvPr/>
        </p:nvSpPr>
        <p:spPr>
          <a:xfrm>
            <a:off x="571500" y="1707879"/>
            <a:ext cx="5350000" cy="4630000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67" name="lbar">
            <a:extLst>
              <a:ext uri="{FF2B5EF4-FFF2-40B4-BE49-F238E27FC236}">
                <a16:creationId xmlns:a16="http://schemas.microsoft.com/office/drawing/2014/main" id="{B996D3E8-0756-3DD3-1F2B-FE40DF2D459F}"/>
              </a:ext>
            </a:extLst>
          </p:cNvPr>
          <p:cNvSpPr/>
          <p:nvPr/>
        </p:nvSpPr>
        <p:spPr>
          <a:xfrm>
            <a:off x="571500" y="1707879"/>
            <a:ext cx="5350000" cy="38100"/>
          </a:xfrm>
          <a:prstGeom prst="roundRect">
            <a:avLst>
              <a:gd name="adj" fmla="val 78546"/>
            </a:avLst>
          </a:prstGeom>
          <a:solidFill>
            <a:srgbClr val="1A35B5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68" name="ltit">
            <a:extLst>
              <a:ext uri="{FF2B5EF4-FFF2-40B4-BE49-F238E27FC236}">
                <a16:creationId xmlns:a16="http://schemas.microsoft.com/office/drawing/2014/main" id="{C69C6041-9F66-92C1-114B-6321F23A5F8E}"/>
              </a:ext>
            </a:extLst>
          </p:cNvPr>
          <p:cNvSpPr/>
          <p:nvPr/>
        </p:nvSpPr>
        <p:spPr>
          <a:xfrm>
            <a:off x="751500" y="1755879"/>
            <a:ext cx="5050000" cy="370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r>
              <a:rPr lang="ko-KR" altLang="en-US" sz="1100" b="1" dirty="0">
                <a:solidFill>
                  <a:srgbClr val="1A35B5"/>
                </a:solidFill>
                <a:latin typeface="Pretendard" charset="0"/>
                <a:ea typeface="Pretendard" charset="0"/>
              </a:rPr>
              <a:t>파라미터 탐색 범위</a:t>
            </a:r>
          </a:p>
        </p:txBody>
      </p:sp>
      <p:sp>
        <p:nvSpPr>
          <p:cNvPr id="69" name="lhbg">
            <a:extLst>
              <a:ext uri="{FF2B5EF4-FFF2-40B4-BE49-F238E27FC236}">
                <a16:creationId xmlns:a16="http://schemas.microsoft.com/office/drawing/2014/main" id="{761D99D3-7F0C-2376-8AE8-7DBBBC5436AD}"/>
              </a:ext>
            </a:extLst>
          </p:cNvPr>
          <p:cNvSpPr/>
          <p:nvPr/>
        </p:nvSpPr>
        <p:spPr>
          <a:xfrm>
            <a:off x="591500" y="2157879"/>
            <a:ext cx="5310000" cy="350000"/>
          </a:xfrm>
          <a:prstGeom prst="rect">
            <a:avLst/>
          </a:prstGeom>
          <a:solidFill>
            <a:srgbClr val="EEF1FB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70" name="lh0">
            <a:extLst>
              <a:ext uri="{FF2B5EF4-FFF2-40B4-BE49-F238E27FC236}">
                <a16:creationId xmlns:a16="http://schemas.microsoft.com/office/drawing/2014/main" id="{32F560BD-DBC6-1F06-6A63-2980A428C25C}"/>
              </a:ext>
            </a:extLst>
          </p:cNvPr>
          <p:cNvSpPr/>
          <p:nvPr/>
        </p:nvSpPr>
        <p:spPr>
          <a:xfrm>
            <a:off x="601500" y="2157879"/>
            <a:ext cx="870000" cy="350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86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모델</a:t>
            </a:r>
          </a:p>
        </p:txBody>
      </p:sp>
      <p:sp>
        <p:nvSpPr>
          <p:cNvPr id="71" name="lh1">
            <a:extLst>
              <a:ext uri="{FF2B5EF4-FFF2-40B4-BE49-F238E27FC236}">
                <a16:creationId xmlns:a16="http://schemas.microsoft.com/office/drawing/2014/main" id="{39A4F7F8-B410-004A-9AF9-7903FE7E148E}"/>
              </a:ext>
            </a:extLst>
          </p:cNvPr>
          <p:cNvSpPr/>
          <p:nvPr/>
        </p:nvSpPr>
        <p:spPr>
          <a:xfrm>
            <a:off x="1471500" y="2157879"/>
            <a:ext cx="1260000" cy="350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86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파라미터</a:t>
            </a:r>
          </a:p>
        </p:txBody>
      </p:sp>
      <p:sp>
        <p:nvSpPr>
          <p:cNvPr id="72" name="lh2">
            <a:extLst>
              <a:ext uri="{FF2B5EF4-FFF2-40B4-BE49-F238E27FC236}">
                <a16:creationId xmlns:a16="http://schemas.microsoft.com/office/drawing/2014/main" id="{AB86A9BF-0835-B8B9-884F-8969FB9EEAB4}"/>
              </a:ext>
            </a:extLst>
          </p:cNvPr>
          <p:cNvSpPr/>
          <p:nvPr/>
        </p:nvSpPr>
        <p:spPr>
          <a:xfrm>
            <a:off x="2731500" y="2157879"/>
            <a:ext cx="1680000" cy="350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86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탐색 범위</a:t>
            </a:r>
          </a:p>
        </p:txBody>
      </p:sp>
      <p:sp>
        <p:nvSpPr>
          <p:cNvPr id="73" name="lh3">
            <a:extLst>
              <a:ext uri="{FF2B5EF4-FFF2-40B4-BE49-F238E27FC236}">
                <a16:creationId xmlns:a16="http://schemas.microsoft.com/office/drawing/2014/main" id="{5C2C2F9B-585C-E3A7-157B-3AE56C9FD577}"/>
              </a:ext>
            </a:extLst>
          </p:cNvPr>
          <p:cNvSpPr/>
          <p:nvPr/>
        </p:nvSpPr>
        <p:spPr>
          <a:xfrm>
            <a:off x="4411500" y="2157879"/>
            <a:ext cx="1010000" cy="350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860" b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의미</a:t>
            </a:r>
          </a:p>
        </p:txBody>
      </p:sp>
      <p:sp>
        <p:nvSpPr>
          <p:cNvPr id="74" name="lhln">
            <a:extLst>
              <a:ext uri="{FF2B5EF4-FFF2-40B4-BE49-F238E27FC236}">
                <a16:creationId xmlns:a16="http://schemas.microsoft.com/office/drawing/2014/main" id="{6924A2FB-71ED-9DA3-9EFC-6204ADA6F052}"/>
              </a:ext>
            </a:extLst>
          </p:cNvPr>
          <p:cNvSpPr/>
          <p:nvPr/>
        </p:nvSpPr>
        <p:spPr>
          <a:xfrm>
            <a:off x="591500" y="2507879"/>
            <a:ext cx="5310000" cy="11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75" name="rb0">
            <a:extLst>
              <a:ext uri="{FF2B5EF4-FFF2-40B4-BE49-F238E27FC236}">
                <a16:creationId xmlns:a16="http://schemas.microsoft.com/office/drawing/2014/main" id="{F7C719E9-BCED-FDC0-4534-0BA6E950A6D1}"/>
              </a:ext>
            </a:extLst>
          </p:cNvPr>
          <p:cNvSpPr/>
          <p:nvPr/>
        </p:nvSpPr>
        <p:spPr>
          <a:xfrm>
            <a:off x="591500" y="2519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76" name="rm0">
            <a:extLst>
              <a:ext uri="{FF2B5EF4-FFF2-40B4-BE49-F238E27FC236}">
                <a16:creationId xmlns:a16="http://schemas.microsoft.com/office/drawing/2014/main" id="{2C264414-DB60-882A-BD9A-6AF6EC58CD81}"/>
              </a:ext>
            </a:extLst>
          </p:cNvPr>
          <p:cNvSpPr/>
          <p:nvPr/>
        </p:nvSpPr>
        <p:spPr>
          <a:xfrm>
            <a:off x="601500" y="2519879"/>
            <a:ext cx="87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40" b="1" dirty="0">
                <a:solidFill>
                  <a:srgbClr val="2E7D32"/>
                </a:solidFill>
                <a:latin typeface="Pretendard" charset="0"/>
                <a:ea typeface="Pretendard" charset="0"/>
              </a:rPr>
              <a:t>LightGBM</a:t>
            </a:r>
          </a:p>
        </p:txBody>
      </p:sp>
      <p:sp>
        <p:nvSpPr>
          <p:cNvPr id="77" name="rp0">
            <a:extLst>
              <a:ext uri="{FF2B5EF4-FFF2-40B4-BE49-F238E27FC236}">
                <a16:creationId xmlns:a16="http://schemas.microsoft.com/office/drawing/2014/main" id="{4028B3E5-D71C-383A-97D5-26B0F1043A59}"/>
              </a:ext>
            </a:extLst>
          </p:cNvPr>
          <p:cNvSpPr/>
          <p:nvPr/>
        </p:nvSpPr>
        <p:spPr>
          <a:xfrm>
            <a:off x="1471500" y="251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n_estimators</a:t>
            </a:r>
          </a:p>
        </p:txBody>
      </p:sp>
      <p:sp>
        <p:nvSpPr>
          <p:cNvPr id="78" name="rr0">
            <a:extLst>
              <a:ext uri="{FF2B5EF4-FFF2-40B4-BE49-F238E27FC236}">
                <a16:creationId xmlns:a16="http://schemas.microsoft.com/office/drawing/2014/main" id="{8386944A-0A16-422C-6362-B8DF68337193}"/>
              </a:ext>
            </a:extLst>
          </p:cNvPr>
          <p:cNvSpPr/>
          <p:nvPr/>
        </p:nvSpPr>
        <p:spPr>
          <a:xfrm>
            <a:off x="2731500" y="251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200 ~ 1000</a:t>
            </a:r>
          </a:p>
        </p:txBody>
      </p:sp>
      <p:sp>
        <p:nvSpPr>
          <p:cNvPr id="79" name="rmn0">
            <a:extLst>
              <a:ext uri="{FF2B5EF4-FFF2-40B4-BE49-F238E27FC236}">
                <a16:creationId xmlns:a16="http://schemas.microsoft.com/office/drawing/2014/main" id="{296CBE3E-8847-283D-DD5E-555B02EF32E3}"/>
              </a:ext>
            </a:extLst>
          </p:cNvPr>
          <p:cNvSpPr/>
          <p:nvPr/>
        </p:nvSpPr>
        <p:spPr>
          <a:xfrm>
            <a:off x="4411500" y="251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트리 개수</a:t>
            </a:r>
          </a:p>
        </p:txBody>
      </p:sp>
      <p:sp>
        <p:nvSpPr>
          <p:cNvPr id="80" name="rb1">
            <a:extLst>
              <a:ext uri="{FF2B5EF4-FFF2-40B4-BE49-F238E27FC236}">
                <a16:creationId xmlns:a16="http://schemas.microsoft.com/office/drawing/2014/main" id="{9C887901-FC31-F40A-5D8F-2B5F831B4849}"/>
              </a:ext>
            </a:extLst>
          </p:cNvPr>
          <p:cNvSpPr/>
          <p:nvPr/>
        </p:nvSpPr>
        <p:spPr>
          <a:xfrm>
            <a:off x="591500" y="2804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81" name="rp1">
            <a:extLst>
              <a:ext uri="{FF2B5EF4-FFF2-40B4-BE49-F238E27FC236}">
                <a16:creationId xmlns:a16="http://schemas.microsoft.com/office/drawing/2014/main" id="{37C98F41-86B4-FA48-5024-5198B9BF98E1}"/>
              </a:ext>
            </a:extLst>
          </p:cNvPr>
          <p:cNvSpPr/>
          <p:nvPr/>
        </p:nvSpPr>
        <p:spPr>
          <a:xfrm>
            <a:off x="1471500" y="280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learning_rate</a:t>
            </a:r>
          </a:p>
        </p:txBody>
      </p:sp>
      <p:sp>
        <p:nvSpPr>
          <p:cNvPr id="82" name="rr1">
            <a:extLst>
              <a:ext uri="{FF2B5EF4-FFF2-40B4-BE49-F238E27FC236}">
                <a16:creationId xmlns:a16="http://schemas.microsoft.com/office/drawing/2014/main" id="{FAFC0050-ABDB-1648-DA8E-66ADC300569C}"/>
              </a:ext>
            </a:extLst>
          </p:cNvPr>
          <p:cNvSpPr/>
          <p:nvPr/>
        </p:nvSpPr>
        <p:spPr>
          <a:xfrm>
            <a:off x="2731500" y="280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0.01 ~ 0.2</a:t>
            </a:r>
          </a:p>
        </p:txBody>
      </p:sp>
      <p:sp>
        <p:nvSpPr>
          <p:cNvPr id="83" name="rmn1">
            <a:extLst>
              <a:ext uri="{FF2B5EF4-FFF2-40B4-BE49-F238E27FC236}">
                <a16:creationId xmlns:a16="http://schemas.microsoft.com/office/drawing/2014/main" id="{E5C1BA37-0F8E-84AB-7504-EF1DE0F98A2A}"/>
              </a:ext>
            </a:extLst>
          </p:cNvPr>
          <p:cNvSpPr/>
          <p:nvPr/>
        </p:nvSpPr>
        <p:spPr>
          <a:xfrm>
            <a:off x="4411500" y="280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학습 속도</a:t>
            </a:r>
          </a:p>
        </p:txBody>
      </p:sp>
      <p:sp>
        <p:nvSpPr>
          <p:cNvPr id="84" name="rb2">
            <a:extLst>
              <a:ext uri="{FF2B5EF4-FFF2-40B4-BE49-F238E27FC236}">
                <a16:creationId xmlns:a16="http://schemas.microsoft.com/office/drawing/2014/main" id="{D2D144CD-4242-CCF0-50AE-3CEB03C64A77}"/>
              </a:ext>
            </a:extLst>
          </p:cNvPr>
          <p:cNvSpPr/>
          <p:nvPr/>
        </p:nvSpPr>
        <p:spPr>
          <a:xfrm>
            <a:off x="591500" y="3089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85" name="rp2">
            <a:extLst>
              <a:ext uri="{FF2B5EF4-FFF2-40B4-BE49-F238E27FC236}">
                <a16:creationId xmlns:a16="http://schemas.microsoft.com/office/drawing/2014/main" id="{B74437E9-8F94-A8F6-A450-308088D966F4}"/>
              </a:ext>
            </a:extLst>
          </p:cNvPr>
          <p:cNvSpPr/>
          <p:nvPr/>
        </p:nvSpPr>
        <p:spPr>
          <a:xfrm>
            <a:off x="1471500" y="308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num_leaves</a:t>
            </a:r>
          </a:p>
        </p:txBody>
      </p:sp>
      <p:sp>
        <p:nvSpPr>
          <p:cNvPr id="86" name="rr2">
            <a:extLst>
              <a:ext uri="{FF2B5EF4-FFF2-40B4-BE49-F238E27FC236}">
                <a16:creationId xmlns:a16="http://schemas.microsoft.com/office/drawing/2014/main" id="{C5C51BA2-247A-DFDC-0882-6254BD77B9BE}"/>
              </a:ext>
            </a:extLst>
          </p:cNvPr>
          <p:cNvSpPr/>
          <p:nvPr/>
        </p:nvSpPr>
        <p:spPr>
          <a:xfrm>
            <a:off x="2731500" y="308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20 ~ 100</a:t>
            </a:r>
          </a:p>
        </p:txBody>
      </p:sp>
      <p:sp>
        <p:nvSpPr>
          <p:cNvPr id="87" name="rmn2">
            <a:extLst>
              <a:ext uri="{FF2B5EF4-FFF2-40B4-BE49-F238E27FC236}">
                <a16:creationId xmlns:a16="http://schemas.microsoft.com/office/drawing/2014/main" id="{28DA418C-6384-AD88-3D47-542EC17E2E3A}"/>
              </a:ext>
            </a:extLst>
          </p:cNvPr>
          <p:cNvSpPr/>
          <p:nvPr/>
        </p:nvSpPr>
        <p:spPr>
          <a:xfrm>
            <a:off x="4411500" y="308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Leaf 개수</a:t>
            </a:r>
          </a:p>
        </p:txBody>
      </p:sp>
      <p:sp>
        <p:nvSpPr>
          <p:cNvPr id="88" name="rb3">
            <a:extLst>
              <a:ext uri="{FF2B5EF4-FFF2-40B4-BE49-F238E27FC236}">
                <a16:creationId xmlns:a16="http://schemas.microsoft.com/office/drawing/2014/main" id="{DEC2CA60-0AE6-08F2-A45A-9C1BA2C44629}"/>
              </a:ext>
            </a:extLst>
          </p:cNvPr>
          <p:cNvSpPr/>
          <p:nvPr/>
        </p:nvSpPr>
        <p:spPr>
          <a:xfrm>
            <a:off x="591500" y="3374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89" name="rp3">
            <a:extLst>
              <a:ext uri="{FF2B5EF4-FFF2-40B4-BE49-F238E27FC236}">
                <a16:creationId xmlns:a16="http://schemas.microsoft.com/office/drawing/2014/main" id="{850369C3-6CA0-8FCA-E441-6B670352690D}"/>
              </a:ext>
            </a:extLst>
          </p:cNvPr>
          <p:cNvSpPr/>
          <p:nvPr/>
        </p:nvSpPr>
        <p:spPr>
          <a:xfrm>
            <a:off x="1471500" y="337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max_depth</a:t>
            </a:r>
          </a:p>
        </p:txBody>
      </p:sp>
      <p:sp>
        <p:nvSpPr>
          <p:cNvPr id="90" name="rr3">
            <a:extLst>
              <a:ext uri="{FF2B5EF4-FFF2-40B4-BE49-F238E27FC236}">
                <a16:creationId xmlns:a16="http://schemas.microsoft.com/office/drawing/2014/main" id="{DD163F9C-98EE-460B-6456-722068BB959D}"/>
              </a:ext>
            </a:extLst>
          </p:cNvPr>
          <p:cNvSpPr/>
          <p:nvPr/>
        </p:nvSpPr>
        <p:spPr>
          <a:xfrm>
            <a:off x="2731500" y="337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3 ~ 10</a:t>
            </a:r>
          </a:p>
        </p:txBody>
      </p:sp>
      <p:sp>
        <p:nvSpPr>
          <p:cNvPr id="91" name="rmn3">
            <a:extLst>
              <a:ext uri="{FF2B5EF4-FFF2-40B4-BE49-F238E27FC236}">
                <a16:creationId xmlns:a16="http://schemas.microsoft.com/office/drawing/2014/main" id="{224A1623-3F50-B47A-865E-CF47FD004D34}"/>
              </a:ext>
            </a:extLst>
          </p:cNvPr>
          <p:cNvSpPr/>
          <p:nvPr/>
        </p:nvSpPr>
        <p:spPr>
          <a:xfrm>
            <a:off x="4411500" y="337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최대 깊이</a:t>
            </a:r>
          </a:p>
        </p:txBody>
      </p:sp>
      <p:sp>
        <p:nvSpPr>
          <p:cNvPr id="92" name="rb4">
            <a:extLst>
              <a:ext uri="{FF2B5EF4-FFF2-40B4-BE49-F238E27FC236}">
                <a16:creationId xmlns:a16="http://schemas.microsoft.com/office/drawing/2014/main" id="{1F4217D7-9823-F8A0-471D-7AED3F12EFDF}"/>
              </a:ext>
            </a:extLst>
          </p:cNvPr>
          <p:cNvSpPr/>
          <p:nvPr/>
        </p:nvSpPr>
        <p:spPr>
          <a:xfrm>
            <a:off x="591500" y="3659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93" name="rp4">
            <a:extLst>
              <a:ext uri="{FF2B5EF4-FFF2-40B4-BE49-F238E27FC236}">
                <a16:creationId xmlns:a16="http://schemas.microsoft.com/office/drawing/2014/main" id="{AA8F25A4-E729-71D1-C08D-2AA2461465FE}"/>
              </a:ext>
            </a:extLst>
          </p:cNvPr>
          <p:cNvSpPr/>
          <p:nvPr/>
        </p:nvSpPr>
        <p:spPr>
          <a:xfrm>
            <a:off x="1471500" y="365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reg_lambda</a:t>
            </a:r>
          </a:p>
        </p:txBody>
      </p:sp>
      <p:sp>
        <p:nvSpPr>
          <p:cNvPr id="94" name="rr4">
            <a:extLst>
              <a:ext uri="{FF2B5EF4-FFF2-40B4-BE49-F238E27FC236}">
                <a16:creationId xmlns:a16="http://schemas.microsoft.com/office/drawing/2014/main" id="{A927A51B-6443-F93F-C3C7-3B6F2E7933F5}"/>
              </a:ext>
            </a:extLst>
          </p:cNvPr>
          <p:cNvSpPr/>
          <p:nvPr/>
        </p:nvSpPr>
        <p:spPr>
          <a:xfrm>
            <a:off x="2731500" y="365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1e-4 ~ 10</a:t>
            </a:r>
          </a:p>
        </p:txBody>
      </p:sp>
      <p:sp>
        <p:nvSpPr>
          <p:cNvPr id="95" name="rmn4">
            <a:extLst>
              <a:ext uri="{FF2B5EF4-FFF2-40B4-BE49-F238E27FC236}">
                <a16:creationId xmlns:a16="http://schemas.microsoft.com/office/drawing/2014/main" id="{8BB8D219-EC3F-AA3B-8898-D5F5FFE48BF2}"/>
              </a:ext>
            </a:extLst>
          </p:cNvPr>
          <p:cNvSpPr/>
          <p:nvPr/>
        </p:nvSpPr>
        <p:spPr>
          <a:xfrm>
            <a:off x="4411500" y="365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L2 정규화</a:t>
            </a:r>
          </a:p>
        </p:txBody>
      </p:sp>
      <p:sp>
        <p:nvSpPr>
          <p:cNvPr id="96" name="rb5">
            <a:extLst>
              <a:ext uri="{FF2B5EF4-FFF2-40B4-BE49-F238E27FC236}">
                <a16:creationId xmlns:a16="http://schemas.microsoft.com/office/drawing/2014/main" id="{701DADD9-347F-16D2-20E7-C01FBE52162A}"/>
              </a:ext>
            </a:extLst>
          </p:cNvPr>
          <p:cNvSpPr/>
          <p:nvPr/>
        </p:nvSpPr>
        <p:spPr>
          <a:xfrm>
            <a:off x="591500" y="3944879"/>
            <a:ext cx="5310000" cy="28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97" name="rm5">
            <a:extLst>
              <a:ext uri="{FF2B5EF4-FFF2-40B4-BE49-F238E27FC236}">
                <a16:creationId xmlns:a16="http://schemas.microsoft.com/office/drawing/2014/main" id="{3011551B-36A6-A836-891D-54E926BF3CDB}"/>
              </a:ext>
            </a:extLst>
          </p:cNvPr>
          <p:cNvSpPr/>
          <p:nvPr/>
        </p:nvSpPr>
        <p:spPr>
          <a:xfrm>
            <a:off x="601500" y="3944879"/>
            <a:ext cx="87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40" b="1" dirty="0">
                <a:solidFill>
                  <a:srgbClr val="1565C0"/>
                </a:solidFill>
                <a:latin typeface="Pretendard" charset="0"/>
                <a:ea typeface="Pretendard" charset="0"/>
              </a:rPr>
              <a:t>XGBoost</a:t>
            </a:r>
          </a:p>
        </p:txBody>
      </p:sp>
      <p:sp>
        <p:nvSpPr>
          <p:cNvPr id="98" name="rs5">
            <a:extLst>
              <a:ext uri="{FF2B5EF4-FFF2-40B4-BE49-F238E27FC236}">
                <a16:creationId xmlns:a16="http://schemas.microsoft.com/office/drawing/2014/main" id="{749C7635-760B-CAF7-BD8D-BF1FA13CC028}"/>
              </a:ext>
            </a:extLst>
          </p:cNvPr>
          <p:cNvSpPr/>
          <p:nvPr/>
        </p:nvSpPr>
        <p:spPr>
          <a:xfrm>
            <a:off x="591500" y="3942879"/>
            <a:ext cx="5310000" cy="9000"/>
          </a:xfrm>
          <a:prstGeom prst="rect">
            <a:avLst/>
          </a:prstGeom>
          <a:solidFill>
            <a:srgbClr val="999999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99" name="rp5">
            <a:extLst>
              <a:ext uri="{FF2B5EF4-FFF2-40B4-BE49-F238E27FC236}">
                <a16:creationId xmlns:a16="http://schemas.microsoft.com/office/drawing/2014/main" id="{B841118A-9F16-6180-B39B-CC24018B5B44}"/>
              </a:ext>
            </a:extLst>
          </p:cNvPr>
          <p:cNvSpPr/>
          <p:nvPr/>
        </p:nvSpPr>
        <p:spPr>
          <a:xfrm>
            <a:off x="1471500" y="394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n_estimators</a:t>
            </a:r>
          </a:p>
        </p:txBody>
      </p:sp>
      <p:sp>
        <p:nvSpPr>
          <p:cNvPr id="100" name="rr5">
            <a:extLst>
              <a:ext uri="{FF2B5EF4-FFF2-40B4-BE49-F238E27FC236}">
                <a16:creationId xmlns:a16="http://schemas.microsoft.com/office/drawing/2014/main" id="{4BC9F4F1-B176-0D6F-C5C8-96A60BE3A79A}"/>
              </a:ext>
            </a:extLst>
          </p:cNvPr>
          <p:cNvSpPr/>
          <p:nvPr/>
        </p:nvSpPr>
        <p:spPr>
          <a:xfrm>
            <a:off x="2731500" y="394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200 ~ 1000</a:t>
            </a:r>
          </a:p>
        </p:txBody>
      </p:sp>
      <p:sp>
        <p:nvSpPr>
          <p:cNvPr id="101" name="rmn5">
            <a:extLst>
              <a:ext uri="{FF2B5EF4-FFF2-40B4-BE49-F238E27FC236}">
                <a16:creationId xmlns:a16="http://schemas.microsoft.com/office/drawing/2014/main" id="{F5DEC1C3-DE3E-7094-9F5A-74C9F46D3888}"/>
              </a:ext>
            </a:extLst>
          </p:cNvPr>
          <p:cNvSpPr/>
          <p:nvPr/>
        </p:nvSpPr>
        <p:spPr>
          <a:xfrm>
            <a:off x="4411500" y="394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트리 개수</a:t>
            </a:r>
          </a:p>
        </p:txBody>
      </p:sp>
      <p:sp>
        <p:nvSpPr>
          <p:cNvPr id="102" name="rb6">
            <a:extLst>
              <a:ext uri="{FF2B5EF4-FFF2-40B4-BE49-F238E27FC236}">
                <a16:creationId xmlns:a16="http://schemas.microsoft.com/office/drawing/2014/main" id="{8A667317-E1A2-877E-1B10-A2E005AC3008}"/>
              </a:ext>
            </a:extLst>
          </p:cNvPr>
          <p:cNvSpPr/>
          <p:nvPr/>
        </p:nvSpPr>
        <p:spPr>
          <a:xfrm>
            <a:off x="591500" y="4229879"/>
            <a:ext cx="5310000" cy="28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03" name="rp6">
            <a:extLst>
              <a:ext uri="{FF2B5EF4-FFF2-40B4-BE49-F238E27FC236}">
                <a16:creationId xmlns:a16="http://schemas.microsoft.com/office/drawing/2014/main" id="{12082BD8-2E9B-9B3F-8ECD-7E616DC18A6B}"/>
              </a:ext>
            </a:extLst>
          </p:cNvPr>
          <p:cNvSpPr/>
          <p:nvPr/>
        </p:nvSpPr>
        <p:spPr>
          <a:xfrm>
            <a:off x="1471500" y="422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learning_rate</a:t>
            </a:r>
          </a:p>
        </p:txBody>
      </p:sp>
      <p:sp>
        <p:nvSpPr>
          <p:cNvPr id="104" name="rr6">
            <a:extLst>
              <a:ext uri="{FF2B5EF4-FFF2-40B4-BE49-F238E27FC236}">
                <a16:creationId xmlns:a16="http://schemas.microsoft.com/office/drawing/2014/main" id="{2A92AFE3-FAA3-97E6-4D41-6E411C3C36F8}"/>
              </a:ext>
            </a:extLst>
          </p:cNvPr>
          <p:cNvSpPr/>
          <p:nvPr/>
        </p:nvSpPr>
        <p:spPr>
          <a:xfrm>
            <a:off x="2731500" y="422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0.01 ~ 0.2</a:t>
            </a:r>
          </a:p>
        </p:txBody>
      </p:sp>
      <p:sp>
        <p:nvSpPr>
          <p:cNvPr id="105" name="rmn6">
            <a:extLst>
              <a:ext uri="{FF2B5EF4-FFF2-40B4-BE49-F238E27FC236}">
                <a16:creationId xmlns:a16="http://schemas.microsoft.com/office/drawing/2014/main" id="{64B3C7DE-E52E-2931-03AC-B06A6001EC1A}"/>
              </a:ext>
            </a:extLst>
          </p:cNvPr>
          <p:cNvSpPr/>
          <p:nvPr/>
        </p:nvSpPr>
        <p:spPr>
          <a:xfrm>
            <a:off x="4411500" y="422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학습률</a:t>
            </a:r>
          </a:p>
        </p:txBody>
      </p:sp>
      <p:sp>
        <p:nvSpPr>
          <p:cNvPr id="106" name="rb7">
            <a:extLst>
              <a:ext uri="{FF2B5EF4-FFF2-40B4-BE49-F238E27FC236}">
                <a16:creationId xmlns:a16="http://schemas.microsoft.com/office/drawing/2014/main" id="{B7A1DD2A-F7EE-E851-BF1A-3D0776513C65}"/>
              </a:ext>
            </a:extLst>
          </p:cNvPr>
          <p:cNvSpPr/>
          <p:nvPr/>
        </p:nvSpPr>
        <p:spPr>
          <a:xfrm>
            <a:off x="591500" y="4514879"/>
            <a:ext cx="5310000" cy="28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07" name="rp7">
            <a:extLst>
              <a:ext uri="{FF2B5EF4-FFF2-40B4-BE49-F238E27FC236}">
                <a16:creationId xmlns:a16="http://schemas.microsoft.com/office/drawing/2014/main" id="{BD8CFFDD-F28A-C03B-43DB-B04344C4E0C6}"/>
              </a:ext>
            </a:extLst>
          </p:cNvPr>
          <p:cNvSpPr/>
          <p:nvPr/>
        </p:nvSpPr>
        <p:spPr>
          <a:xfrm>
            <a:off x="1471500" y="451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max_depth</a:t>
            </a:r>
          </a:p>
        </p:txBody>
      </p:sp>
      <p:sp>
        <p:nvSpPr>
          <p:cNvPr id="108" name="rr7">
            <a:extLst>
              <a:ext uri="{FF2B5EF4-FFF2-40B4-BE49-F238E27FC236}">
                <a16:creationId xmlns:a16="http://schemas.microsoft.com/office/drawing/2014/main" id="{B54184CE-53C4-90BA-850F-B7AA1BC6D4FA}"/>
              </a:ext>
            </a:extLst>
          </p:cNvPr>
          <p:cNvSpPr/>
          <p:nvPr/>
        </p:nvSpPr>
        <p:spPr>
          <a:xfrm>
            <a:off x="2731500" y="451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3 ~ 10</a:t>
            </a:r>
          </a:p>
        </p:txBody>
      </p:sp>
      <p:sp>
        <p:nvSpPr>
          <p:cNvPr id="109" name="rmn7">
            <a:extLst>
              <a:ext uri="{FF2B5EF4-FFF2-40B4-BE49-F238E27FC236}">
                <a16:creationId xmlns:a16="http://schemas.microsoft.com/office/drawing/2014/main" id="{51EF86DB-F5F0-9287-5581-8293F82CF8D2}"/>
              </a:ext>
            </a:extLst>
          </p:cNvPr>
          <p:cNvSpPr/>
          <p:nvPr/>
        </p:nvSpPr>
        <p:spPr>
          <a:xfrm>
            <a:off x="4411500" y="451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트리 깊이</a:t>
            </a:r>
          </a:p>
        </p:txBody>
      </p:sp>
      <p:sp>
        <p:nvSpPr>
          <p:cNvPr id="110" name="rb8">
            <a:extLst>
              <a:ext uri="{FF2B5EF4-FFF2-40B4-BE49-F238E27FC236}">
                <a16:creationId xmlns:a16="http://schemas.microsoft.com/office/drawing/2014/main" id="{EECDDEDA-0858-A6CC-B280-FF0D1F1E0FE3}"/>
              </a:ext>
            </a:extLst>
          </p:cNvPr>
          <p:cNvSpPr/>
          <p:nvPr/>
        </p:nvSpPr>
        <p:spPr>
          <a:xfrm>
            <a:off x="591500" y="4799879"/>
            <a:ext cx="5310000" cy="28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11" name="rp8">
            <a:extLst>
              <a:ext uri="{FF2B5EF4-FFF2-40B4-BE49-F238E27FC236}">
                <a16:creationId xmlns:a16="http://schemas.microsoft.com/office/drawing/2014/main" id="{8FE5B4CA-A8D3-B1DA-32DA-943B7A9CC6E3}"/>
              </a:ext>
            </a:extLst>
          </p:cNvPr>
          <p:cNvSpPr/>
          <p:nvPr/>
        </p:nvSpPr>
        <p:spPr>
          <a:xfrm>
            <a:off x="1471500" y="479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reg_lambda</a:t>
            </a:r>
          </a:p>
        </p:txBody>
      </p:sp>
      <p:sp>
        <p:nvSpPr>
          <p:cNvPr id="112" name="rr8">
            <a:extLst>
              <a:ext uri="{FF2B5EF4-FFF2-40B4-BE49-F238E27FC236}">
                <a16:creationId xmlns:a16="http://schemas.microsoft.com/office/drawing/2014/main" id="{3DE21FA0-49C6-91F0-897A-A14AFE60E9BF}"/>
              </a:ext>
            </a:extLst>
          </p:cNvPr>
          <p:cNvSpPr/>
          <p:nvPr/>
        </p:nvSpPr>
        <p:spPr>
          <a:xfrm>
            <a:off x="2731500" y="479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1e-4 ~ 10</a:t>
            </a:r>
          </a:p>
        </p:txBody>
      </p:sp>
      <p:sp>
        <p:nvSpPr>
          <p:cNvPr id="113" name="rmn8">
            <a:extLst>
              <a:ext uri="{FF2B5EF4-FFF2-40B4-BE49-F238E27FC236}">
                <a16:creationId xmlns:a16="http://schemas.microsoft.com/office/drawing/2014/main" id="{400103E7-2941-5991-A725-724449274F1B}"/>
              </a:ext>
            </a:extLst>
          </p:cNvPr>
          <p:cNvSpPr/>
          <p:nvPr/>
        </p:nvSpPr>
        <p:spPr>
          <a:xfrm>
            <a:off x="4411500" y="479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L2 정규화</a:t>
            </a:r>
          </a:p>
        </p:txBody>
      </p:sp>
      <p:sp>
        <p:nvSpPr>
          <p:cNvPr id="114" name="rb9">
            <a:extLst>
              <a:ext uri="{FF2B5EF4-FFF2-40B4-BE49-F238E27FC236}">
                <a16:creationId xmlns:a16="http://schemas.microsoft.com/office/drawing/2014/main" id="{855395C2-A466-2DCF-9498-5C2A7A1821BC}"/>
              </a:ext>
            </a:extLst>
          </p:cNvPr>
          <p:cNvSpPr/>
          <p:nvPr/>
        </p:nvSpPr>
        <p:spPr>
          <a:xfrm>
            <a:off x="591500" y="5084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15" name="rm9">
            <a:extLst>
              <a:ext uri="{FF2B5EF4-FFF2-40B4-BE49-F238E27FC236}">
                <a16:creationId xmlns:a16="http://schemas.microsoft.com/office/drawing/2014/main" id="{4DBB8AC8-106C-79BF-51C6-64EDB2B191F1}"/>
              </a:ext>
            </a:extLst>
          </p:cNvPr>
          <p:cNvSpPr/>
          <p:nvPr/>
        </p:nvSpPr>
        <p:spPr>
          <a:xfrm>
            <a:off x="601500" y="5084879"/>
            <a:ext cx="87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40" b="1" dirty="0">
                <a:solidFill>
                  <a:srgbClr val="6A1B9A"/>
                </a:solidFill>
                <a:latin typeface="Pretendard" charset="0"/>
                <a:ea typeface="Pretendard" charset="0"/>
              </a:rPr>
              <a:t>CatBoost</a:t>
            </a:r>
          </a:p>
        </p:txBody>
      </p:sp>
      <p:sp>
        <p:nvSpPr>
          <p:cNvPr id="116" name="rs9">
            <a:extLst>
              <a:ext uri="{FF2B5EF4-FFF2-40B4-BE49-F238E27FC236}">
                <a16:creationId xmlns:a16="http://schemas.microsoft.com/office/drawing/2014/main" id="{D2A0F5A1-4446-557D-1E08-52F74D636DB9}"/>
              </a:ext>
            </a:extLst>
          </p:cNvPr>
          <p:cNvSpPr/>
          <p:nvPr/>
        </p:nvSpPr>
        <p:spPr>
          <a:xfrm>
            <a:off x="591500" y="5082879"/>
            <a:ext cx="5310000" cy="9000"/>
          </a:xfrm>
          <a:prstGeom prst="rect">
            <a:avLst/>
          </a:prstGeom>
          <a:solidFill>
            <a:srgbClr val="999999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17" name="rp9">
            <a:extLst>
              <a:ext uri="{FF2B5EF4-FFF2-40B4-BE49-F238E27FC236}">
                <a16:creationId xmlns:a16="http://schemas.microsoft.com/office/drawing/2014/main" id="{A4D06A99-8E3E-78D2-02E5-A7939DA81075}"/>
              </a:ext>
            </a:extLst>
          </p:cNvPr>
          <p:cNvSpPr/>
          <p:nvPr/>
        </p:nvSpPr>
        <p:spPr>
          <a:xfrm>
            <a:off x="1471500" y="508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iterations</a:t>
            </a:r>
          </a:p>
        </p:txBody>
      </p:sp>
      <p:sp>
        <p:nvSpPr>
          <p:cNvPr id="118" name="rr9">
            <a:extLst>
              <a:ext uri="{FF2B5EF4-FFF2-40B4-BE49-F238E27FC236}">
                <a16:creationId xmlns:a16="http://schemas.microsoft.com/office/drawing/2014/main" id="{A20333F9-70BF-FE40-1C45-89C089EF2194}"/>
              </a:ext>
            </a:extLst>
          </p:cNvPr>
          <p:cNvSpPr/>
          <p:nvPr/>
        </p:nvSpPr>
        <p:spPr>
          <a:xfrm>
            <a:off x="2731500" y="508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500 (고정)</a:t>
            </a:r>
          </a:p>
        </p:txBody>
      </p:sp>
      <p:sp>
        <p:nvSpPr>
          <p:cNvPr id="119" name="rmn9">
            <a:extLst>
              <a:ext uri="{FF2B5EF4-FFF2-40B4-BE49-F238E27FC236}">
                <a16:creationId xmlns:a16="http://schemas.microsoft.com/office/drawing/2014/main" id="{05FE7C33-EB45-D28A-C7DE-510F898B4352}"/>
              </a:ext>
            </a:extLst>
          </p:cNvPr>
          <p:cNvSpPr/>
          <p:nvPr/>
        </p:nvSpPr>
        <p:spPr>
          <a:xfrm>
            <a:off x="4411500" y="508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트리 개수</a:t>
            </a:r>
          </a:p>
        </p:txBody>
      </p:sp>
      <p:sp>
        <p:nvSpPr>
          <p:cNvPr id="120" name="rb10">
            <a:extLst>
              <a:ext uri="{FF2B5EF4-FFF2-40B4-BE49-F238E27FC236}">
                <a16:creationId xmlns:a16="http://schemas.microsoft.com/office/drawing/2014/main" id="{FB79C653-7A00-AFA7-724E-729C3E7051D6}"/>
              </a:ext>
            </a:extLst>
          </p:cNvPr>
          <p:cNvSpPr/>
          <p:nvPr/>
        </p:nvSpPr>
        <p:spPr>
          <a:xfrm>
            <a:off x="591500" y="5369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21" name="rp10">
            <a:extLst>
              <a:ext uri="{FF2B5EF4-FFF2-40B4-BE49-F238E27FC236}">
                <a16:creationId xmlns:a16="http://schemas.microsoft.com/office/drawing/2014/main" id="{A0C1A396-E02D-35DE-79C5-AA671C7C6DF2}"/>
              </a:ext>
            </a:extLst>
          </p:cNvPr>
          <p:cNvSpPr/>
          <p:nvPr/>
        </p:nvSpPr>
        <p:spPr>
          <a:xfrm>
            <a:off x="1471500" y="536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learning_rate</a:t>
            </a:r>
          </a:p>
        </p:txBody>
      </p:sp>
      <p:sp>
        <p:nvSpPr>
          <p:cNvPr id="122" name="rr10">
            <a:extLst>
              <a:ext uri="{FF2B5EF4-FFF2-40B4-BE49-F238E27FC236}">
                <a16:creationId xmlns:a16="http://schemas.microsoft.com/office/drawing/2014/main" id="{65FC755C-B1A7-AFBA-064F-0C59EBB4B270}"/>
              </a:ext>
            </a:extLst>
          </p:cNvPr>
          <p:cNvSpPr/>
          <p:nvPr/>
        </p:nvSpPr>
        <p:spPr>
          <a:xfrm>
            <a:off x="2731500" y="536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0.01 ~ 0.2</a:t>
            </a:r>
          </a:p>
        </p:txBody>
      </p:sp>
      <p:sp>
        <p:nvSpPr>
          <p:cNvPr id="123" name="rmn10">
            <a:extLst>
              <a:ext uri="{FF2B5EF4-FFF2-40B4-BE49-F238E27FC236}">
                <a16:creationId xmlns:a16="http://schemas.microsoft.com/office/drawing/2014/main" id="{D260291D-2580-2803-B51F-4F16123ACEFD}"/>
              </a:ext>
            </a:extLst>
          </p:cNvPr>
          <p:cNvSpPr/>
          <p:nvPr/>
        </p:nvSpPr>
        <p:spPr>
          <a:xfrm>
            <a:off x="4411500" y="536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학습률</a:t>
            </a:r>
          </a:p>
        </p:txBody>
      </p:sp>
      <p:sp>
        <p:nvSpPr>
          <p:cNvPr id="124" name="rb11">
            <a:extLst>
              <a:ext uri="{FF2B5EF4-FFF2-40B4-BE49-F238E27FC236}">
                <a16:creationId xmlns:a16="http://schemas.microsoft.com/office/drawing/2014/main" id="{7D3C02F5-9497-814C-6E25-814E5477A65F}"/>
              </a:ext>
            </a:extLst>
          </p:cNvPr>
          <p:cNvSpPr/>
          <p:nvPr/>
        </p:nvSpPr>
        <p:spPr>
          <a:xfrm>
            <a:off x="591500" y="5654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25" name="rp11">
            <a:extLst>
              <a:ext uri="{FF2B5EF4-FFF2-40B4-BE49-F238E27FC236}">
                <a16:creationId xmlns:a16="http://schemas.microsoft.com/office/drawing/2014/main" id="{96AF97B6-36FA-B217-33F3-DD698ACF93A4}"/>
              </a:ext>
            </a:extLst>
          </p:cNvPr>
          <p:cNvSpPr/>
          <p:nvPr/>
        </p:nvSpPr>
        <p:spPr>
          <a:xfrm>
            <a:off x="1471500" y="5654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depth</a:t>
            </a:r>
          </a:p>
        </p:txBody>
      </p:sp>
      <p:sp>
        <p:nvSpPr>
          <p:cNvPr id="126" name="rr11">
            <a:extLst>
              <a:ext uri="{FF2B5EF4-FFF2-40B4-BE49-F238E27FC236}">
                <a16:creationId xmlns:a16="http://schemas.microsoft.com/office/drawing/2014/main" id="{7E4E6B81-9DEA-AE84-9042-DD6FCD25D24F}"/>
              </a:ext>
            </a:extLst>
          </p:cNvPr>
          <p:cNvSpPr/>
          <p:nvPr/>
        </p:nvSpPr>
        <p:spPr>
          <a:xfrm>
            <a:off x="2731500" y="5654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3 ~ 10</a:t>
            </a:r>
          </a:p>
        </p:txBody>
      </p:sp>
      <p:sp>
        <p:nvSpPr>
          <p:cNvPr id="127" name="rmn11">
            <a:extLst>
              <a:ext uri="{FF2B5EF4-FFF2-40B4-BE49-F238E27FC236}">
                <a16:creationId xmlns:a16="http://schemas.microsoft.com/office/drawing/2014/main" id="{264F038E-92E6-F02C-DE88-0DC14BEE04A5}"/>
              </a:ext>
            </a:extLst>
          </p:cNvPr>
          <p:cNvSpPr/>
          <p:nvPr/>
        </p:nvSpPr>
        <p:spPr>
          <a:xfrm>
            <a:off x="4411500" y="5654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트리 깊이</a:t>
            </a:r>
          </a:p>
        </p:txBody>
      </p:sp>
      <p:sp>
        <p:nvSpPr>
          <p:cNvPr id="128" name="rb12">
            <a:extLst>
              <a:ext uri="{FF2B5EF4-FFF2-40B4-BE49-F238E27FC236}">
                <a16:creationId xmlns:a16="http://schemas.microsoft.com/office/drawing/2014/main" id="{9916218C-8B7C-BB45-DD39-7405CE5B1BFB}"/>
              </a:ext>
            </a:extLst>
          </p:cNvPr>
          <p:cNvSpPr/>
          <p:nvPr/>
        </p:nvSpPr>
        <p:spPr>
          <a:xfrm>
            <a:off x="591500" y="5939879"/>
            <a:ext cx="5310000" cy="28200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txBody>
          <a:bodyPr lIns="60960" rIns="60960" anchor="ctr"/>
          <a:lstStyle/>
          <a:p>
            <a:pPr algn="ctr"/>
            <a:endParaRPr lang="ko-KR"/>
          </a:p>
        </p:txBody>
      </p:sp>
      <p:sp>
        <p:nvSpPr>
          <p:cNvPr id="129" name="rp12">
            <a:extLst>
              <a:ext uri="{FF2B5EF4-FFF2-40B4-BE49-F238E27FC236}">
                <a16:creationId xmlns:a16="http://schemas.microsoft.com/office/drawing/2014/main" id="{82B5A997-2F6E-7484-A73D-894F8178B9DC}"/>
              </a:ext>
            </a:extLst>
          </p:cNvPr>
          <p:cNvSpPr/>
          <p:nvPr/>
        </p:nvSpPr>
        <p:spPr>
          <a:xfrm>
            <a:off x="1471500" y="5939879"/>
            <a:ext cx="126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i="1" dirty="0">
                <a:solidFill>
                  <a:srgbClr val="333333"/>
                </a:solidFill>
                <a:latin typeface="Pretendard" charset="0"/>
                <a:ea typeface="Pretendard" charset="0"/>
              </a:rPr>
              <a:t>l2_leaf_reg</a:t>
            </a:r>
          </a:p>
        </p:txBody>
      </p:sp>
      <p:sp>
        <p:nvSpPr>
          <p:cNvPr id="130" name="rr12">
            <a:extLst>
              <a:ext uri="{FF2B5EF4-FFF2-40B4-BE49-F238E27FC236}">
                <a16:creationId xmlns:a16="http://schemas.microsoft.com/office/drawing/2014/main" id="{FF84B84E-6D62-5F05-9716-2ACBB8E8512C}"/>
              </a:ext>
            </a:extLst>
          </p:cNvPr>
          <p:cNvSpPr/>
          <p:nvPr/>
        </p:nvSpPr>
        <p:spPr>
          <a:xfrm>
            <a:off x="2731500" y="5939879"/>
            <a:ext cx="168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444444"/>
                </a:solidFill>
                <a:latin typeface="Pretendard" charset="0"/>
                <a:ea typeface="Pretendard" charset="0"/>
              </a:rPr>
              <a:t>1e-4 ~ 10</a:t>
            </a:r>
          </a:p>
        </p:txBody>
      </p:sp>
      <p:sp>
        <p:nvSpPr>
          <p:cNvPr id="131" name="rmn12">
            <a:extLst>
              <a:ext uri="{FF2B5EF4-FFF2-40B4-BE49-F238E27FC236}">
                <a16:creationId xmlns:a16="http://schemas.microsoft.com/office/drawing/2014/main" id="{F33A312E-1F39-AA61-9E35-8DB7BDBD21C8}"/>
              </a:ext>
            </a:extLst>
          </p:cNvPr>
          <p:cNvSpPr/>
          <p:nvPr/>
        </p:nvSpPr>
        <p:spPr>
          <a:xfrm>
            <a:off x="4411500" y="5939879"/>
            <a:ext cx="1010000" cy="285000"/>
          </a:xfrm>
          <a:prstGeom prst="rect">
            <a:avLst/>
          </a:prstGeom>
          <a:noFill/>
        </p:spPr>
        <p:txBody>
          <a:bodyPr lIns="60960" rIns="60960" anchor="ctr"/>
          <a:lstStyle/>
          <a:p>
            <a:pPr algn="ctr"/>
            <a:r>
              <a:rPr lang="ko-KR" altLang="en-US" sz="770" dirty="0">
                <a:solidFill>
                  <a:srgbClr val="555555"/>
                </a:solidFill>
                <a:latin typeface="Pretendard" charset="0"/>
                <a:ea typeface="Pretendard" charset="0"/>
              </a:rPr>
              <a:t>L2 정규화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E00C29-B728-23D6-7F8E-3D0BF7B96F75}"/>
              </a:ext>
            </a:extLst>
          </p:cNvPr>
          <p:cNvGrpSpPr/>
          <p:nvPr/>
        </p:nvGrpSpPr>
        <p:grpSpPr>
          <a:xfrm>
            <a:off x="6071500" y="1707879"/>
            <a:ext cx="5550000" cy="4591900"/>
            <a:chOff x="6071500" y="1707879"/>
            <a:chExt cx="5550000" cy="3702000"/>
          </a:xfrm>
        </p:grpSpPr>
        <p:sp>
          <p:nvSpPr>
            <p:cNvPr id="132" name="rcard">
              <a:extLst>
                <a:ext uri="{FF2B5EF4-FFF2-40B4-BE49-F238E27FC236}">
                  <a16:creationId xmlns:a16="http://schemas.microsoft.com/office/drawing/2014/main" id="{A0E71CEA-DB58-30EA-E7CE-D3161537F2C7}"/>
                </a:ext>
              </a:extLst>
            </p:cNvPr>
            <p:cNvSpPr/>
            <p:nvPr/>
          </p:nvSpPr>
          <p:spPr>
            <a:xfrm>
              <a:off x="6071500" y="1707879"/>
              <a:ext cx="5550000" cy="3702000"/>
            </a:xfrm>
            <a:prstGeom prst="roundRect">
              <a:avLst>
                <a:gd name="adj" fmla="val 653"/>
              </a:avLst>
            </a:prstGeom>
            <a:solidFill>
              <a:srgbClr val="FFFFFF"/>
            </a:solidFill>
            <a:ln w="12700">
              <a:solidFill>
                <a:srgbClr val="EAEAEA"/>
              </a:solidFill>
            </a:ln>
            <a:effectLst>
              <a:outerShdw blurRad="76200" dist="25400" dir="16200000" algn="bl" rotWithShape="0">
                <a:srgbClr val="000000">
                  <a:alpha val="2000"/>
                </a:srgbClr>
              </a:outerShdw>
            </a:effectLst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33" name="rbar">
              <a:extLst>
                <a:ext uri="{FF2B5EF4-FFF2-40B4-BE49-F238E27FC236}">
                  <a16:creationId xmlns:a16="http://schemas.microsoft.com/office/drawing/2014/main" id="{FFF2EC41-04CB-620C-3AB4-9D2000EB1FF7}"/>
                </a:ext>
              </a:extLst>
            </p:cNvPr>
            <p:cNvSpPr/>
            <p:nvPr/>
          </p:nvSpPr>
          <p:spPr>
            <a:xfrm>
              <a:off x="6071500" y="1707879"/>
              <a:ext cx="5550000" cy="38100"/>
            </a:xfrm>
            <a:prstGeom prst="roundRect">
              <a:avLst>
                <a:gd name="adj" fmla="val 78546"/>
              </a:avLst>
            </a:prstGeom>
            <a:solidFill>
              <a:srgbClr val="1A35B5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34" name="rtit">
              <a:extLst>
                <a:ext uri="{FF2B5EF4-FFF2-40B4-BE49-F238E27FC236}">
                  <a16:creationId xmlns:a16="http://schemas.microsoft.com/office/drawing/2014/main" id="{361DCD3E-7091-B1DE-1D51-214160D2342A}"/>
                </a:ext>
              </a:extLst>
            </p:cNvPr>
            <p:cNvSpPr/>
            <p:nvPr/>
          </p:nvSpPr>
          <p:spPr>
            <a:xfrm>
              <a:off x="6251500" y="1755879"/>
              <a:ext cx="5250000" cy="37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r>
                <a:rPr lang="ko-KR" altLang="en-US" sz="1100" b="1" dirty="0">
                  <a:solidFill>
                    <a:srgbClr val="1A35B5"/>
                  </a:solidFill>
                  <a:latin typeface="Pretendard" charset="0"/>
                  <a:ea typeface="Pretendard" charset="0"/>
                </a:rPr>
                <a:t>h별 최적 </a:t>
              </a:r>
              <a:r>
                <a:rPr lang="ko-KR" altLang="en-US" sz="1100" b="1" dirty="0" err="1">
                  <a:solidFill>
                    <a:srgbClr val="1A35B5"/>
                  </a:solidFill>
                  <a:latin typeface="Pretendard" charset="0"/>
                  <a:ea typeface="Pretendard" charset="0"/>
                </a:rPr>
                <a:t>하이퍼파라미터</a:t>
              </a:r>
              <a:r>
                <a:rPr lang="en-US" altLang="ko-KR" sz="1100" b="1" dirty="0">
                  <a:solidFill>
                    <a:srgbClr val="1A35B5"/>
                  </a:solidFill>
                  <a:latin typeface="Pretendard" charset="0"/>
                  <a:ea typeface="Pretendard" charset="0"/>
                </a:rPr>
                <a:t>(</a:t>
              </a:r>
              <a:r>
                <a:rPr lang="en-US" altLang="ko-KR" sz="1100" b="1" dirty="0" err="1">
                  <a:solidFill>
                    <a:srgbClr val="1A35B5"/>
                  </a:solidFill>
                  <a:latin typeface="Pretendard" charset="0"/>
                  <a:ea typeface="Pretendard" charset="0"/>
                </a:rPr>
                <a:t>Optuna</a:t>
              </a:r>
              <a:r>
                <a:rPr lang="en-US" altLang="ko-KR" sz="1100" b="1" dirty="0">
                  <a:solidFill>
                    <a:srgbClr val="1A35B5"/>
                  </a:solidFill>
                  <a:latin typeface="Pretendard" charset="0"/>
                  <a:ea typeface="Pretendard" charset="0"/>
                </a:rPr>
                <a:t>: 50 trials)</a:t>
              </a:r>
              <a:endParaRPr lang="ko-KR" altLang="en-US" sz="1100" b="1" dirty="0">
                <a:solidFill>
                  <a:srgbClr val="1A35B5"/>
                </a:solidFill>
                <a:latin typeface="Pretendard" charset="0"/>
                <a:ea typeface="Pretendard" charset="0"/>
              </a:endParaRPr>
            </a:p>
          </p:txBody>
        </p:sp>
        <p:sp>
          <p:nvSpPr>
            <p:cNvPr id="135" name="rhbg">
              <a:extLst>
                <a:ext uri="{FF2B5EF4-FFF2-40B4-BE49-F238E27FC236}">
                  <a16:creationId xmlns:a16="http://schemas.microsoft.com/office/drawing/2014/main" id="{B41FC62B-F04A-228F-EE8A-155F962AA5E5}"/>
                </a:ext>
              </a:extLst>
            </p:cNvPr>
            <p:cNvSpPr/>
            <p:nvPr/>
          </p:nvSpPr>
          <p:spPr>
            <a:xfrm>
              <a:off x="6091500" y="2157879"/>
              <a:ext cx="5510000" cy="350000"/>
            </a:xfrm>
            <a:prstGeom prst="rect">
              <a:avLst/>
            </a:prstGeom>
            <a:solidFill>
              <a:srgbClr val="EEF1FB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36" name="rh0">
              <a:extLst>
                <a:ext uri="{FF2B5EF4-FFF2-40B4-BE49-F238E27FC236}">
                  <a16:creationId xmlns:a16="http://schemas.microsoft.com/office/drawing/2014/main" id="{3368A4CF-9F0B-78FB-EA20-2144D5930E81}"/>
                </a:ext>
              </a:extLst>
            </p:cNvPr>
            <p:cNvSpPr/>
            <p:nvPr/>
          </p:nvSpPr>
          <p:spPr>
            <a:xfrm>
              <a:off x="6101500" y="2157879"/>
              <a:ext cx="1400000" cy="35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60" b="1" dirty="0">
                  <a:solidFill>
                    <a:srgbClr val="333333"/>
                  </a:solidFill>
                  <a:latin typeface="Pretendard" charset="0"/>
                  <a:ea typeface="Pretendard" charset="0"/>
                </a:rPr>
                <a:t>파라미터</a:t>
              </a:r>
            </a:p>
          </p:txBody>
        </p:sp>
        <p:sp>
          <p:nvSpPr>
            <p:cNvPr id="137" name="rh1">
              <a:extLst>
                <a:ext uri="{FF2B5EF4-FFF2-40B4-BE49-F238E27FC236}">
                  <a16:creationId xmlns:a16="http://schemas.microsoft.com/office/drawing/2014/main" id="{764974AA-B1E2-D943-9EDD-01321D4286C8}"/>
                </a:ext>
              </a:extLst>
            </p:cNvPr>
            <p:cNvSpPr/>
            <p:nvPr/>
          </p:nvSpPr>
          <p:spPr>
            <a:xfrm>
              <a:off x="7501500" y="2157879"/>
              <a:ext cx="960000" cy="35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60" b="1" dirty="0">
                  <a:solidFill>
                    <a:srgbClr val="333333"/>
                  </a:solidFill>
                  <a:latin typeface="Pretendard" charset="0"/>
                  <a:ea typeface="Pretendard" charset="0"/>
                </a:rPr>
                <a:t>h = 1</a:t>
              </a:r>
            </a:p>
          </p:txBody>
        </p:sp>
        <p:sp>
          <p:nvSpPr>
            <p:cNvPr id="138" name="rh2">
              <a:extLst>
                <a:ext uri="{FF2B5EF4-FFF2-40B4-BE49-F238E27FC236}">
                  <a16:creationId xmlns:a16="http://schemas.microsoft.com/office/drawing/2014/main" id="{D47B739A-910F-CA49-9DDE-07281210DA7E}"/>
                </a:ext>
              </a:extLst>
            </p:cNvPr>
            <p:cNvSpPr/>
            <p:nvPr/>
          </p:nvSpPr>
          <p:spPr>
            <a:xfrm>
              <a:off x="8461500" y="2157879"/>
              <a:ext cx="960000" cy="35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60" b="1" dirty="0">
                  <a:solidFill>
                    <a:srgbClr val="333333"/>
                  </a:solidFill>
                  <a:latin typeface="Pretendard" charset="0"/>
                  <a:ea typeface="Pretendard" charset="0"/>
                </a:rPr>
                <a:t>h = 2</a:t>
              </a:r>
            </a:p>
          </p:txBody>
        </p:sp>
        <p:sp>
          <p:nvSpPr>
            <p:cNvPr id="139" name="rh3">
              <a:extLst>
                <a:ext uri="{FF2B5EF4-FFF2-40B4-BE49-F238E27FC236}">
                  <a16:creationId xmlns:a16="http://schemas.microsoft.com/office/drawing/2014/main" id="{09EC56B0-34E8-030B-F7AA-DE7C25DDB3C1}"/>
                </a:ext>
              </a:extLst>
            </p:cNvPr>
            <p:cNvSpPr/>
            <p:nvPr/>
          </p:nvSpPr>
          <p:spPr>
            <a:xfrm>
              <a:off x="9421500" y="2157879"/>
              <a:ext cx="960000" cy="35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60" b="1" dirty="0">
                  <a:solidFill>
                    <a:srgbClr val="333333"/>
                  </a:solidFill>
                  <a:latin typeface="Pretendard" charset="0"/>
                  <a:ea typeface="Pretendard" charset="0"/>
                </a:rPr>
                <a:t>h = 3</a:t>
              </a:r>
            </a:p>
          </p:txBody>
        </p:sp>
        <p:sp>
          <p:nvSpPr>
            <p:cNvPr id="140" name="rh4">
              <a:extLst>
                <a:ext uri="{FF2B5EF4-FFF2-40B4-BE49-F238E27FC236}">
                  <a16:creationId xmlns:a16="http://schemas.microsoft.com/office/drawing/2014/main" id="{EF0F869D-C48F-616C-5314-F99E1E4C607D}"/>
                </a:ext>
              </a:extLst>
            </p:cNvPr>
            <p:cNvSpPr/>
            <p:nvPr/>
          </p:nvSpPr>
          <p:spPr>
            <a:xfrm>
              <a:off x="10381500" y="2157879"/>
              <a:ext cx="960000" cy="35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60" b="1" dirty="0">
                  <a:solidFill>
                    <a:srgbClr val="333333"/>
                  </a:solidFill>
                  <a:latin typeface="Pretendard" charset="0"/>
                  <a:ea typeface="Pretendard" charset="0"/>
                </a:rPr>
                <a:t>h = 4</a:t>
              </a:r>
            </a:p>
          </p:txBody>
        </p:sp>
        <p:sp>
          <p:nvSpPr>
            <p:cNvPr id="141" name="rhln">
              <a:extLst>
                <a:ext uri="{FF2B5EF4-FFF2-40B4-BE49-F238E27FC236}">
                  <a16:creationId xmlns:a16="http://schemas.microsoft.com/office/drawing/2014/main" id="{46D83BA6-476E-D0D1-686B-44932123E274}"/>
                </a:ext>
              </a:extLst>
            </p:cNvPr>
            <p:cNvSpPr/>
            <p:nvPr/>
          </p:nvSpPr>
          <p:spPr>
            <a:xfrm>
              <a:off x="6091500" y="2507879"/>
              <a:ext cx="5510000" cy="11000"/>
            </a:xfrm>
            <a:prstGeom prst="rect">
              <a:avLst/>
            </a:prstGeom>
            <a:solidFill>
              <a:srgbClr val="CCCCCC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42" name="mb0">
              <a:extLst>
                <a:ext uri="{FF2B5EF4-FFF2-40B4-BE49-F238E27FC236}">
                  <a16:creationId xmlns:a16="http://schemas.microsoft.com/office/drawing/2014/main" id="{7FB6587B-0D06-B73C-41E7-9B06724252D2}"/>
                </a:ext>
              </a:extLst>
            </p:cNvPr>
            <p:cNvSpPr/>
            <p:nvPr/>
          </p:nvSpPr>
          <p:spPr>
            <a:xfrm>
              <a:off x="6091500" y="2519879"/>
              <a:ext cx="5510000" cy="270000"/>
            </a:xfrm>
            <a:prstGeom prst="rect">
              <a:avLst/>
            </a:prstGeom>
            <a:solidFill>
              <a:srgbClr val="F1F8F1"/>
            </a:solidFill>
            <a:ln w="6350">
              <a:solidFill>
                <a:srgbClr val="DDDDDD"/>
              </a:solidFill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43" name="mbl0">
              <a:extLst>
                <a:ext uri="{FF2B5EF4-FFF2-40B4-BE49-F238E27FC236}">
                  <a16:creationId xmlns:a16="http://schemas.microsoft.com/office/drawing/2014/main" id="{1F204CFE-863C-9B80-DE3B-DA26F74F54EE}"/>
                </a:ext>
              </a:extLst>
            </p:cNvPr>
            <p:cNvSpPr/>
            <p:nvPr/>
          </p:nvSpPr>
          <p:spPr>
            <a:xfrm>
              <a:off x="6131500" y="2519879"/>
              <a:ext cx="5450000" cy="27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r>
                <a:rPr lang="ko-KR" altLang="en-US" sz="890" b="1" dirty="0">
                  <a:solidFill>
                    <a:srgbClr val="2E7D32"/>
                  </a:solidFill>
                  <a:latin typeface="Pretendard" charset="0"/>
                  <a:ea typeface="Pretendard" charset="0"/>
                </a:rPr>
                <a:t>▶  LightGBM</a:t>
              </a:r>
            </a:p>
          </p:txBody>
        </p:sp>
        <p:sp>
          <p:nvSpPr>
            <p:cNvPr id="144" name="ob00">
              <a:extLst>
                <a:ext uri="{FF2B5EF4-FFF2-40B4-BE49-F238E27FC236}">
                  <a16:creationId xmlns:a16="http://schemas.microsoft.com/office/drawing/2014/main" id="{33E37460-7CE0-F340-5C01-C10D83075764}"/>
                </a:ext>
              </a:extLst>
            </p:cNvPr>
            <p:cNvSpPr/>
            <p:nvPr/>
          </p:nvSpPr>
          <p:spPr>
            <a:xfrm>
              <a:off x="6091500" y="2789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45" name="op00">
              <a:extLst>
                <a:ext uri="{FF2B5EF4-FFF2-40B4-BE49-F238E27FC236}">
                  <a16:creationId xmlns:a16="http://schemas.microsoft.com/office/drawing/2014/main" id="{EE34DD96-3522-67A3-9700-9A311F9112EA}"/>
                </a:ext>
              </a:extLst>
            </p:cNvPr>
            <p:cNvSpPr/>
            <p:nvPr/>
          </p:nvSpPr>
          <p:spPr>
            <a:xfrm>
              <a:off x="6101500" y="2789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n_estimators</a:t>
              </a:r>
            </a:p>
          </p:txBody>
        </p:sp>
        <p:sp>
          <p:nvSpPr>
            <p:cNvPr id="146" name="ov000">
              <a:extLst>
                <a:ext uri="{FF2B5EF4-FFF2-40B4-BE49-F238E27FC236}">
                  <a16:creationId xmlns:a16="http://schemas.microsoft.com/office/drawing/2014/main" id="{150862B7-54BA-B7A2-35A0-C2E54F952E27}"/>
                </a:ext>
              </a:extLst>
            </p:cNvPr>
            <p:cNvSpPr/>
            <p:nvPr/>
          </p:nvSpPr>
          <p:spPr>
            <a:xfrm>
              <a:off x="7501500" y="278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675</a:t>
              </a:r>
            </a:p>
          </p:txBody>
        </p:sp>
        <p:sp>
          <p:nvSpPr>
            <p:cNvPr id="147" name="ov001">
              <a:extLst>
                <a:ext uri="{FF2B5EF4-FFF2-40B4-BE49-F238E27FC236}">
                  <a16:creationId xmlns:a16="http://schemas.microsoft.com/office/drawing/2014/main" id="{97A2A11C-A4D5-A5B7-98F2-3E8974C78C0F}"/>
                </a:ext>
              </a:extLst>
            </p:cNvPr>
            <p:cNvSpPr/>
            <p:nvPr/>
          </p:nvSpPr>
          <p:spPr>
            <a:xfrm>
              <a:off x="8461500" y="278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884</a:t>
              </a:r>
            </a:p>
          </p:txBody>
        </p:sp>
        <p:sp>
          <p:nvSpPr>
            <p:cNvPr id="148" name="ov002">
              <a:extLst>
                <a:ext uri="{FF2B5EF4-FFF2-40B4-BE49-F238E27FC236}">
                  <a16:creationId xmlns:a16="http://schemas.microsoft.com/office/drawing/2014/main" id="{E42E8056-F751-CED3-9AD6-C3E4FEA8480A}"/>
                </a:ext>
              </a:extLst>
            </p:cNvPr>
            <p:cNvSpPr/>
            <p:nvPr/>
          </p:nvSpPr>
          <p:spPr>
            <a:xfrm>
              <a:off x="9421500" y="278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917</a:t>
              </a:r>
            </a:p>
          </p:txBody>
        </p:sp>
        <p:sp>
          <p:nvSpPr>
            <p:cNvPr id="149" name="ov003">
              <a:extLst>
                <a:ext uri="{FF2B5EF4-FFF2-40B4-BE49-F238E27FC236}">
                  <a16:creationId xmlns:a16="http://schemas.microsoft.com/office/drawing/2014/main" id="{AE3E83B6-2C33-B541-0892-30E45E15C712}"/>
                </a:ext>
              </a:extLst>
            </p:cNvPr>
            <p:cNvSpPr/>
            <p:nvPr/>
          </p:nvSpPr>
          <p:spPr>
            <a:xfrm>
              <a:off x="10381500" y="278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838</a:t>
              </a:r>
            </a:p>
          </p:txBody>
        </p:sp>
        <p:sp>
          <p:nvSpPr>
            <p:cNvPr id="150" name="ob01">
              <a:extLst>
                <a:ext uri="{FF2B5EF4-FFF2-40B4-BE49-F238E27FC236}">
                  <a16:creationId xmlns:a16="http://schemas.microsoft.com/office/drawing/2014/main" id="{78D5431B-97E8-1522-E277-1ABBA46874D7}"/>
                </a:ext>
              </a:extLst>
            </p:cNvPr>
            <p:cNvSpPr/>
            <p:nvPr/>
          </p:nvSpPr>
          <p:spPr>
            <a:xfrm>
              <a:off x="6091500" y="2961879"/>
              <a:ext cx="5510000" cy="17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51" name="op01">
              <a:extLst>
                <a:ext uri="{FF2B5EF4-FFF2-40B4-BE49-F238E27FC236}">
                  <a16:creationId xmlns:a16="http://schemas.microsoft.com/office/drawing/2014/main" id="{D81C3066-B0D6-BD21-FC2C-970FFAE7CD99}"/>
                </a:ext>
              </a:extLst>
            </p:cNvPr>
            <p:cNvSpPr/>
            <p:nvPr/>
          </p:nvSpPr>
          <p:spPr>
            <a:xfrm>
              <a:off x="6101500" y="2961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learning_rate</a:t>
              </a:r>
            </a:p>
          </p:txBody>
        </p:sp>
        <p:sp>
          <p:nvSpPr>
            <p:cNvPr id="152" name="ov010">
              <a:extLst>
                <a:ext uri="{FF2B5EF4-FFF2-40B4-BE49-F238E27FC236}">
                  <a16:creationId xmlns:a16="http://schemas.microsoft.com/office/drawing/2014/main" id="{DD915280-C305-B9E2-19A2-4AA7237ED055}"/>
                </a:ext>
              </a:extLst>
            </p:cNvPr>
            <p:cNvSpPr/>
            <p:nvPr/>
          </p:nvSpPr>
          <p:spPr>
            <a:xfrm>
              <a:off x="7501500" y="296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0.0291</a:t>
              </a:r>
            </a:p>
          </p:txBody>
        </p:sp>
        <p:sp>
          <p:nvSpPr>
            <p:cNvPr id="153" name="ov011">
              <a:extLst>
                <a:ext uri="{FF2B5EF4-FFF2-40B4-BE49-F238E27FC236}">
                  <a16:creationId xmlns:a16="http://schemas.microsoft.com/office/drawing/2014/main" id="{76436EAC-7C81-B1C9-7F30-5D9CCEFD036A}"/>
                </a:ext>
              </a:extLst>
            </p:cNvPr>
            <p:cNvSpPr/>
            <p:nvPr/>
          </p:nvSpPr>
          <p:spPr>
            <a:xfrm>
              <a:off x="8461500" y="296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0.0315</a:t>
              </a:r>
            </a:p>
          </p:txBody>
        </p:sp>
        <p:sp>
          <p:nvSpPr>
            <p:cNvPr id="154" name="ov012">
              <a:extLst>
                <a:ext uri="{FF2B5EF4-FFF2-40B4-BE49-F238E27FC236}">
                  <a16:creationId xmlns:a16="http://schemas.microsoft.com/office/drawing/2014/main" id="{FE70A627-6C04-24C9-6389-2CBBA5815F43}"/>
                </a:ext>
              </a:extLst>
            </p:cNvPr>
            <p:cNvSpPr/>
            <p:nvPr/>
          </p:nvSpPr>
          <p:spPr>
            <a:xfrm>
              <a:off x="9421500" y="296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0.0283</a:t>
              </a:r>
            </a:p>
          </p:txBody>
        </p:sp>
        <p:sp>
          <p:nvSpPr>
            <p:cNvPr id="155" name="ov013">
              <a:extLst>
                <a:ext uri="{FF2B5EF4-FFF2-40B4-BE49-F238E27FC236}">
                  <a16:creationId xmlns:a16="http://schemas.microsoft.com/office/drawing/2014/main" id="{97ABA20A-6C7A-2397-C634-21A6A61DB30F}"/>
                </a:ext>
              </a:extLst>
            </p:cNvPr>
            <p:cNvSpPr/>
            <p:nvPr/>
          </p:nvSpPr>
          <p:spPr>
            <a:xfrm>
              <a:off x="10381500" y="296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0.0479</a:t>
              </a:r>
            </a:p>
          </p:txBody>
        </p:sp>
        <p:sp>
          <p:nvSpPr>
            <p:cNvPr id="156" name="ob02">
              <a:extLst>
                <a:ext uri="{FF2B5EF4-FFF2-40B4-BE49-F238E27FC236}">
                  <a16:creationId xmlns:a16="http://schemas.microsoft.com/office/drawing/2014/main" id="{BFD6BD2E-DBD4-7355-A8C7-60AA270F075A}"/>
                </a:ext>
              </a:extLst>
            </p:cNvPr>
            <p:cNvSpPr/>
            <p:nvPr/>
          </p:nvSpPr>
          <p:spPr>
            <a:xfrm>
              <a:off x="6091500" y="3133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57" name="op02">
              <a:extLst>
                <a:ext uri="{FF2B5EF4-FFF2-40B4-BE49-F238E27FC236}">
                  <a16:creationId xmlns:a16="http://schemas.microsoft.com/office/drawing/2014/main" id="{7C5AABF2-A3B3-C414-94F3-D7B7AA60641A}"/>
                </a:ext>
              </a:extLst>
            </p:cNvPr>
            <p:cNvSpPr/>
            <p:nvPr/>
          </p:nvSpPr>
          <p:spPr>
            <a:xfrm>
              <a:off x="6101500" y="3133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num_leaves</a:t>
              </a:r>
            </a:p>
          </p:txBody>
        </p:sp>
        <p:sp>
          <p:nvSpPr>
            <p:cNvPr id="158" name="ov020">
              <a:extLst>
                <a:ext uri="{FF2B5EF4-FFF2-40B4-BE49-F238E27FC236}">
                  <a16:creationId xmlns:a16="http://schemas.microsoft.com/office/drawing/2014/main" id="{AB961940-54A1-90A1-18AA-6B10DF436238}"/>
                </a:ext>
              </a:extLst>
            </p:cNvPr>
            <p:cNvSpPr/>
            <p:nvPr/>
          </p:nvSpPr>
          <p:spPr>
            <a:xfrm>
              <a:off x="7501500" y="313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66</a:t>
              </a:r>
            </a:p>
          </p:txBody>
        </p:sp>
        <p:sp>
          <p:nvSpPr>
            <p:cNvPr id="159" name="ov021">
              <a:extLst>
                <a:ext uri="{FF2B5EF4-FFF2-40B4-BE49-F238E27FC236}">
                  <a16:creationId xmlns:a16="http://schemas.microsoft.com/office/drawing/2014/main" id="{06D75048-1E73-BE6C-0C63-E9D98D68C5DA}"/>
                </a:ext>
              </a:extLst>
            </p:cNvPr>
            <p:cNvSpPr/>
            <p:nvPr/>
          </p:nvSpPr>
          <p:spPr>
            <a:xfrm>
              <a:off x="8461500" y="313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44</a:t>
              </a:r>
            </a:p>
          </p:txBody>
        </p:sp>
        <p:sp>
          <p:nvSpPr>
            <p:cNvPr id="160" name="ov022">
              <a:extLst>
                <a:ext uri="{FF2B5EF4-FFF2-40B4-BE49-F238E27FC236}">
                  <a16:creationId xmlns:a16="http://schemas.microsoft.com/office/drawing/2014/main" id="{D4DC5FEE-D9C5-76F6-92E7-17C9934046D6}"/>
                </a:ext>
              </a:extLst>
            </p:cNvPr>
            <p:cNvSpPr/>
            <p:nvPr/>
          </p:nvSpPr>
          <p:spPr>
            <a:xfrm>
              <a:off x="9421500" y="313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59</a:t>
              </a:r>
            </a:p>
          </p:txBody>
        </p:sp>
        <p:sp>
          <p:nvSpPr>
            <p:cNvPr id="161" name="ov023">
              <a:extLst>
                <a:ext uri="{FF2B5EF4-FFF2-40B4-BE49-F238E27FC236}">
                  <a16:creationId xmlns:a16="http://schemas.microsoft.com/office/drawing/2014/main" id="{92AFC3F2-2A5A-9E2D-FD3D-6865E387F4AB}"/>
                </a:ext>
              </a:extLst>
            </p:cNvPr>
            <p:cNvSpPr/>
            <p:nvPr/>
          </p:nvSpPr>
          <p:spPr>
            <a:xfrm>
              <a:off x="10381500" y="313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70</a:t>
              </a:r>
            </a:p>
          </p:txBody>
        </p:sp>
        <p:sp>
          <p:nvSpPr>
            <p:cNvPr id="162" name="ob03">
              <a:extLst>
                <a:ext uri="{FF2B5EF4-FFF2-40B4-BE49-F238E27FC236}">
                  <a16:creationId xmlns:a16="http://schemas.microsoft.com/office/drawing/2014/main" id="{B84BB7A2-7B10-FA2E-D90E-C6E9D3E19C83}"/>
                </a:ext>
              </a:extLst>
            </p:cNvPr>
            <p:cNvSpPr/>
            <p:nvPr/>
          </p:nvSpPr>
          <p:spPr>
            <a:xfrm>
              <a:off x="6091500" y="3305879"/>
              <a:ext cx="5510000" cy="17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63" name="op03">
              <a:extLst>
                <a:ext uri="{FF2B5EF4-FFF2-40B4-BE49-F238E27FC236}">
                  <a16:creationId xmlns:a16="http://schemas.microsoft.com/office/drawing/2014/main" id="{EDCCEBE1-0589-0B52-ECDB-51AE8E2EBAD7}"/>
                </a:ext>
              </a:extLst>
            </p:cNvPr>
            <p:cNvSpPr/>
            <p:nvPr/>
          </p:nvSpPr>
          <p:spPr>
            <a:xfrm>
              <a:off x="6101500" y="3305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max_depth</a:t>
              </a:r>
            </a:p>
          </p:txBody>
        </p:sp>
        <p:sp>
          <p:nvSpPr>
            <p:cNvPr id="164" name="ov030">
              <a:extLst>
                <a:ext uri="{FF2B5EF4-FFF2-40B4-BE49-F238E27FC236}">
                  <a16:creationId xmlns:a16="http://schemas.microsoft.com/office/drawing/2014/main" id="{3474CAE5-6AE4-6AA8-D613-7738CFD6C666}"/>
                </a:ext>
              </a:extLst>
            </p:cNvPr>
            <p:cNvSpPr/>
            <p:nvPr/>
          </p:nvSpPr>
          <p:spPr>
            <a:xfrm>
              <a:off x="7501500" y="330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10</a:t>
              </a:r>
            </a:p>
          </p:txBody>
        </p:sp>
        <p:sp>
          <p:nvSpPr>
            <p:cNvPr id="165" name="ov031">
              <a:extLst>
                <a:ext uri="{FF2B5EF4-FFF2-40B4-BE49-F238E27FC236}">
                  <a16:creationId xmlns:a16="http://schemas.microsoft.com/office/drawing/2014/main" id="{AD83D51F-D76E-7EB8-992A-BDDC43DBB0E7}"/>
                </a:ext>
              </a:extLst>
            </p:cNvPr>
            <p:cNvSpPr/>
            <p:nvPr/>
          </p:nvSpPr>
          <p:spPr>
            <a:xfrm>
              <a:off x="8461500" y="330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9</a:t>
              </a:r>
            </a:p>
          </p:txBody>
        </p:sp>
        <p:sp>
          <p:nvSpPr>
            <p:cNvPr id="166" name="ov032">
              <a:extLst>
                <a:ext uri="{FF2B5EF4-FFF2-40B4-BE49-F238E27FC236}">
                  <a16:creationId xmlns:a16="http://schemas.microsoft.com/office/drawing/2014/main" id="{FB29CF57-276A-690A-D7C0-68C65060890B}"/>
                </a:ext>
              </a:extLst>
            </p:cNvPr>
            <p:cNvSpPr/>
            <p:nvPr/>
          </p:nvSpPr>
          <p:spPr>
            <a:xfrm>
              <a:off x="9421500" y="330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</a:t>
              </a:r>
            </a:p>
          </p:txBody>
        </p:sp>
        <p:sp>
          <p:nvSpPr>
            <p:cNvPr id="167" name="ov033">
              <a:extLst>
                <a:ext uri="{FF2B5EF4-FFF2-40B4-BE49-F238E27FC236}">
                  <a16:creationId xmlns:a16="http://schemas.microsoft.com/office/drawing/2014/main" id="{1679F520-3E88-92AC-2CAC-ED46454D2C43}"/>
                </a:ext>
              </a:extLst>
            </p:cNvPr>
            <p:cNvSpPr/>
            <p:nvPr/>
          </p:nvSpPr>
          <p:spPr>
            <a:xfrm>
              <a:off x="10381500" y="330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9</a:t>
              </a:r>
            </a:p>
          </p:txBody>
        </p:sp>
        <p:sp>
          <p:nvSpPr>
            <p:cNvPr id="168" name="ob04">
              <a:extLst>
                <a:ext uri="{FF2B5EF4-FFF2-40B4-BE49-F238E27FC236}">
                  <a16:creationId xmlns:a16="http://schemas.microsoft.com/office/drawing/2014/main" id="{75205634-F4A6-DCB6-2E9D-3A06883E8FD3}"/>
                </a:ext>
              </a:extLst>
            </p:cNvPr>
            <p:cNvSpPr/>
            <p:nvPr/>
          </p:nvSpPr>
          <p:spPr>
            <a:xfrm>
              <a:off x="6091500" y="3477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69" name="op04">
              <a:extLst>
                <a:ext uri="{FF2B5EF4-FFF2-40B4-BE49-F238E27FC236}">
                  <a16:creationId xmlns:a16="http://schemas.microsoft.com/office/drawing/2014/main" id="{5308DE88-0536-B1BE-7343-E7BEF8E83D6B}"/>
                </a:ext>
              </a:extLst>
            </p:cNvPr>
            <p:cNvSpPr/>
            <p:nvPr/>
          </p:nvSpPr>
          <p:spPr>
            <a:xfrm>
              <a:off x="6101500" y="3477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reg_lambda</a:t>
              </a:r>
            </a:p>
          </p:txBody>
        </p:sp>
        <p:sp>
          <p:nvSpPr>
            <p:cNvPr id="170" name="ov040">
              <a:extLst>
                <a:ext uri="{FF2B5EF4-FFF2-40B4-BE49-F238E27FC236}">
                  <a16:creationId xmlns:a16="http://schemas.microsoft.com/office/drawing/2014/main" id="{98ABD441-AD48-0C90-5478-0504F10521F9}"/>
                </a:ext>
              </a:extLst>
            </p:cNvPr>
            <p:cNvSpPr/>
            <p:nvPr/>
          </p:nvSpPr>
          <p:spPr>
            <a:xfrm>
              <a:off x="7501500" y="347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5.21</a:t>
              </a:r>
            </a:p>
          </p:txBody>
        </p:sp>
        <p:sp>
          <p:nvSpPr>
            <p:cNvPr id="171" name="ov041">
              <a:extLst>
                <a:ext uri="{FF2B5EF4-FFF2-40B4-BE49-F238E27FC236}">
                  <a16:creationId xmlns:a16="http://schemas.microsoft.com/office/drawing/2014/main" id="{B48B0B9E-D060-70C7-CF23-9A6C0C7065FD}"/>
                </a:ext>
              </a:extLst>
            </p:cNvPr>
            <p:cNvSpPr/>
            <p:nvPr/>
          </p:nvSpPr>
          <p:spPr>
            <a:xfrm>
              <a:off x="8461500" y="347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7.19</a:t>
              </a:r>
            </a:p>
          </p:txBody>
        </p:sp>
        <p:sp>
          <p:nvSpPr>
            <p:cNvPr id="172" name="ov042">
              <a:extLst>
                <a:ext uri="{FF2B5EF4-FFF2-40B4-BE49-F238E27FC236}">
                  <a16:creationId xmlns:a16="http://schemas.microsoft.com/office/drawing/2014/main" id="{CB8FA21F-8236-C297-DF23-602EB6289A70}"/>
                </a:ext>
              </a:extLst>
            </p:cNvPr>
            <p:cNvSpPr/>
            <p:nvPr/>
          </p:nvSpPr>
          <p:spPr>
            <a:xfrm>
              <a:off x="9421500" y="347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0.98</a:t>
              </a:r>
            </a:p>
          </p:txBody>
        </p:sp>
        <p:sp>
          <p:nvSpPr>
            <p:cNvPr id="173" name="ov043">
              <a:extLst>
                <a:ext uri="{FF2B5EF4-FFF2-40B4-BE49-F238E27FC236}">
                  <a16:creationId xmlns:a16="http://schemas.microsoft.com/office/drawing/2014/main" id="{7C2265F3-7860-82C2-9D7E-9DF0BC958913}"/>
                </a:ext>
              </a:extLst>
            </p:cNvPr>
            <p:cNvSpPr/>
            <p:nvPr/>
          </p:nvSpPr>
          <p:spPr>
            <a:xfrm>
              <a:off x="10381500" y="347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7.42</a:t>
              </a:r>
            </a:p>
          </p:txBody>
        </p:sp>
        <p:sp>
          <p:nvSpPr>
            <p:cNvPr id="174" name="mb1">
              <a:extLst>
                <a:ext uri="{FF2B5EF4-FFF2-40B4-BE49-F238E27FC236}">
                  <a16:creationId xmlns:a16="http://schemas.microsoft.com/office/drawing/2014/main" id="{A4200F72-7E56-8539-D943-ADA0E8712E97}"/>
                </a:ext>
              </a:extLst>
            </p:cNvPr>
            <p:cNvSpPr/>
            <p:nvPr/>
          </p:nvSpPr>
          <p:spPr>
            <a:xfrm>
              <a:off x="6091500" y="3657879"/>
              <a:ext cx="5510000" cy="270000"/>
            </a:xfrm>
            <a:prstGeom prst="rect">
              <a:avLst/>
            </a:prstGeom>
            <a:solidFill>
              <a:srgbClr val="F0F4FF"/>
            </a:solidFill>
            <a:ln w="6350">
              <a:solidFill>
                <a:srgbClr val="DDDDDD"/>
              </a:solidFill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75" name="mbl1">
              <a:extLst>
                <a:ext uri="{FF2B5EF4-FFF2-40B4-BE49-F238E27FC236}">
                  <a16:creationId xmlns:a16="http://schemas.microsoft.com/office/drawing/2014/main" id="{2C556143-A039-16A4-1B29-559208B71A1B}"/>
                </a:ext>
              </a:extLst>
            </p:cNvPr>
            <p:cNvSpPr/>
            <p:nvPr/>
          </p:nvSpPr>
          <p:spPr>
            <a:xfrm>
              <a:off x="6131500" y="3657879"/>
              <a:ext cx="5450000" cy="27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r>
                <a:rPr lang="ko-KR" altLang="en-US" sz="890" b="1" dirty="0">
                  <a:solidFill>
                    <a:srgbClr val="1565C0"/>
                  </a:solidFill>
                  <a:latin typeface="Pretendard" charset="0"/>
                  <a:ea typeface="Pretendard" charset="0"/>
                </a:rPr>
                <a:t>▶  XGBoost</a:t>
              </a:r>
            </a:p>
          </p:txBody>
        </p:sp>
        <p:sp>
          <p:nvSpPr>
            <p:cNvPr id="176" name="ob10">
              <a:extLst>
                <a:ext uri="{FF2B5EF4-FFF2-40B4-BE49-F238E27FC236}">
                  <a16:creationId xmlns:a16="http://schemas.microsoft.com/office/drawing/2014/main" id="{EA58BDD3-7D02-57AA-C5E8-F4FB7511B19D}"/>
                </a:ext>
              </a:extLst>
            </p:cNvPr>
            <p:cNvSpPr/>
            <p:nvPr/>
          </p:nvSpPr>
          <p:spPr>
            <a:xfrm>
              <a:off x="6091500" y="3927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77" name="op10">
              <a:extLst>
                <a:ext uri="{FF2B5EF4-FFF2-40B4-BE49-F238E27FC236}">
                  <a16:creationId xmlns:a16="http://schemas.microsoft.com/office/drawing/2014/main" id="{53D6A26F-9C22-EACB-76CD-4F63103A79A8}"/>
                </a:ext>
              </a:extLst>
            </p:cNvPr>
            <p:cNvSpPr/>
            <p:nvPr/>
          </p:nvSpPr>
          <p:spPr>
            <a:xfrm>
              <a:off x="6101500" y="3927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n_estimators</a:t>
              </a:r>
            </a:p>
          </p:txBody>
        </p:sp>
        <p:sp>
          <p:nvSpPr>
            <p:cNvPr id="178" name="ov100">
              <a:extLst>
                <a:ext uri="{FF2B5EF4-FFF2-40B4-BE49-F238E27FC236}">
                  <a16:creationId xmlns:a16="http://schemas.microsoft.com/office/drawing/2014/main" id="{D865DF10-8006-2451-DF14-7B548E63F99E}"/>
                </a:ext>
              </a:extLst>
            </p:cNvPr>
            <p:cNvSpPr/>
            <p:nvPr/>
          </p:nvSpPr>
          <p:spPr>
            <a:xfrm>
              <a:off x="7501500" y="392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473</a:t>
              </a:r>
            </a:p>
          </p:txBody>
        </p:sp>
        <p:sp>
          <p:nvSpPr>
            <p:cNvPr id="179" name="ov101">
              <a:extLst>
                <a:ext uri="{FF2B5EF4-FFF2-40B4-BE49-F238E27FC236}">
                  <a16:creationId xmlns:a16="http://schemas.microsoft.com/office/drawing/2014/main" id="{328C4DB9-1B62-EBB5-9114-669446B438F0}"/>
                </a:ext>
              </a:extLst>
            </p:cNvPr>
            <p:cNvSpPr/>
            <p:nvPr/>
          </p:nvSpPr>
          <p:spPr>
            <a:xfrm>
              <a:off x="8461500" y="392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551</a:t>
              </a:r>
            </a:p>
          </p:txBody>
        </p:sp>
        <p:sp>
          <p:nvSpPr>
            <p:cNvPr id="180" name="ov102">
              <a:extLst>
                <a:ext uri="{FF2B5EF4-FFF2-40B4-BE49-F238E27FC236}">
                  <a16:creationId xmlns:a16="http://schemas.microsoft.com/office/drawing/2014/main" id="{055C2199-EE94-D145-C90B-1C51688FF699}"/>
                </a:ext>
              </a:extLst>
            </p:cNvPr>
            <p:cNvSpPr/>
            <p:nvPr/>
          </p:nvSpPr>
          <p:spPr>
            <a:xfrm>
              <a:off x="9421500" y="392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641</a:t>
              </a:r>
            </a:p>
          </p:txBody>
        </p:sp>
        <p:sp>
          <p:nvSpPr>
            <p:cNvPr id="181" name="ov103">
              <a:extLst>
                <a:ext uri="{FF2B5EF4-FFF2-40B4-BE49-F238E27FC236}">
                  <a16:creationId xmlns:a16="http://schemas.microsoft.com/office/drawing/2014/main" id="{B8B20117-7FC4-8BAB-0C2C-A9C2918C2F76}"/>
                </a:ext>
              </a:extLst>
            </p:cNvPr>
            <p:cNvSpPr/>
            <p:nvPr/>
          </p:nvSpPr>
          <p:spPr>
            <a:xfrm>
              <a:off x="10381500" y="392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545</a:t>
              </a:r>
            </a:p>
          </p:txBody>
        </p:sp>
        <p:sp>
          <p:nvSpPr>
            <p:cNvPr id="182" name="ob11">
              <a:extLst>
                <a:ext uri="{FF2B5EF4-FFF2-40B4-BE49-F238E27FC236}">
                  <a16:creationId xmlns:a16="http://schemas.microsoft.com/office/drawing/2014/main" id="{C79A5E91-008F-6272-67BA-F64408490AED}"/>
                </a:ext>
              </a:extLst>
            </p:cNvPr>
            <p:cNvSpPr/>
            <p:nvPr/>
          </p:nvSpPr>
          <p:spPr>
            <a:xfrm>
              <a:off x="6091500" y="4099879"/>
              <a:ext cx="5510000" cy="17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83" name="op11">
              <a:extLst>
                <a:ext uri="{FF2B5EF4-FFF2-40B4-BE49-F238E27FC236}">
                  <a16:creationId xmlns:a16="http://schemas.microsoft.com/office/drawing/2014/main" id="{DC7E278C-00F7-010F-BDE8-17FB49EEDD74}"/>
                </a:ext>
              </a:extLst>
            </p:cNvPr>
            <p:cNvSpPr/>
            <p:nvPr/>
          </p:nvSpPr>
          <p:spPr>
            <a:xfrm>
              <a:off x="6101500" y="4099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learning_rate</a:t>
              </a:r>
            </a:p>
          </p:txBody>
        </p:sp>
        <p:sp>
          <p:nvSpPr>
            <p:cNvPr id="184" name="ov110">
              <a:extLst>
                <a:ext uri="{FF2B5EF4-FFF2-40B4-BE49-F238E27FC236}">
                  <a16:creationId xmlns:a16="http://schemas.microsoft.com/office/drawing/2014/main" id="{42D20613-697F-1785-5056-BA5EE6EE4A4B}"/>
                </a:ext>
              </a:extLst>
            </p:cNvPr>
            <p:cNvSpPr/>
            <p:nvPr/>
          </p:nvSpPr>
          <p:spPr>
            <a:xfrm>
              <a:off x="7501500" y="409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0.0414</a:t>
              </a:r>
            </a:p>
          </p:txBody>
        </p:sp>
        <p:sp>
          <p:nvSpPr>
            <p:cNvPr id="185" name="ov111">
              <a:extLst>
                <a:ext uri="{FF2B5EF4-FFF2-40B4-BE49-F238E27FC236}">
                  <a16:creationId xmlns:a16="http://schemas.microsoft.com/office/drawing/2014/main" id="{30F2AB59-B99C-B69B-1085-9E6E8EF11D6E}"/>
                </a:ext>
              </a:extLst>
            </p:cNvPr>
            <p:cNvSpPr/>
            <p:nvPr/>
          </p:nvSpPr>
          <p:spPr>
            <a:xfrm>
              <a:off x="8461500" y="409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0.0377</a:t>
              </a:r>
            </a:p>
          </p:txBody>
        </p:sp>
        <p:sp>
          <p:nvSpPr>
            <p:cNvPr id="186" name="ov112">
              <a:extLst>
                <a:ext uri="{FF2B5EF4-FFF2-40B4-BE49-F238E27FC236}">
                  <a16:creationId xmlns:a16="http://schemas.microsoft.com/office/drawing/2014/main" id="{32C5705E-2736-8548-09E5-0E93EDEA3B96}"/>
                </a:ext>
              </a:extLst>
            </p:cNvPr>
            <p:cNvSpPr/>
            <p:nvPr/>
          </p:nvSpPr>
          <p:spPr>
            <a:xfrm>
              <a:off x="9421500" y="409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0.0334</a:t>
              </a:r>
            </a:p>
          </p:txBody>
        </p:sp>
        <p:sp>
          <p:nvSpPr>
            <p:cNvPr id="187" name="ov113">
              <a:extLst>
                <a:ext uri="{FF2B5EF4-FFF2-40B4-BE49-F238E27FC236}">
                  <a16:creationId xmlns:a16="http://schemas.microsoft.com/office/drawing/2014/main" id="{428A1016-4E54-4210-C258-9B5A335094BD}"/>
                </a:ext>
              </a:extLst>
            </p:cNvPr>
            <p:cNvSpPr/>
            <p:nvPr/>
          </p:nvSpPr>
          <p:spPr>
            <a:xfrm>
              <a:off x="10381500" y="4099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0.0424</a:t>
              </a:r>
            </a:p>
          </p:txBody>
        </p:sp>
        <p:sp>
          <p:nvSpPr>
            <p:cNvPr id="188" name="ob12">
              <a:extLst>
                <a:ext uri="{FF2B5EF4-FFF2-40B4-BE49-F238E27FC236}">
                  <a16:creationId xmlns:a16="http://schemas.microsoft.com/office/drawing/2014/main" id="{63F85C04-7CD2-E800-7D44-7F28541530A4}"/>
                </a:ext>
              </a:extLst>
            </p:cNvPr>
            <p:cNvSpPr/>
            <p:nvPr/>
          </p:nvSpPr>
          <p:spPr>
            <a:xfrm>
              <a:off x="6091500" y="4271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89" name="op12">
              <a:extLst>
                <a:ext uri="{FF2B5EF4-FFF2-40B4-BE49-F238E27FC236}">
                  <a16:creationId xmlns:a16="http://schemas.microsoft.com/office/drawing/2014/main" id="{28616E66-E8FA-67DE-D1AE-DF7FB09DFECE}"/>
                </a:ext>
              </a:extLst>
            </p:cNvPr>
            <p:cNvSpPr/>
            <p:nvPr/>
          </p:nvSpPr>
          <p:spPr>
            <a:xfrm>
              <a:off x="6101500" y="4271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max_depth</a:t>
              </a:r>
            </a:p>
          </p:txBody>
        </p:sp>
        <p:sp>
          <p:nvSpPr>
            <p:cNvPr id="190" name="ov120">
              <a:extLst>
                <a:ext uri="{FF2B5EF4-FFF2-40B4-BE49-F238E27FC236}">
                  <a16:creationId xmlns:a16="http://schemas.microsoft.com/office/drawing/2014/main" id="{382828F6-FC3C-DACF-1EE3-9B80DA3415EE}"/>
                </a:ext>
              </a:extLst>
            </p:cNvPr>
            <p:cNvSpPr/>
            <p:nvPr/>
          </p:nvSpPr>
          <p:spPr>
            <a:xfrm>
              <a:off x="7501500" y="427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</a:t>
              </a:r>
            </a:p>
          </p:txBody>
        </p:sp>
        <p:sp>
          <p:nvSpPr>
            <p:cNvPr id="191" name="ov121">
              <a:extLst>
                <a:ext uri="{FF2B5EF4-FFF2-40B4-BE49-F238E27FC236}">
                  <a16:creationId xmlns:a16="http://schemas.microsoft.com/office/drawing/2014/main" id="{CD7691A5-F191-BBE6-C109-AB1A8EF53986}"/>
                </a:ext>
              </a:extLst>
            </p:cNvPr>
            <p:cNvSpPr/>
            <p:nvPr/>
          </p:nvSpPr>
          <p:spPr>
            <a:xfrm>
              <a:off x="8461500" y="427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9</a:t>
              </a:r>
            </a:p>
          </p:txBody>
        </p:sp>
        <p:sp>
          <p:nvSpPr>
            <p:cNvPr id="192" name="ov122">
              <a:extLst>
                <a:ext uri="{FF2B5EF4-FFF2-40B4-BE49-F238E27FC236}">
                  <a16:creationId xmlns:a16="http://schemas.microsoft.com/office/drawing/2014/main" id="{1CDDF162-1694-284D-5075-FCF270C1DBE6}"/>
                </a:ext>
              </a:extLst>
            </p:cNvPr>
            <p:cNvSpPr/>
            <p:nvPr/>
          </p:nvSpPr>
          <p:spPr>
            <a:xfrm>
              <a:off x="9421500" y="427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</a:t>
              </a:r>
            </a:p>
          </p:txBody>
        </p:sp>
        <p:sp>
          <p:nvSpPr>
            <p:cNvPr id="193" name="ov123">
              <a:extLst>
                <a:ext uri="{FF2B5EF4-FFF2-40B4-BE49-F238E27FC236}">
                  <a16:creationId xmlns:a16="http://schemas.microsoft.com/office/drawing/2014/main" id="{65F032F0-B8EE-E04B-E42C-77D5A25727F6}"/>
                </a:ext>
              </a:extLst>
            </p:cNvPr>
            <p:cNvSpPr/>
            <p:nvPr/>
          </p:nvSpPr>
          <p:spPr>
            <a:xfrm>
              <a:off x="10381500" y="4271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</a:t>
              </a:r>
            </a:p>
          </p:txBody>
        </p:sp>
        <p:sp>
          <p:nvSpPr>
            <p:cNvPr id="194" name="ob13">
              <a:extLst>
                <a:ext uri="{FF2B5EF4-FFF2-40B4-BE49-F238E27FC236}">
                  <a16:creationId xmlns:a16="http://schemas.microsoft.com/office/drawing/2014/main" id="{983D45AC-2D30-2C6E-8742-1DB9504E9149}"/>
                </a:ext>
              </a:extLst>
            </p:cNvPr>
            <p:cNvSpPr/>
            <p:nvPr/>
          </p:nvSpPr>
          <p:spPr>
            <a:xfrm>
              <a:off x="6091500" y="4443879"/>
              <a:ext cx="5510000" cy="17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195" name="op13">
              <a:extLst>
                <a:ext uri="{FF2B5EF4-FFF2-40B4-BE49-F238E27FC236}">
                  <a16:creationId xmlns:a16="http://schemas.microsoft.com/office/drawing/2014/main" id="{BA1CFCD6-BD4D-43EF-F346-E4383BE8DC8B}"/>
                </a:ext>
              </a:extLst>
            </p:cNvPr>
            <p:cNvSpPr/>
            <p:nvPr/>
          </p:nvSpPr>
          <p:spPr>
            <a:xfrm>
              <a:off x="6101500" y="4443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reg_lambda</a:t>
              </a:r>
            </a:p>
          </p:txBody>
        </p:sp>
        <p:sp>
          <p:nvSpPr>
            <p:cNvPr id="196" name="ov130">
              <a:extLst>
                <a:ext uri="{FF2B5EF4-FFF2-40B4-BE49-F238E27FC236}">
                  <a16:creationId xmlns:a16="http://schemas.microsoft.com/office/drawing/2014/main" id="{670447AD-A3B1-09BF-33B2-EF6D2A834A0F}"/>
                </a:ext>
              </a:extLst>
            </p:cNvPr>
            <p:cNvSpPr/>
            <p:nvPr/>
          </p:nvSpPr>
          <p:spPr>
            <a:xfrm>
              <a:off x="7501500" y="444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4.64</a:t>
              </a:r>
            </a:p>
          </p:txBody>
        </p:sp>
        <p:sp>
          <p:nvSpPr>
            <p:cNvPr id="197" name="ov131">
              <a:extLst>
                <a:ext uri="{FF2B5EF4-FFF2-40B4-BE49-F238E27FC236}">
                  <a16:creationId xmlns:a16="http://schemas.microsoft.com/office/drawing/2014/main" id="{872ABEAB-C944-2816-FD10-764A8315FECB}"/>
                </a:ext>
              </a:extLst>
            </p:cNvPr>
            <p:cNvSpPr/>
            <p:nvPr/>
          </p:nvSpPr>
          <p:spPr>
            <a:xfrm>
              <a:off x="8461500" y="444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7.22</a:t>
              </a:r>
            </a:p>
          </p:txBody>
        </p:sp>
        <p:sp>
          <p:nvSpPr>
            <p:cNvPr id="198" name="ov132">
              <a:extLst>
                <a:ext uri="{FF2B5EF4-FFF2-40B4-BE49-F238E27FC236}">
                  <a16:creationId xmlns:a16="http://schemas.microsoft.com/office/drawing/2014/main" id="{5E085917-B9B2-392F-3AA4-ED86DB5BE447}"/>
                </a:ext>
              </a:extLst>
            </p:cNvPr>
            <p:cNvSpPr/>
            <p:nvPr/>
          </p:nvSpPr>
          <p:spPr>
            <a:xfrm>
              <a:off x="9421500" y="444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6.47</a:t>
              </a:r>
            </a:p>
          </p:txBody>
        </p:sp>
        <p:sp>
          <p:nvSpPr>
            <p:cNvPr id="199" name="ov133">
              <a:extLst>
                <a:ext uri="{FF2B5EF4-FFF2-40B4-BE49-F238E27FC236}">
                  <a16:creationId xmlns:a16="http://schemas.microsoft.com/office/drawing/2014/main" id="{0C7853C9-AC18-B4A1-CF6A-987800C949A7}"/>
                </a:ext>
              </a:extLst>
            </p:cNvPr>
            <p:cNvSpPr/>
            <p:nvPr/>
          </p:nvSpPr>
          <p:spPr>
            <a:xfrm>
              <a:off x="10381500" y="444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8.65</a:t>
              </a:r>
            </a:p>
          </p:txBody>
        </p:sp>
        <p:sp>
          <p:nvSpPr>
            <p:cNvPr id="200" name="mb2">
              <a:extLst>
                <a:ext uri="{FF2B5EF4-FFF2-40B4-BE49-F238E27FC236}">
                  <a16:creationId xmlns:a16="http://schemas.microsoft.com/office/drawing/2014/main" id="{96FECC44-A5D8-8219-6B92-FD7C87D6B022}"/>
                </a:ext>
              </a:extLst>
            </p:cNvPr>
            <p:cNvSpPr/>
            <p:nvPr/>
          </p:nvSpPr>
          <p:spPr>
            <a:xfrm>
              <a:off x="6091500" y="4623879"/>
              <a:ext cx="5510000" cy="270000"/>
            </a:xfrm>
            <a:prstGeom prst="rect">
              <a:avLst/>
            </a:prstGeom>
            <a:solidFill>
              <a:srgbClr val="FAF0FF"/>
            </a:solidFill>
            <a:ln w="6350">
              <a:solidFill>
                <a:srgbClr val="DDDDDD"/>
              </a:solidFill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201" name="mbl2">
              <a:extLst>
                <a:ext uri="{FF2B5EF4-FFF2-40B4-BE49-F238E27FC236}">
                  <a16:creationId xmlns:a16="http://schemas.microsoft.com/office/drawing/2014/main" id="{87F261FA-B842-6BBB-9B43-8EE7C5514B37}"/>
                </a:ext>
              </a:extLst>
            </p:cNvPr>
            <p:cNvSpPr/>
            <p:nvPr/>
          </p:nvSpPr>
          <p:spPr>
            <a:xfrm>
              <a:off x="6131500" y="4623879"/>
              <a:ext cx="5450000" cy="270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r>
                <a:rPr lang="ko-KR" altLang="en-US" sz="890" b="1" dirty="0">
                  <a:solidFill>
                    <a:srgbClr val="6A1B9A"/>
                  </a:solidFill>
                  <a:latin typeface="Pretendard" charset="0"/>
                  <a:ea typeface="Pretendard" charset="0"/>
                </a:rPr>
                <a:t>▶  CatBoost</a:t>
              </a:r>
            </a:p>
          </p:txBody>
        </p:sp>
        <p:sp>
          <p:nvSpPr>
            <p:cNvPr id="202" name="ob20">
              <a:extLst>
                <a:ext uri="{FF2B5EF4-FFF2-40B4-BE49-F238E27FC236}">
                  <a16:creationId xmlns:a16="http://schemas.microsoft.com/office/drawing/2014/main" id="{1D8C8C83-9ACE-8E4C-E96A-CA327EBF3BF1}"/>
                </a:ext>
              </a:extLst>
            </p:cNvPr>
            <p:cNvSpPr/>
            <p:nvPr/>
          </p:nvSpPr>
          <p:spPr>
            <a:xfrm>
              <a:off x="6091500" y="4893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203" name="op20">
              <a:extLst>
                <a:ext uri="{FF2B5EF4-FFF2-40B4-BE49-F238E27FC236}">
                  <a16:creationId xmlns:a16="http://schemas.microsoft.com/office/drawing/2014/main" id="{C2372AAA-2200-0045-7D69-D864C9F33D16}"/>
                </a:ext>
              </a:extLst>
            </p:cNvPr>
            <p:cNvSpPr/>
            <p:nvPr/>
          </p:nvSpPr>
          <p:spPr>
            <a:xfrm>
              <a:off x="6101500" y="4893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learning_rate</a:t>
              </a:r>
            </a:p>
          </p:txBody>
        </p:sp>
        <p:sp>
          <p:nvSpPr>
            <p:cNvPr id="204" name="ov200">
              <a:extLst>
                <a:ext uri="{FF2B5EF4-FFF2-40B4-BE49-F238E27FC236}">
                  <a16:creationId xmlns:a16="http://schemas.microsoft.com/office/drawing/2014/main" id="{D10AA242-2063-FBA0-D0EB-7B61D6FB6180}"/>
                </a:ext>
              </a:extLst>
            </p:cNvPr>
            <p:cNvSpPr/>
            <p:nvPr/>
          </p:nvSpPr>
          <p:spPr>
            <a:xfrm>
              <a:off x="7501500" y="489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0.0980</a:t>
              </a:r>
            </a:p>
          </p:txBody>
        </p:sp>
        <p:sp>
          <p:nvSpPr>
            <p:cNvPr id="205" name="ov201">
              <a:extLst>
                <a:ext uri="{FF2B5EF4-FFF2-40B4-BE49-F238E27FC236}">
                  <a16:creationId xmlns:a16="http://schemas.microsoft.com/office/drawing/2014/main" id="{2A94A21E-A6B4-A606-130F-F5B910E240D6}"/>
                </a:ext>
              </a:extLst>
            </p:cNvPr>
            <p:cNvSpPr/>
            <p:nvPr/>
          </p:nvSpPr>
          <p:spPr>
            <a:xfrm>
              <a:off x="8461500" y="489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0.1197</a:t>
              </a:r>
            </a:p>
          </p:txBody>
        </p:sp>
        <p:sp>
          <p:nvSpPr>
            <p:cNvPr id="206" name="ov202">
              <a:extLst>
                <a:ext uri="{FF2B5EF4-FFF2-40B4-BE49-F238E27FC236}">
                  <a16:creationId xmlns:a16="http://schemas.microsoft.com/office/drawing/2014/main" id="{EDEBB860-7F29-D34C-65C6-6374DBACDB49}"/>
                </a:ext>
              </a:extLst>
            </p:cNvPr>
            <p:cNvSpPr/>
            <p:nvPr/>
          </p:nvSpPr>
          <p:spPr>
            <a:xfrm>
              <a:off x="9421500" y="489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0.0809</a:t>
              </a:r>
            </a:p>
          </p:txBody>
        </p:sp>
        <p:sp>
          <p:nvSpPr>
            <p:cNvPr id="207" name="ov203">
              <a:extLst>
                <a:ext uri="{FF2B5EF4-FFF2-40B4-BE49-F238E27FC236}">
                  <a16:creationId xmlns:a16="http://schemas.microsoft.com/office/drawing/2014/main" id="{B720A891-F227-4B58-09C9-74D007D67644}"/>
                </a:ext>
              </a:extLst>
            </p:cNvPr>
            <p:cNvSpPr/>
            <p:nvPr/>
          </p:nvSpPr>
          <p:spPr>
            <a:xfrm>
              <a:off x="10381500" y="4893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0.0895</a:t>
              </a:r>
            </a:p>
          </p:txBody>
        </p:sp>
        <p:sp>
          <p:nvSpPr>
            <p:cNvPr id="208" name="ob21">
              <a:extLst>
                <a:ext uri="{FF2B5EF4-FFF2-40B4-BE49-F238E27FC236}">
                  <a16:creationId xmlns:a16="http://schemas.microsoft.com/office/drawing/2014/main" id="{E771B2E8-B017-3F12-C48C-F613B1000B87}"/>
                </a:ext>
              </a:extLst>
            </p:cNvPr>
            <p:cNvSpPr/>
            <p:nvPr/>
          </p:nvSpPr>
          <p:spPr>
            <a:xfrm>
              <a:off x="6091500" y="5065879"/>
              <a:ext cx="5510000" cy="17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209" name="op21">
              <a:extLst>
                <a:ext uri="{FF2B5EF4-FFF2-40B4-BE49-F238E27FC236}">
                  <a16:creationId xmlns:a16="http://schemas.microsoft.com/office/drawing/2014/main" id="{4C8EF2AE-24AA-486B-64E9-9F939AA6A1D7}"/>
                </a:ext>
              </a:extLst>
            </p:cNvPr>
            <p:cNvSpPr/>
            <p:nvPr/>
          </p:nvSpPr>
          <p:spPr>
            <a:xfrm>
              <a:off x="6101500" y="5065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depth</a:t>
              </a:r>
            </a:p>
          </p:txBody>
        </p:sp>
        <p:sp>
          <p:nvSpPr>
            <p:cNvPr id="210" name="ov210">
              <a:extLst>
                <a:ext uri="{FF2B5EF4-FFF2-40B4-BE49-F238E27FC236}">
                  <a16:creationId xmlns:a16="http://schemas.microsoft.com/office/drawing/2014/main" id="{5E2D518B-F548-A149-5026-99DBD8ABE923}"/>
                </a:ext>
              </a:extLst>
            </p:cNvPr>
            <p:cNvSpPr/>
            <p:nvPr/>
          </p:nvSpPr>
          <p:spPr>
            <a:xfrm>
              <a:off x="7501500" y="506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</a:t>
              </a:r>
            </a:p>
          </p:txBody>
        </p:sp>
        <p:sp>
          <p:nvSpPr>
            <p:cNvPr id="211" name="ov211">
              <a:extLst>
                <a:ext uri="{FF2B5EF4-FFF2-40B4-BE49-F238E27FC236}">
                  <a16:creationId xmlns:a16="http://schemas.microsoft.com/office/drawing/2014/main" id="{A5CD5B2E-538E-7995-FFF8-66E2F57773E2}"/>
                </a:ext>
              </a:extLst>
            </p:cNvPr>
            <p:cNvSpPr/>
            <p:nvPr/>
          </p:nvSpPr>
          <p:spPr>
            <a:xfrm>
              <a:off x="8461500" y="506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</a:t>
              </a:r>
            </a:p>
          </p:txBody>
        </p:sp>
        <p:sp>
          <p:nvSpPr>
            <p:cNvPr id="212" name="ov212">
              <a:extLst>
                <a:ext uri="{FF2B5EF4-FFF2-40B4-BE49-F238E27FC236}">
                  <a16:creationId xmlns:a16="http://schemas.microsoft.com/office/drawing/2014/main" id="{CE547247-4593-8454-1BBF-285497030247}"/>
                </a:ext>
              </a:extLst>
            </p:cNvPr>
            <p:cNvSpPr/>
            <p:nvPr/>
          </p:nvSpPr>
          <p:spPr>
            <a:xfrm>
              <a:off x="9421500" y="506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8</a:t>
              </a:r>
            </a:p>
          </p:txBody>
        </p:sp>
        <p:sp>
          <p:nvSpPr>
            <p:cNvPr id="213" name="ov213">
              <a:extLst>
                <a:ext uri="{FF2B5EF4-FFF2-40B4-BE49-F238E27FC236}">
                  <a16:creationId xmlns:a16="http://schemas.microsoft.com/office/drawing/2014/main" id="{6178E7AB-B732-84A8-8227-2AE555CE5953}"/>
                </a:ext>
              </a:extLst>
            </p:cNvPr>
            <p:cNvSpPr/>
            <p:nvPr/>
          </p:nvSpPr>
          <p:spPr>
            <a:xfrm>
              <a:off x="10381500" y="5065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</a:t>
              </a:r>
            </a:p>
          </p:txBody>
        </p:sp>
        <p:sp>
          <p:nvSpPr>
            <p:cNvPr id="214" name="ob22">
              <a:extLst>
                <a:ext uri="{FF2B5EF4-FFF2-40B4-BE49-F238E27FC236}">
                  <a16:creationId xmlns:a16="http://schemas.microsoft.com/office/drawing/2014/main" id="{82E6E2F9-DDAA-6522-7DCE-CEB0183E3347}"/>
                </a:ext>
              </a:extLst>
            </p:cNvPr>
            <p:cNvSpPr/>
            <p:nvPr/>
          </p:nvSpPr>
          <p:spPr>
            <a:xfrm>
              <a:off x="6091500" y="5237879"/>
              <a:ext cx="5510000" cy="170000"/>
            </a:xfrm>
            <a:prstGeom prst="rect">
              <a:avLst/>
            </a:prstGeom>
            <a:solidFill>
              <a:srgbClr val="FAFAFA"/>
            </a:solidFill>
            <a:ln w="0">
              <a:noFill/>
            </a:ln>
          </p:spPr>
          <p:txBody>
            <a:bodyPr lIns="60960" rIns="60960" anchor="ctr"/>
            <a:lstStyle/>
            <a:p>
              <a:pPr algn="ctr"/>
              <a:endParaRPr lang="ko-KR"/>
            </a:p>
          </p:txBody>
        </p:sp>
        <p:sp>
          <p:nvSpPr>
            <p:cNvPr id="215" name="op22">
              <a:extLst>
                <a:ext uri="{FF2B5EF4-FFF2-40B4-BE49-F238E27FC236}">
                  <a16:creationId xmlns:a16="http://schemas.microsoft.com/office/drawing/2014/main" id="{4458EF03-3CF9-7D79-B69C-41903D788631}"/>
                </a:ext>
              </a:extLst>
            </p:cNvPr>
            <p:cNvSpPr/>
            <p:nvPr/>
          </p:nvSpPr>
          <p:spPr>
            <a:xfrm>
              <a:off x="6101500" y="5237879"/>
              <a:ext cx="140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00" i="1" dirty="0">
                  <a:solidFill>
                    <a:srgbClr val="444444"/>
                  </a:solidFill>
                  <a:latin typeface="Pretendard" charset="0"/>
                  <a:ea typeface="Pretendard" charset="0"/>
                </a:rPr>
                <a:t>l2_leaf_reg</a:t>
              </a:r>
            </a:p>
          </p:txBody>
        </p:sp>
        <p:sp>
          <p:nvSpPr>
            <p:cNvPr id="216" name="ov220">
              <a:extLst>
                <a:ext uri="{FF2B5EF4-FFF2-40B4-BE49-F238E27FC236}">
                  <a16:creationId xmlns:a16="http://schemas.microsoft.com/office/drawing/2014/main" id="{4FFC2B4E-6BFF-16BA-E89A-EC69A9C0343A}"/>
                </a:ext>
              </a:extLst>
            </p:cNvPr>
            <p:cNvSpPr/>
            <p:nvPr/>
          </p:nvSpPr>
          <p:spPr>
            <a:xfrm>
              <a:off x="7501500" y="523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7.44</a:t>
              </a:r>
            </a:p>
          </p:txBody>
        </p:sp>
        <p:sp>
          <p:nvSpPr>
            <p:cNvPr id="217" name="ov221">
              <a:extLst>
                <a:ext uri="{FF2B5EF4-FFF2-40B4-BE49-F238E27FC236}">
                  <a16:creationId xmlns:a16="http://schemas.microsoft.com/office/drawing/2014/main" id="{7F3D1F5E-9C88-6744-9739-CC6550941A5A}"/>
                </a:ext>
              </a:extLst>
            </p:cNvPr>
            <p:cNvSpPr/>
            <p:nvPr/>
          </p:nvSpPr>
          <p:spPr>
            <a:xfrm>
              <a:off x="8461500" y="523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7.49</a:t>
              </a:r>
            </a:p>
          </p:txBody>
        </p:sp>
        <p:sp>
          <p:nvSpPr>
            <p:cNvPr id="218" name="ov222">
              <a:extLst>
                <a:ext uri="{FF2B5EF4-FFF2-40B4-BE49-F238E27FC236}">
                  <a16:creationId xmlns:a16="http://schemas.microsoft.com/office/drawing/2014/main" id="{70457130-4E52-320B-AF9A-DBFCA0060854}"/>
                </a:ext>
              </a:extLst>
            </p:cNvPr>
            <p:cNvSpPr/>
            <p:nvPr/>
          </p:nvSpPr>
          <p:spPr>
            <a:xfrm>
              <a:off x="9421500" y="523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7.52</a:t>
              </a:r>
            </a:p>
          </p:txBody>
        </p:sp>
        <p:sp>
          <p:nvSpPr>
            <p:cNvPr id="219" name="ov223">
              <a:extLst>
                <a:ext uri="{FF2B5EF4-FFF2-40B4-BE49-F238E27FC236}">
                  <a16:creationId xmlns:a16="http://schemas.microsoft.com/office/drawing/2014/main" id="{0CA29F33-2D3A-AE9E-C4DA-923C004EF1B6}"/>
                </a:ext>
              </a:extLst>
            </p:cNvPr>
            <p:cNvSpPr/>
            <p:nvPr/>
          </p:nvSpPr>
          <p:spPr>
            <a:xfrm>
              <a:off x="10381500" y="5237879"/>
              <a:ext cx="960000" cy="172000"/>
            </a:xfrm>
            <a:prstGeom prst="rect">
              <a:avLst/>
            </a:prstGeom>
            <a:noFill/>
          </p:spPr>
          <p:txBody>
            <a:bodyPr lIns="60960" rIns="60960" anchor="ctr"/>
            <a:lstStyle/>
            <a:p>
              <a:pPr algn="ctr"/>
              <a:r>
                <a:rPr lang="ko-KR" altLang="en-US" sz="830" dirty="0">
                  <a:solidFill>
                    <a:srgbClr val="222222"/>
                  </a:solidFill>
                  <a:latin typeface="Pretendard" charset="0"/>
                  <a:ea typeface="Pretendard" charset="0"/>
                </a:rPr>
                <a:t>4.39</a:t>
              </a:r>
            </a:p>
          </p:txBody>
        </p: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CE579F9A-2FD6-AEE8-8FBE-941CAFF47FC6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1453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FEED8-28EE-04EF-605D-371ED5AE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64BABD0-68DC-0142-7982-8377388AEDD8}"/>
              </a:ext>
            </a:extLst>
          </p:cNvPr>
          <p:cNvSpPr/>
          <p:nvPr/>
        </p:nvSpPr>
        <p:spPr>
          <a:xfrm>
            <a:off x="2015835" y="1714500"/>
            <a:ext cx="3448050" cy="1066800"/>
          </a:xfrm>
          <a:prstGeom prst="roundRect">
            <a:avLst>
              <a:gd name="adj" fmla="val 12241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19E9E54-6C94-8126-7ED0-A232E3CF990D}"/>
              </a:ext>
            </a:extLst>
          </p:cNvPr>
          <p:cNvSpPr/>
          <p:nvPr/>
        </p:nvSpPr>
        <p:spPr>
          <a:xfrm>
            <a:off x="6186054" y="1714500"/>
            <a:ext cx="3448050" cy="1066800"/>
          </a:xfrm>
          <a:prstGeom prst="roundRect">
            <a:avLst>
              <a:gd name="adj" fmla="val 12241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9D727A-5118-D22E-9059-8300033BE576}"/>
              </a:ext>
            </a:extLst>
          </p:cNvPr>
          <p:cNvSpPr/>
          <p:nvPr/>
        </p:nvSpPr>
        <p:spPr>
          <a:xfrm>
            <a:off x="1974277" y="3524250"/>
            <a:ext cx="8478982" cy="2333625"/>
          </a:xfrm>
          <a:prstGeom prst="roundRect">
            <a:avLst>
              <a:gd name="adj" fmla="val 255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50201DF-7DAF-E58E-2463-532AB5AA9DEA}"/>
              </a:ext>
            </a:extLst>
          </p:cNvPr>
          <p:cNvSpPr/>
          <p:nvPr/>
        </p:nvSpPr>
        <p:spPr>
          <a:xfrm>
            <a:off x="1974277" y="3524250"/>
            <a:ext cx="8478982" cy="38100"/>
          </a:xfrm>
          <a:prstGeom prst="roundRect">
            <a:avLst>
              <a:gd name="adj" fmla="val 155490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A7F2BAF-549F-A9B5-39AE-E0294B3A9FBF}"/>
              </a:ext>
            </a:extLst>
          </p:cNvPr>
          <p:cNvSpPr/>
          <p:nvPr/>
        </p:nvSpPr>
        <p:spPr>
          <a:xfrm>
            <a:off x="571500" y="6001385"/>
            <a:ext cx="11068050" cy="590550"/>
          </a:xfrm>
          <a:prstGeom prst="roundRect">
            <a:avLst>
              <a:gd name="adj" fmla="val 39948"/>
            </a:avLst>
          </a:prstGeom>
          <a:solidFill>
            <a:srgbClr val="E8EEFF"/>
          </a:solidFill>
          <a:ln w="127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56ACAAD6-5A84-F8B0-0C3B-83BF3B47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93" r="-393"/>
          <a:stretch/>
        </p:blipFill>
        <p:spPr>
          <a:xfrm>
            <a:off x="2015835" y="1714500"/>
            <a:ext cx="57785" cy="1047750"/>
          </a:xfrm>
          <a:prstGeom prst="rect">
            <a:avLst/>
          </a:prstGeom>
        </p:spPr>
      </p:pic>
      <p:sp>
        <p:nvSpPr>
          <p:cNvPr id="12" name="Shape 9">
            <a:extLst>
              <a:ext uri="{FF2B5EF4-FFF2-40B4-BE49-F238E27FC236}">
                <a16:creationId xmlns:a16="http://schemas.microsoft.com/office/drawing/2014/main" id="{33535967-962B-E49A-828F-8630B19F9DCB}"/>
              </a:ext>
            </a:extLst>
          </p:cNvPr>
          <p:cNvSpPr/>
          <p:nvPr/>
        </p:nvSpPr>
        <p:spPr>
          <a:xfrm>
            <a:off x="3498277" y="3524250"/>
            <a:ext cx="2419350" cy="2286000"/>
          </a:xfrm>
          <a:prstGeom prst="rect">
            <a:avLst/>
          </a:prstGeom>
          <a:solidFill>
            <a:srgbClr val="F4F7FF"/>
          </a:solidFill>
          <a:ln w="25400">
            <a:solidFill>
              <a:srgbClr val="D1D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C5D2CC72-3C3B-C8FE-73E7-9AE8EFC309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 flipV="1">
            <a:off x="1974277" y="4002406"/>
            <a:ext cx="8478982" cy="45719"/>
          </a:xfrm>
          <a:prstGeom prst="rect">
            <a:avLst/>
          </a:prstGeom>
        </p:spPr>
      </p:pic>
      <p:pic>
        <p:nvPicPr>
          <p:cNvPr id="14" name="Image 2">
            <a:extLst>
              <a:ext uri="{FF2B5EF4-FFF2-40B4-BE49-F238E27FC236}">
                <a16:creationId xmlns:a16="http://schemas.microsoft.com/office/drawing/2014/main" id="{DCFE77AA-1852-701E-A367-0710FF8270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 flipV="1">
            <a:off x="1974277" y="4431031"/>
            <a:ext cx="8478982" cy="45719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B7BBA57D-0029-2AC6-EAF8-51F20E4593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 flipV="1">
            <a:off x="1974277" y="4860291"/>
            <a:ext cx="8478982" cy="45719"/>
          </a:xfrm>
          <a:prstGeom prst="rect">
            <a:avLst/>
          </a:prstGeom>
        </p:spPr>
      </p:pic>
      <p:pic>
        <p:nvPicPr>
          <p:cNvPr id="16" name="Image 4">
            <a:extLst>
              <a:ext uri="{FF2B5EF4-FFF2-40B4-BE49-F238E27FC236}">
                <a16:creationId xmlns:a16="http://schemas.microsoft.com/office/drawing/2014/main" id="{0AE9635C-193E-F832-0E40-7B6A1710A9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 flipV="1">
            <a:off x="1974277" y="5288281"/>
            <a:ext cx="8478982" cy="45719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E7E5FAE5-A5FC-F5E5-F887-79A1E2D26F59}"/>
              </a:ext>
            </a:extLst>
          </p:cNvPr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3000" dirty="0"/>
          </a:p>
        </p:txBody>
      </p:sp>
      <p:pic>
        <p:nvPicPr>
          <p:cNvPr id="20" name="Image 5">
            <a:extLst>
              <a:ext uri="{FF2B5EF4-FFF2-40B4-BE49-F238E27FC236}">
                <a16:creationId xmlns:a16="http://schemas.microsoft.com/office/drawing/2014/main" id="{A613F581-BE57-BB5C-B073-0AF827C0CA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53325" y="1919605"/>
            <a:ext cx="190500" cy="190500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99179FFF-4DC5-2899-D9CA-9FE8236A2F4A}"/>
              </a:ext>
            </a:extLst>
          </p:cNvPr>
          <p:cNvSpPr txBox="1"/>
          <p:nvPr/>
        </p:nvSpPr>
        <p:spPr>
          <a:xfrm>
            <a:off x="2539710" y="1886585"/>
            <a:ext cx="2057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대상</a:t>
            </a:r>
            <a:endParaRPr lang="en-US" sz="13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2ACB5ED0-0A9E-C89D-D9A9-70251F0269FA}"/>
              </a:ext>
            </a:extLst>
          </p:cNvPr>
          <p:cNvSpPr txBox="1"/>
          <p:nvPr/>
        </p:nvSpPr>
        <p:spPr>
          <a:xfrm>
            <a:off x="2253325" y="2286000"/>
            <a:ext cx="323532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37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 · XGBoost · CatBoost</a:t>
            </a:r>
            <a:endParaRPr lang="en-US" sz="1400" dirty="0"/>
          </a:p>
        </p:txBody>
      </p:sp>
      <p:pic>
        <p:nvPicPr>
          <p:cNvPr id="26" name="Image 7">
            <a:extLst>
              <a:ext uri="{FF2B5EF4-FFF2-40B4-BE49-F238E27FC236}">
                <a16:creationId xmlns:a16="http://schemas.microsoft.com/office/drawing/2014/main" id="{85A53E04-A4BE-595E-DA90-9545EC38E3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24179" y="1919605"/>
            <a:ext cx="190500" cy="190500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8EE9024C-60EE-3E5C-155F-95C307E43610}"/>
              </a:ext>
            </a:extLst>
          </p:cNvPr>
          <p:cNvSpPr txBox="1"/>
          <p:nvPr/>
        </p:nvSpPr>
        <p:spPr>
          <a:xfrm>
            <a:off x="6709929" y="1886585"/>
            <a:ext cx="2057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방법</a:t>
            </a:r>
            <a:endParaRPr lang="en-US" sz="13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7B636989-6DCE-B71B-E536-96FFA1418705}"/>
              </a:ext>
            </a:extLst>
          </p:cNvPr>
          <p:cNvSpPr txBox="1"/>
          <p:nvPr/>
        </p:nvSpPr>
        <p:spPr>
          <a:xfrm>
            <a:off x="6424179" y="2286000"/>
            <a:ext cx="31629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37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</a:t>
            </a:r>
            <a:r>
              <a:rPr lang="en-US" sz="1200" b="1" kern="0" spc="-37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(50 trials)</a:t>
            </a:r>
            <a:endParaRPr lang="en-US" sz="1400" dirty="0"/>
          </a:p>
        </p:txBody>
      </p:sp>
      <p:pic>
        <p:nvPicPr>
          <p:cNvPr id="29" name="Image 8">
            <a:extLst>
              <a:ext uri="{FF2B5EF4-FFF2-40B4-BE49-F238E27FC236}">
                <a16:creationId xmlns:a16="http://schemas.microsoft.com/office/drawing/2014/main" id="{896C165C-8B09-EC51-B98F-A3288969C3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74277" y="3176905"/>
            <a:ext cx="190500" cy="190500"/>
          </a:xfrm>
          <a:prstGeom prst="rect">
            <a:avLst/>
          </a:prstGeom>
        </p:spPr>
      </p:pic>
      <p:sp>
        <p:nvSpPr>
          <p:cNvPr id="30" name="Text 19">
            <a:extLst>
              <a:ext uri="{FF2B5EF4-FFF2-40B4-BE49-F238E27FC236}">
                <a16:creationId xmlns:a16="http://schemas.microsoft.com/office/drawing/2014/main" id="{A887EA71-95AF-FFFC-5105-B7662B2FF02D}"/>
              </a:ext>
            </a:extLst>
          </p:cNvPr>
          <p:cNvSpPr txBox="1"/>
          <p:nvPr/>
        </p:nvSpPr>
        <p:spPr>
          <a:xfrm>
            <a:off x="2260662" y="3143885"/>
            <a:ext cx="39243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h별 CV Spearman 성능 비교</a:t>
            </a:r>
            <a:endParaRPr lang="en-US" sz="15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6CD31854-2815-DE71-B02B-C76AD162B116}"/>
              </a:ext>
            </a:extLst>
          </p:cNvPr>
          <p:cNvSpPr txBox="1"/>
          <p:nvPr/>
        </p:nvSpPr>
        <p:spPr>
          <a:xfrm>
            <a:off x="1936177" y="371538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시계열 (h)</a:t>
            </a:r>
            <a:endParaRPr lang="en-US" sz="12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BA5B8C5D-1F25-F5E5-424C-F398A2256F7D}"/>
              </a:ext>
            </a:extLst>
          </p:cNvPr>
          <p:cNvSpPr txBox="1"/>
          <p:nvPr/>
        </p:nvSpPr>
        <p:spPr>
          <a:xfrm>
            <a:off x="4173282" y="3715385"/>
            <a:ext cx="18021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</a:t>
            </a:r>
            <a:endParaRPr lang="en-US" sz="1300" dirty="0"/>
          </a:p>
        </p:txBody>
      </p:sp>
      <p:pic>
        <p:nvPicPr>
          <p:cNvPr id="33" name="Image 9">
            <a:extLst>
              <a:ext uri="{FF2B5EF4-FFF2-40B4-BE49-F238E27FC236}">
                <a16:creationId xmlns:a16="http://schemas.microsoft.com/office/drawing/2014/main" id="{7472A192-509D-D01D-99BC-181F3D5283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5033072" y="3780790"/>
            <a:ext cx="172085" cy="152400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04DD65CA-76AD-3387-2866-3C0A6775DC59}"/>
              </a:ext>
            </a:extLst>
          </p:cNvPr>
          <p:cNvSpPr txBox="1"/>
          <p:nvPr/>
        </p:nvSpPr>
        <p:spPr>
          <a:xfrm>
            <a:off x="5831902" y="371538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5BEE8E9F-B600-E667-DDD1-6ACFF6CF4923}"/>
              </a:ext>
            </a:extLst>
          </p:cNvPr>
          <p:cNvSpPr txBox="1"/>
          <p:nvPr/>
        </p:nvSpPr>
        <p:spPr>
          <a:xfrm>
            <a:off x="8213152" y="371538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2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94EBB24D-E90C-F9A1-259B-19591C13A023}"/>
              </a:ext>
            </a:extLst>
          </p:cNvPr>
          <p:cNvSpPr txBox="1"/>
          <p:nvPr/>
        </p:nvSpPr>
        <p:spPr>
          <a:xfrm>
            <a:off x="1936177" y="419100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1</a:t>
            </a:r>
            <a:endParaRPr lang="en-US" sz="12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0248E825-B79F-0F0C-E473-D5B2E82BAB88}"/>
              </a:ext>
            </a:extLst>
          </p:cNvPr>
          <p:cNvSpPr txBox="1"/>
          <p:nvPr/>
        </p:nvSpPr>
        <p:spPr>
          <a:xfrm>
            <a:off x="3451287" y="419100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0.9476</a:t>
            </a:r>
            <a:endParaRPr lang="en-US" sz="1300" dirty="0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9B704B9A-5127-C410-8D62-62F401F38CC6}"/>
              </a:ext>
            </a:extLst>
          </p:cNvPr>
          <p:cNvSpPr txBox="1"/>
          <p:nvPr/>
        </p:nvSpPr>
        <p:spPr>
          <a:xfrm>
            <a:off x="5831902" y="419100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0.9442</a:t>
            </a:r>
            <a:endParaRPr lang="en-US" sz="12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460DB397-9E54-1613-0C06-D4F181C23470}"/>
              </a:ext>
            </a:extLst>
          </p:cNvPr>
          <p:cNvSpPr txBox="1"/>
          <p:nvPr/>
        </p:nvSpPr>
        <p:spPr>
          <a:xfrm>
            <a:off x="8213152" y="419100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0.9444</a:t>
            </a:r>
            <a:endParaRPr lang="en-US" sz="1200" dirty="0"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97BBA1F8-E88A-14D0-7D68-DD0D24AE19F7}"/>
              </a:ext>
            </a:extLst>
          </p:cNvPr>
          <p:cNvSpPr txBox="1"/>
          <p:nvPr/>
        </p:nvSpPr>
        <p:spPr>
          <a:xfrm>
            <a:off x="1936177" y="4619625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2</a:t>
            </a:r>
            <a:endParaRPr lang="en-US" sz="12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FB2AEF68-D68F-7E7E-C39E-8DB260426993}"/>
              </a:ext>
            </a:extLst>
          </p:cNvPr>
          <p:cNvSpPr txBox="1"/>
          <p:nvPr/>
        </p:nvSpPr>
        <p:spPr>
          <a:xfrm>
            <a:off x="3451287" y="4619625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0.9445</a:t>
            </a:r>
            <a:endParaRPr lang="en-US" sz="1300" dirty="0"/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D33459B8-47C8-F52A-807A-0B8BF1934881}"/>
              </a:ext>
            </a:extLst>
          </p:cNvPr>
          <p:cNvSpPr txBox="1"/>
          <p:nvPr/>
        </p:nvSpPr>
        <p:spPr>
          <a:xfrm>
            <a:off x="5831902" y="461962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0.9401</a:t>
            </a:r>
            <a:endParaRPr lang="en-US" sz="1200" dirty="0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14A9AF00-FC76-CE23-7787-C6B9F47363DA}"/>
              </a:ext>
            </a:extLst>
          </p:cNvPr>
          <p:cNvSpPr txBox="1"/>
          <p:nvPr/>
        </p:nvSpPr>
        <p:spPr>
          <a:xfrm>
            <a:off x="8213152" y="461962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0.9425</a:t>
            </a:r>
            <a:endParaRPr lang="en-US" sz="1200" dirty="0"/>
          </a:p>
        </p:txBody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8AA2C041-1FAF-6B37-D921-AA19B9B09C2C}"/>
              </a:ext>
            </a:extLst>
          </p:cNvPr>
          <p:cNvSpPr txBox="1"/>
          <p:nvPr/>
        </p:nvSpPr>
        <p:spPr>
          <a:xfrm>
            <a:off x="1936177" y="504825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3</a:t>
            </a:r>
            <a:endParaRPr lang="en-US" sz="1200" dirty="0"/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9F617235-3ADB-928B-50AC-7FB6B932C6B3}"/>
              </a:ext>
            </a:extLst>
          </p:cNvPr>
          <p:cNvSpPr txBox="1"/>
          <p:nvPr/>
        </p:nvSpPr>
        <p:spPr>
          <a:xfrm>
            <a:off x="3451287" y="504825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0.9407</a:t>
            </a:r>
            <a:endParaRPr lang="en-US" sz="1300" dirty="0"/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C6724FBB-821C-045E-54D5-27D17B47019D}"/>
              </a:ext>
            </a:extLst>
          </p:cNvPr>
          <p:cNvSpPr txBox="1"/>
          <p:nvPr/>
        </p:nvSpPr>
        <p:spPr>
          <a:xfrm>
            <a:off x="5831902" y="504825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0.9367</a:t>
            </a:r>
            <a:endParaRPr lang="en-US" sz="1200" dirty="0"/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F24E8C85-8EEB-E253-B829-176E28319DB5}"/>
              </a:ext>
            </a:extLst>
          </p:cNvPr>
          <p:cNvSpPr txBox="1"/>
          <p:nvPr/>
        </p:nvSpPr>
        <p:spPr>
          <a:xfrm>
            <a:off x="8213152" y="504825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0.9393</a:t>
            </a:r>
            <a:endParaRPr lang="en-US" sz="1200" dirty="0"/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F4CC2ADD-EF36-D944-A69E-C787438B296B}"/>
              </a:ext>
            </a:extLst>
          </p:cNvPr>
          <p:cNvSpPr txBox="1"/>
          <p:nvPr/>
        </p:nvSpPr>
        <p:spPr>
          <a:xfrm>
            <a:off x="1936177" y="547751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4</a:t>
            </a:r>
            <a:endParaRPr lang="en-US" sz="1200" dirty="0"/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A96D52BE-FC74-C15A-F3AB-BA6B65B3FA8D}"/>
              </a:ext>
            </a:extLst>
          </p:cNvPr>
          <p:cNvSpPr txBox="1"/>
          <p:nvPr/>
        </p:nvSpPr>
        <p:spPr>
          <a:xfrm>
            <a:off x="3451287" y="547751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0.9397</a:t>
            </a:r>
            <a:endParaRPr lang="en-US" sz="1300" dirty="0"/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724DB928-8E77-5473-50B0-A15148868330}"/>
              </a:ext>
            </a:extLst>
          </p:cNvPr>
          <p:cNvSpPr txBox="1"/>
          <p:nvPr/>
        </p:nvSpPr>
        <p:spPr>
          <a:xfrm>
            <a:off x="5831902" y="547751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0.9356</a:t>
            </a:r>
            <a:endParaRPr lang="en-US" sz="1200" dirty="0"/>
          </a:p>
        </p:txBody>
      </p:sp>
      <p:sp>
        <p:nvSpPr>
          <p:cNvPr id="55" name="Text 43">
            <a:extLst>
              <a:ext uri="{FF2B5EF4-FFF2-40B4-BE49-F238E27FC236}">
                <a16:creationId xmlns:a16="http://schemas.microsoft.com/office/drawing/2014/main" id="{A95DB6DE-CCDE-6892-366D-1585468472CA}"/>
              </a:ext>
            </a:extLst>
          </p:cNvPr>
          <p:cNvSpPr txBox="1"/>
          <p:nvPr/>
        </p:nvSpPr>
        <p:spPr>
          <a:xfrm>
            <a:off x="8213152" y="547751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0.9377</a:t>
            </a:r>
            <a:endParaRPr lang="en-US" sz="1200" dirty="0"/>
          </a:p>
        </p:txBody>
      </p:sp>
      <p:pic>
        <p:nvPicPr>
          <p:cNvPr id="57" name="Image 10">
            <a:extLst>
              <a:ext uri="{FF2B5EF4-FFF2-40B4-BE49-F238E27FC236}">
                <a16:creationId xmlns:a16="http://schemas.microsoft.com/office/drawing/2014/main" id="{3BD7C4AE-3870-4E48-CE84-6C6FD95C840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321628" y="6172200"/>
            <a:ext cx="228600" cy="228600"/>
          </a:xfrm>
          <a:prstGeom prst="rect">
            <a:avLst/>
          </a:prstGeom>
        </p:spPr>
      </p:pic>
      <p:sp>
        <p:nvSpPr>
          <p:cNvPr id="58" name="Text 45">
            <a:extLst>
              <a:ext uri="{FF2B5EF4-FFF2-40B4-BE49-F238E27FC236}">
                <a16:creationId xmlns:a16="http://schemas.microsoft.com/office/drawing/2014/main" id="{C6A70188-1244-49DB-C063-5C1B3E235F63}"/>
              </a:ext>
            </a:extLst>
          </p:cNvPr>
          <p:cNvSpPr txBox="1"/>
          <p:nvPr/>
        </p:nvSpPr>
        <p:spPr>
          <a:xfrm>
            <a:off x="3702628" y="6153150"/>
            <a:ext cx="7735570" cy="2774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20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CatBoost</a:t>
            </a:r>
            <a:r>
              <a:rPr lang="en-US" sz="20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20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모델이</a:t>
            </a:r>
            <a:r>
              <a:rPr lang="en-US" sz="20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h=1~4 전 </a:t>
            </a:r>
            <a:r>
              <a:rPr lang="en-US" sz="20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구간</a:t>
            </a:r>
            <a:r>
              <a:rPr lang="en-US" sz="20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altLang="en-US" sz="20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다소 우위</a:t>
            </a:r>
          </a:p>
        </p:txBody>
      </p:sp>
      <p:sp>
        <p:nvSpPr>
          <p:cNvPr id="60" name="텍스트 상자 44">
            <a:extLst>
              <a:ext uri="{FF2B5EF4-FFF2-40B4-BE49-F238E27FC236}">
                <a16:creationId xmlns:a16="http://schemas.microsoft.com/office/drawing/2014/main" id="{C0A09D31-9F45-C7E0-EF7A-DC6003FA0904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도형 45">
            <a:extLst>
              <a:ext uri="{FF2B5EF4-FFF2-40B4-BE49-F238E27FC236}">
                <a16:creationId xmlns:a16="http://schemas.microsoft.com/office/drawing/2014/main" id="{30309EEE-B821-9327-ECC9-065DFD9A30C6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2" name="텍스트 상자 46">
            <a:extLst>
              <a:ext uri="{FF2B5EF4-FFF2-40B4-BE49-F238E27FC236}">
                <a16:creationId xmlns:a16="http://schemas.microsoft.com/office/drawing/2014/main" id="{74B2443C-A11D-BC51-56A9-1BF43FC4322A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E5351-7483-265A-EFD1-BD3BA52011F4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1460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CE8E-6228-2908-18EF-ED22AC13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>
            <a:extLst>
              <a:ext uri="{FF2B5EF4-FFF2-40B4-BE49-F238E27FC236}">
                <a16:creationId xmlns:a16="http://schemas.microsoft.com/office/drawing/2014/main" id="{FA86018D-6785-DA8E-5804-F13A346649FC}"/>
              </a:ext>
            </a:extLst>
          </p:cNvPr>
          <p:cNvSpPr/>
          <p:nvPr/>
        </p:nvSpPr>
        <p:spPr>
          <a:xfrm>
            <a:off x="762000" y="4000500"/>
            <a:ext cx="10772775" cy="2015836"/>
          </a:xfrm>
          <a:prstGeom prst="roundRect">
            <a:avLst>
              <a:gd name="adj" fmla="val 18362"/>
            </a:avLst>
          </a:prstGeom>
          <a:solidFill>
            <a:srgbClr val="FFFFFF"/>
          </a:solidFill>
          <a:ln w="12700">
            <a:solidFill>
              <a:srgbClr val="C4D3FA"/>
            </a:solidFill>
            <a:prstDash val="solid"/>
          </a:ln>
          <a:effectLst>
            <a:outerShdw blurRad="139700" dist="38100" dir="16200000" algn="bl" rotWithShape="0">
              <a:srgbClr val="1A35B5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E17D870-4103-E201-0D3A-9312C1BB7048}"/>
              </a:ext>
            </a:extLst>
          </p:cNvPr>
          <p:cNvSpPr/>
          <p:nvPr/>
        </p:nvSpPr>
        <p:spPr>
          <a:xfrm>
            <a:off x="772391" y="4104410"/>
            <a:ext cx="95250" cy="1905000"/>
          </a:xfrm>
          <a:prstGeom prst="roundRect">
            <a:avLst>
              <a:gd name="adj" fmla="val 206043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>
            <a:extLst>
              <a:ext uri="{FF2B5EF4-FFF2-40B4-BE49-F238E27FC236}">
                <a16:creationId xmlns:a16="http://schemas.microsoft.com/office/drawing/2014/main" id="{26DC4DD4-DC3C-CF46-353D-5AA98B5C26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" b="-5"/>
          <a:stretch>
            <a:fillRect/>
          </a:stretch>
        </p:blipFill>
        <p:spPr>
          <a:xfrm>
            <a:off x="857885" y="4000501"/>
            <a:ext cx="10666095" cy="2056128"/>
          </a:xfrm>
          <a:prstGeom prst="rect">
            <a:avLst/>
          </a:prstGeom>
          <a:noFill/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67A98C29-B37D-708E-73BC-E7328D1CB08F}"/>
              </a:ext>
            </a:extLst>
          </p:cNvPr>
          <p:cNvSpPr txBox="1"/>
          <p:nvPr/>
        </p:nvSpPr>
        <p:spPr>
          <a:xfrm>
            <a:off x="762000" y="95250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성능 비교 &amp; 최종 모델 선정</a:t>
            </a:r>
            <a:endParaRPr lang="en-US" sz="30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37C01D1B-7FC1-FFD4-8714-5367112F7C76}"/>
              </a:ext>
            </a:extLst>
          </p:cNvPr>
          <p:cNvSpPr txBox="1"/>
          <p:nvPr/>
        </p:nvSpPr>
        <p:spPr>
          <a:xfrm>
            <a:off x="762000" y="1477010"/>
            <a:ext cx="773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 지표 (h=1~4 Test 데이터 기준)</a:t>
            </a:r>
            <a:endParaRPr lang="en-US" sz="1200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05CFA5A-A748-173C-C07C-0D6D9A96A9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955967" y="1905000"/>
            <a:ext cx="2997290" cy="1894840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A11B316-531D-A333-CA4B-4AF8F8B58EF7}"/>
              </a:ext>
            </a:extLst>
          </p:cNvPr>
          <p:cNvSpPr/>
          <p:nvPr/>
        </p:nvSpPr>
        <p:spPr>
          <a:xfrm>
            <a:off x="1681827" y="2133600"/>
            <a:ext cx="600075" cy="247650"/>
          </a:xfrm>
          <a:prstGeom prst="roundRect">
            <a:avLst>
              <a:gd name="adj" fmla="val 369004"/>
            </a:avLst>
          </a:prstGeom>
          <a:solidFill>
            <a:srgbClr val="FFB3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>
            <a:extLst>
              <a:ext uri="{FF2B5EF4-FFF2-40B4-BE49-F238E27FC236}">
                <a16:creationId xmlns:a16="http://schemas.microsoft.com/office/drawing/2014/main" id="{45D7DE90-B321-9C42-78BC-1D0373F27C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1146467" y="2133600"/>
            <a:ext cx="257175" cy="228600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8852ED5A-EE09-310A-F30C-F5799604D654}"/>
              </a:ext>
            </a:extLst>
          </p:cNvPr>
          <p:cNvSpPr txBox="1"/>
          <p:nvPr/>
        </p:nvSpPr>
        <p:spPr>
          <a:xfrm>
            <a:off x="1644362" y="2162810"/>
            <a:ext cx="6769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B736C59-49EF-FCDE-EE91-D19A466387A8}"/>
              </a:ext>
            </a:extLst>
          </p:cNvPr>
          <p:cNvSpPr txBox="1"/>
          <p:nvPr/>
        </p:nvSpPr>
        <p:spPr>
          <a:xfrm>
            <a:off x="1146467" y="2523490"/>
            <a:ext cx="18288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Spearman</a:t>
            </a:r>
            <a:endParaRPr lang="en-US" sz="18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035491B-ED50-FA8F-3BF0-6DB67370C314}"/>
              </a:ext>
            </a:extLst>
          </p:cNvPr>
          <p:cNvSpPr txBox="1"/>
          <p:nvPr/>
        </p:nvSpPr>
        <p:spPr>
          <a:xfrm>
            <a:off x="1146467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상관계수</a:t>
            </a:r>
            <a:endParaRPr lang="en-US" sz="11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00A4A630-4610-D0ED-5B12-2583DC37F123}"/>
              </a:ext>
            </a:extLst>
          </p:cNvPr>
          <p:cNvSpPr txBox="1"/>
          <p:nvPr/>
        </p:nvSpPr>
        <p:spPr>
          <a:xfrm>
            <a:off x="1146467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E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활력 순위의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1DE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안정성 측정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D951EEC-BD65-D131-F3B4-0837225D8922}"/>
              </a:ext>
            </a:extLst>
          </p:cNvPr>
          <p:cNvSpPr/>
          <p:nvPr/>
        </p:nvSpPr>
        <p:spPr>
          <a:xfrm>
            <a:off x="4549485" y="1905000"/>
            <a:ext cx="3094759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15C96C6-9B82-4679-6FFA-E3B20D029A33}"/>
              </a:ext>
            </a:extLst>
          </p:cNvPr>
          <p:cNvSpPr/>
          <p:nvPr/>
        </p:nvSpPr>
        <p:spPr>
          <a:xfrm>
            <a:off x="4780570" y="1897381"/>
            <a:ext cx="2583124" cy="45719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>
            <a:extLst>
              <a:ext uri="{FF2B5EF4-FFF2-40B4-BE49-F238E27FC236}">
                <a16:creationId xmlns:a16="http://schemas.microsoft.com/office/drawing/2014/main" id="{DCA1B301-E666-76A8-6DD9-3257207808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54731" y="2133600"/>
            <a:ext cx="228600" cy="228600"/>
          </a:xfrm>
          <a:prstGeom prst="rect">
            <a:avLst/>
          </a:prstGeom>
        </p:spPr>
      </p:pic>
      <p:sp>
        <p:nvSpPr>
          <p:cNvPr id="38" name="Text 30">
            <a:extLst>
              <a:ext uri="{FF2B5EF4-FFF2-40B4-BE49-F238E27FC236}">
                <a16:creationId xmlns:a16="http://schemas.microsoft.com/office/drawing/2014/main" id="{B4180738-64B6-E38B-67F0-950F22E82CD8}"/>
              </a:ext>
            </a:extLst>
          </p:cNvPr>
          <p:cNvSpPr txBox="1"/>
          <p:nvPr/>
        </p:nvSpPr>
        <p:spPr>
          <a:xfrm>
            <a:off x="4954731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16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A657B96C-50DC-41E6-78D7-C64C6C56B3C6}"/>
              </a:ext>
            </a:extLst>
          </p:cNvPr>
          <p:cNvSpPr txBox="1"/>
          <p:nvPr/>
        </p:nvSpPr>
        <p:spPr>
          <a:xfrm>
            <a:off x="4954731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제곱근 오차</a:t>
            </a:r>
            <a:endParaRPr lang="en-US" sz="11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4DB26364-BF3B-4DE2-0075-ECC729A8917F}"/>
              </a:ext>
            </a:extLst>
          </p:cNvPr>
          <p:cNvSpPr txBox="1"/>
          <p:nvPr/>
        </p:nvSpPr>
        <p:spPr>
          <a:xfrm>
            <a:off x="4954731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예측값과 실제값의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절대적 차이 크기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E0CCAC6-9738-A00E-173C-DD0AFA27ECE2}"/>
              </a:ext>
            </a:extLst>
          </p:cNvPr>
          <p:cNvSpPr/>
          <p:nvPr/>
        </p:nvSpPr>
        <p:spPr>
          <a:xfrm>
            <a:off x="8146477" y="1905000"/>
            <a:ext cx="3094759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0DF7EE8-155A-C293-D26B-3BB43E150C9A}"/>
              </a:ext>
            </a:extLst>
          </p:cNvPr>
          <p:cNvSpPr/>
          <p:nvPr/>
        </p:nvSpPr>
        <p:spPr>
          <a:xfrm>
            <a:off x="8298877" y="1905000"/>
            <a:ext cx="2152650" cy="38100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6">
            <a:extLst>
              <a:ext uri="{FF2B5EF4-FFF2-40B4-BE49-F238E27FC236}">
                <a16:creationId xmlns:a16="http://schemas.microsoft.com/office/drawing/2014/main" id="{622AAAE9-405F-5AFB-733A-2818035EB5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551723" y="2133600"/>
            <a:ext cx="172085" cy="228600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BACD696B-F68D-1999-5CE8-FB66F2BBCA93}"/>
              </a:ext>
            </a:extLst>
          </p:cNvPr>
          <p:cNvSpPr txBox="1"/>
          <p:nvPr/>
        </p:nvSpPr>
        <p:spPr>
          <a:xfrm>
            <a:off x="8551723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600" dirty="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5DD945E9-DE18-8314-5434-9EBE5E713910}"/>
              </a:ext>
            </a:extLst>
          </p:cNvPr>
          <p:cNvSpPr txBox="1"/>
          <p:nvPr/>
        </p:nvSpPr>
        <p:spPr>
          <a:xfrm>
            <a:off x="8551723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결정계수</a:t>
            </a:r>
            <a:endParaRPr lang="en-US" sz="1100" dirty="0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6E887DE2-7361-0F6D-E6F5-82F7F6BF43CB}"/>
              </a:ext>
            </a:extLst>
          </p:cNvPr>
          <p:cNvSpPr txBox="1"/>
          <p:nvPr/>
        </p:nvSpPr>
        <p:spPr>
          <a:xfrm>
            <a:off x="8551723" y="3094990"/>
            <a:ext cx="19221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독립변수가 종속변수를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설명하는 설명력</a:t>
            </a:r>
            <a:endParaRPr lang="en-US" sz="1000" dirty="0"/>
          </a:p>
        </p:txBody>
      </p:sp>
      <p:pic>
        <p:nvPicPr>
          <p:cNvPr id="45" name="Image 7">
            <a:extLst>
              <a:ext uri="{FF2B5EF4-FFF2-40B4-BE49-F238E27FC236}">
                <a16:creationId xmlns:a16="http://schemas.microsoft.com/office/drawing/2014/main" id="{EF3441B5-2885-C83E-9B69-122372509B7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81" r="-281"/>
          <a:stretch/>
        </p:blipFill>
        <p:spPr>
          <a:xfrm>
            <a:off x="1238250" y="4638675"/>
            <a:ext cx="606265" cy="535769"/>
          </a:xfrm>
          <a:prstGeom prst="rect">
            <a:avLst/>
          </a:prstGeom>
        </p:spPr>
      </p:pic>
      <p:sp>
        <p:nvSpPr>
          <p:cNvPr id="47" name="Text 37">
            <a:extLst>
              <a:ext uri="{FF2B5EF4-FFF2-40B4-BE49-F238E27FC236}">
                <a16:creationId xmlns:a16="http://schemas.microsoft.com/office/drawing/2014/main" id="{515DB7E1-D901-6F8A-1BD1-48DE1D9973E7}"/>
              </a:ext>
            </a:extLst>
          </p:cNvPr>
          <p:cNvSpPr txBox="1"/>
          <p:nvPr/>
        </p:nvSpPr>
        <p:spPr>
          <a:xfrm>
            <a:off x="1992458" y="506643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선행 예측 기간에서 Spearman(0.95 </a:t>
            </a:r>
            <a:r>
              <a:rPr lang="en-US" sz="16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다른 </a:t>
            </a:r>
            <a:r>
              <a:rPr lang="en-US" sz="16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지표가 타 </a:t>
            </a:r>
            <a:r>
              <a:rPr lang="en-US" sz="16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대비</a:t>
            </a: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다소 우위</a:t>
            </a:r>
            <a:r>
              <a:rPr lang="en-US" altLang="ko-KR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A4A64F76-EFED-3F8B-CFB2-2316B8749009}"/>
              </a:ext>
            </a:extLst>
          </p:cNvPr>
          <p:cNvSpPr txBox="1">
            <a:spLocks/>
          </p:cNvSpPr>
          <p:nvPr/>
        </p:nvSpPr>
        <p:spPr>
          <a:xfrm>
            <a:off x="1992458" y="4612064"/>
            <a:ext cx="8687435" cy="3536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2800" b="1" spc="-30" dirty="0" err="1">
                <a:latin typeface="Noto Sans KR" charset="0"/>
                <a:ea typeface="Noto Sans KR" charset="0"/>
                <a:cs typeface="Noto Sans KR" charset="0"/>
              </a:rPr>
              <a:t>CatBoost</a:t>
            </a:r>
            <a:r>
              <a:rPr lang="en-US" sz="2800" b="1" spc="-30" dirty="0">
                <a:latin typeface="Noto Sans KR" charset="0"/>
                <a:ea typeface="Noto Sans KR" charset="0"/>
                <a:cs typeface="Noto Sans KR" charset="0"/>
              </a:rPr>
              <a:t>, </a:t>
            </a:r>
            <a:r>
              <a:rPr lang="en-US" sz="2800" b="1" spc="-30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h=1~4 전 </a:t>
            </a:r>
            <a:r>
              <a:rPr lang="en-US" sz="2800" b="1" spc="-30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구간</a:t>
            </a:r>
            <a:r>
              <a:rPr lang="en-US" sz="2800" b="1" spc="-30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altLang="en-US" sz="2800" b="1" spc="-30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다소 우위</a:t>
            </a:r>
            <a:r>
              <a:rPr lang="en-US" sz="2800" b="1" spc="-30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2800" b="1" spc="-30" dirty="0">
                <a:latin typeface="Noto Sans KR" charset="0"/>
                <a:ea typeface="Noto Sans KR" charset="0"/>
                <a:cs typeface="Noto Sans KR" charset="0"/>
              </a:rPr>
              <a:t>→ </a:t>
            </a:r>
            <a:r>
              <a:rPr lang="en-US" sz="2800" b="1" spc="-30" dirty="0" err="1">
                <a:latin typeface="Noto Sans KR" charset="0"/>
                <a:ea typeface="Noto Sans KR" charset="0"/>
                <a:cs typeface="Noto Sans KR" charset="0"/>
              </a:rPr>
              <a:t>최종</a:t>
            </a:r>
            <a:r>
              <a:rPr lang="en-US" sz="2800" b="1" spc="-30" dirty="0"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2800" b="1" spc="-30" dirty="0" err="1">
                <a:latin typeface="Noto Sans KR" charset="0"/>
                <a:ea typeface="Noto Sans KR" charset="0"/>
                <a:cs typeface="Noto Sans KR" charset="0"/>
              </a:rPr>
              <a:t>모델</a:t>
            </a:r>
            <a:r>
              <a:rPr lang="en-US" sz="2800" b="1" spc="-30" dirty="0"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2800" b="1" spc="-30" dirty="0" err="1">
                <a:latin typeface="Noto Sans KR" charset="0"/>
                <a:ea typeface="Noto Sans KR" charset="0"/>
                <a:cs typeface="Noto Sans KR" charset="0"/>
              </a:rPr>
              <a:t>선정</a:t>
            </a:r>
            <a:endParaRPr lang="ko-KR" altLang="en-US" sz="2800" b="1" dirty="0"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텍스트 상자 77">
            <a:extLst>
              <a:ext uri="{FF2B5EF4-FFF2-40B4-BE49-F238E27FC236}">
                <a16:creationId xmlns:a16="http://schemas.microsoft.com/office/drawing/2014/main" id="{E8E1D8A8-D6D3-020D-0040-865EF1892059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4" name="도형 78">
            <a:extLst>
              <a:ext uri="{FF2B5EF4-FFF2-40B4-BE49-F238E27FC236}">
                <a16:creationId xmlns:a16="http://schemas.microsoft.com/office/drawing/2014/main" id="{FC7792A4-4D71-1BD0-8DED-1C2B2DDB825B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5" name="텍스트 상자 79">
            <a:extLst>
              <a:ext uri="{FF2B5EF4-FFF2-40B4-BE49-F238E27FC236}">
                <a16:creationId xmlns:a16="http://schemas.microsoft.com/office/drawing/2014/main" id="{9F346E51-3451-7CE5-09DA-64E8609C42DA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A9A4F-38AB-DBFA-AB5E-9686A87C1601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17</a:t>
            </a:r>
            <a:endParaRPr lang="ko-KR" altLang="en-US" sz="1000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762728D3-1BDF-E6F4-C62C-FE7D51D9D563}"/>
              </a:ext>
            </a:extLst>
          </p:cNvPr>
          <p:cNvSpPr/>
          <p:nvPr/>
        </p:nvSpPr>
        <p:spPr>
          <a:xfrm>
            <a:off x="8402787" y="1894608"/>
            <a:ext cx="2583124" cy="45719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633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0"/>
          <p:cNvSpPr>
            <a:spLocks/>
          </p:cNvSpPr>
          <p:nvPr/>
        </p:nvSpPr>
        <p:spPr>
          <a:xfrm>
            <a:off x="583565" y="2094230"/>
            <a:ext cx="1943735" cy="991235"/>
          </a:xfrm>
          <a:prstGeom prst="roundRect">
            <a:avLst>
              <a:gd name="adj" fmla="val 14206"/>
            </a:avLst>
          </a:prstGeom>
          <a:solidFill>
            <a:srgbClr val="E8EEFF"/>
          </a:solidFill>
          <a:ln w="25400" cap="flat" cmpd="sng">
            <a:solidFill>
              <a:srgbClr val="1A35B5">
                <a:alpha val="100000"/>
              </a:srgbClr>
            </a:solidFill>
            <a:prstDash val="solid"/>
          </a:ln>
          <a:effectLst>
            <a:outerShdw blurRad="101600" dist="38100" dir="16200000" algn="bl" rotWithShape="0">
              <a:srgbClr val="1A35B5">
                <a:alpha val="9803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>
            <a:off x="2964815" y="2094230"/>
            <a:ext cx="192468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>
            <a:off x="5346065" y="2094230"/>
            <a:ext cx="192468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>
            <a:off x="7727315" y="2094230"/>
            <a:ext cx="201993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>
            <a:off x="10204450" y="2094230"/>
            <a:ext cx="1810385" cy="953135"/>
          </a:xfrm>
          <a:prstGeom prst="roundRect">
            <a:avLst>
              <a:gd name="adj" fmla="val 15355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1A35B5">
                <a:alpha val="2000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>
            <a:off x="762000" y="3666490"/>
            <a:ext cx="10688320" cy="2515235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>
            <a:off x="762000" y="3666490"/>
            <a:ext cx="10688320" cy="29210"/>
          </a:xfrm>
          <a:prstGeom prst="roundRect">
            <a:avLst>
              <a:gd name="adj" fmla="val 146630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/>
          </p:cNvSpPr>
          <p:nvPr/>
        </p:nvSpPr>
        <p:spPr>
          <a:xfrm>
            <a:off x="762000" y="6286500"/>
            <a:ext cx="10668635" cy="401320"/>
          </a:xfrm>
          <a:prstGeom prst="roundRect">
            <a:avLst>
              <a:gd name="adj" fmla="val 65232"/>
            </a:avLst>
          </a:prstGeom>
          <a:solidFill>
            <a:srgbClr val="1A35B5">
              <a:alpha val="5887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>
            <a:off x="4286885" y="3695700"/>
            <a:ext cx="2191385" cy="2419985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4" name="Picture " descr="C:/Users/Kim dong gwan/AppData/Roaming/PolarisOffice/ETemp/17048_16254952/fImage3171738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952500" y="4191000"/>
            <a:ext cx="10287635" cy="9525"/>
          </a:xfrm>
          <a:prstGeom prst="rect">
            <a:avLst/>
          </a:prstGeom>
          <a:noFill/>
        </p:spPr>
      </p:pic>
      <p:pic>
        <p:nvPicPr>
          <p:cNvPr id="15" name="Picture " descr="C:/Users/Kim dong gwan/AppData/Roaming/PolarisOffice/ETemp/17048_16254952/fImage3161739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952500" y="4714875"/>
            <a:ext cx="10287635" cy="9525"/>
          </a:xfrm>
          <a:prstGeom prst="rect">
            <a:avLst/>
          </a:prstGeom>
          <a:noFill/>
        </p:spPr>
      </p:pic>
      <p:pic>
        <p:nvPicPr>
          <p:cNvPr id="16" name="Picture " descr="C:/Users/Kim dong gwan/AppData/Roaming/PolarisOffice/ETemp/17048_16254952/fImage316174065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952500" y="5191125"/>
            <a:ext cx="10287635" cy="9525"/>
          </a:xfrm>
          <a:prstGeom prst="rect">
            <a:avLst/>
          </a:prstGeom>
          <a:noFill/>
        </p:spPr>
      </p:pic>
      <p:pic>
        <p:nvPicPr>
          <p:cNvPr id="17" name="Picture " descr="C:/Users/Kim dong gwan/AppData/Roaming/PolarisOffice/ETemp/17048_16254952/fImage31617419169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952500" y="5667375"/>
            <a:ext cx="10287635" cy="9525"/>
          </a:xfrm>
          <a:prstGeom prst="rect">
            <a:avLst/>
          </a:prstGeom>
          <a:noFill/>
        </p:spPr>
      </p:pic>
      <p:sp>
        <p:nvSpPr>
          <p:cNvPr id="20" name="Rect 0"/>
          <p:cNvSpPr txBox="1">
            <a:spLocks/>
          </p:cNvSpPr>
          <p:nvPr/>
        </p:nvSpPr>
        <p:spPr>
          <a:xfrm>
            <a:off x="762000" y="952500"/>
            <a:ext cx="8412480" cy="457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30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CatBoost 최종 모델 선정 및 학습 프로세스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1" name="Picture " descr="C:/Users/Kim dong gwan/AppData/Roaming/PolarisOffice/ETemp/17048_16254952/fImage139117455724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4" r="-1064"/>
          <a:stretch>
            <a:fillRect/>
          </a:stretch>
        </p:blipFill>
        <p:spPr>
          <a:xfrm>
            <a:off x="762000" y="1764665"/>
            <a:ext cx="220345" cy="172720"/>
          </a:xfrm>
          <a:prstGeom prst="rect">
            <a:avLst/>
          </a:prstGeom>
          <a:noFill/>
        </p:spPr>
      </p:pic>
      <p:sp>
        <p:nvSpPr>
          <p:cNvPr id="22" name="Rect 0"/>
          <p:cNvSpPr txBox="1">
            <a:spLocks/>
          </p:cNvSpPr>
          <p:nvPr/>
        </p:nvSpPr>
        <p:spPr>
          <a:xfrm>
            <a:off x="1047750" y="1714500"/>
            <a:ext cx="309245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3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CatBoost 학습 및 예측 파이프라인</a:t>
            </a:r>
            <a:endParaRPr lang="ko-KR" altLang="en-US" sz="13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594995" y="2320290"/>
            <a:ext cx="1883410" cy="6489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① Optuna 튜닝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h별 최적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하이퍼파라미터 설정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4" name="Picture " descr="C:/Users/Kim dong gwan/AppData/Roaming/PolarisOffice/ETemp/17048_16254952/fImage46217481478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2631440" y="2489200"/>
            <a:ext cx="123825" cy="191135"/>
          </a:xfrm>
          <a:prstGeom prst="rect">
            <a:avLst/>
          </a:prstGeom>
          <a:noFill/>
        </p:spPr>
      </p:pic>
      <p:sp>
        <p:nvSpPr>
          <p:cNvPr id="25" name="Rect 0"/>
          <p:cNvSpPr txBox="1">
            <a:spLocks/>
          </p:cNvSpPr>
          <p:nvPr/>
        </p:nvSpPr>
        <p:spPr>
          <a:xfrm>
            <a:off x="2976245" y="2311400"/>
            <a:ext cx="1883410" cy="6489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② 전체 재학습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Train 데이터: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2021Q1 ~ 2025Q2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6" name="Picture " descr="C:/Users/Kim dong gwan/AppData/Roaming/PolarisOffice/ETemp/17048_16254952/fImage46217509358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5012055" y="2489200"/>
            <a:ext cx="123825" cy="191135"/>
          </a:xfrm>
          <a:prstGeom prst="rect">
            <a:avLst/>
          </a:prstGeom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>
            <a:off x="5358130" y="2311400"/>
            <a:ext cx="1883410" cy="6489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③ 최종 예측 입력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X 데이터: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2025Q3 입력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8" name="Picture " descr="C:/Users/Kim dong gwan/AppData/Roaming/PolarisOffice/ETemp/17048_16254952/fImage46217526962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7394575" y="2489200"/>
            <a:ext cx="123825" cy="191135"/>
          </a:xfrm>
          <a:prstGeom prst="rect">
            <a:avLst/>
          </a:prstGeom>
          <a:noFill/>
        </p:spPr>
      </p:pic>
      <p:sp>
        <p:nvSpPr>
          <p:cNvPr id="29" name="Rect 0"/>
          <p:cNvSpPr txBox="1">
            <a:spLocks/>
          </p:cNvSpPr>
          <p:nvPr/>
        </p:nvSpPr>
        <p:spPr>
          <a:xfrm>
            <a:off x="7786370" y="2311400"/>
            <a:ext cx="1883410" cy="6489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④ 예측 출력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9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h=1→25Q4 | h=2→26Q1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9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h=3→26Q2 | h=4→26Q3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30" name="Picture " descr="C:/Users/Kim dong gwan/AppData/Roaming/PolarisOffice/ETemp/17048_16254952/fImage46717544464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>
            <a:off x="9870440" y="2489200"/>
            <a:ext cx="123825" cy="191135"/>
          </a:xfrm>
          <a:prstGeom prst="rect">
            <a:avLst/>
          </a:prstGeom>
          <a:noFill/>
        </p:spPr>
      </p:pic>
      <p:sp>
        <p:nvSpPr>
          <p:cNvPr id="31" name="Rect 0"/>
          <p:cNvSpPr txBox="1">
            <a:spLocks/>
          </p:cNvSpPr>
          <p:nvPr/>
        </p:nvSpPr>
        <p:spPr>
          <a:xfrm>
            <a:off x="10217150" y="2311400"/>
            <a:ext cx="1783715" cy="6864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⑤ 결과 산출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E8EEFF"/>
                </a:solidFill>
                <a:latin typeface="Noto Sans KR" charset="0"/>
                <a:ea typeface="Noto Sans KR" charset="0"/>
                <a:sym typeface="맑은 고딕" charset="0"/>
              </a:rPr>
              <a:t>424개 행정동</a:t>
            </a:r>
            <a:endParaRPr lang="ko-KR" altLang="en-US" sz="1000" b="1">
              <a:solidFill>
                <a:srgbClr val="E8EEFF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000" b="1">
                <a:solidFill>
                  <a:srgbClr val="E8EEFF"/>
                </a:solidFill>
                <a:latin typeface="Noto Sans KR" charset="0"/>
                <a:ea typeface="Noto Sans KR" charset="0"/>
                <a:sym typeface="맑은 고딕" charset="0"/>
              </a:rPr>
              <a:t>상권활력점수 순위</a:t>
            </a:r>
            <a:endParaRPr lang="ko-KR" altLang="en-US" sz="1000" b="1">
              <a:solidFill>
                <a:srgbClr val="E8EE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32" name="Picture " descr="C:/Users/Kim dong gwan/AppData/Roaming/PolarisOffice/ETemp/17048_16254952/fImage76517565705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83915"/>
            <a:ext cx="172720" cy="172720"/>
          </a:xfrm>
          <a:prstGeom prst="rect">
            <a:avLst/>
          </a:prstGeom>
          <a:noFill/>
        </p:spPr>
      </p:pic>
      <p:sp>
        <p:nvSpPr>
          <p:cNvPr id="33" name="Rect 0"/>
          <p:cNvSpPr txBox="1">
            <a:spLocks/>
          </p:cNvSpPr>
          <p:nvPr/>
        </p:nvSpPr>
        <p:spPr>
          <a:xfrm>
            <a:off x="1047750" y="3333750"/>
            <a:ext cx="4001135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3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예측 시계열(h)별 최종 성능 결과</a:t>
            </a:r>
            <a:endParaRPr lang="ko-KR" altLang="en-US" sz="13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4" name="Rect 0"/>
          <p:cNvSpPr txBox="1">
            <a:spLocks/>
          </p:cNvSpPr>
          <p:nvPr/>
        </p:nvSpPr>
        <p:spPr>
          <a:xfrm>
            <a:off x="914400" y="3857625"/>
            <a:ext cx="122047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시계열 (h)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5" name="Rect 0"/>
          <p:cNvSpPr txBox="1">
            <a:spLocks/>
          </p:cNvSpPr>
          <p:nvPr/>
        </p:nvSpPr>
        <p:spPr>
          <a:xfrm>
            <a:off x="2217420" y="3857625"/>
            <a:ext cx="185229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예측 시점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6" name="Rect 0"/>
          <p:cNvSpPr txBox="1">
            <a:spLocks/>
          </p:cNvSpPr>
          <p:nvPr/>
        </p:nvSpPr>
        <p:spPr>
          <a:xfrm>
            <a:off x="4243070" y="3857625"/>
            <a:ext cx="2279015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Spearman (핵심)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>
            <a:off x="6718935" y="3857625"/>
            <a:ext cx="227901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lang="en-US" altLang="ko-KR" sz="1200" b="1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RMSE</a:t>
            </a:r>
            <a:endParaRPr lang="ko-KR" altLang="en-US" sz="1200" b="1" dirty="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>
            <a:off x="9102090" y="3857625"/>
            <a:ext cx="218059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R²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>
            <a:off x="914400" y="4381500"/>
            <a:ext cx="122047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1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0" name="Rect 0"/>
          <p:cNvSpPr txBox="1">
            <a:spLocks/>
          </p:cNvSpPr>
          <p:nvPr/>
        </p:nvSpPr>
        <p:spPr>
          <a:xfrm>
            <a:off x="2247900" y="4381500"/>
            <a:ext cx="179197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2025Q4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1" name="Rect 0"/>
          <p:cNvSpPr txBox="1">
            <a:spLocks/>
          </p:cNvSpPr>
          <p:nvPr/>
        </p:nvSpPr>
        <p:spPr>
          <a:xfrm>
            <a:off x="4243070" y="4381500"/>
            <a:ext cx="2279015" cy="2584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0.9553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>
            <a:off x="6718935" y="4381500"/>
            <a:ext cx="2279015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</a:t>
            </a:r>
            <a:r>
              <a:rPr lang="en-US"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1755</a:t>
            </a:r>
            <a:endParaRPr lang="ko-KR" altLang="en-US" sz="1200" dirty="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>
            <a:off x="9102090" y="4381500"/>
            <a:ext cx="218059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0.9089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>
            <a:off x="914400" y="4858385"/>
            <a:ext cx="122047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2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>
            <a:off x="2247900" y="4858385"/>
            <a:ext cx="179197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2026Q1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6" name="Rect 0"/>
          <p:cNvSpPr txBox="1">
            <a:spLocks/>
          </p:cNvSpPr>
          <p:nvPr/>
        </p:nvSpPr>
        <p:spPr>
          <a:xfrm>
            <a:off x="4243070" y="4858385"/>
            <a:ext cx="2279015" cy="2584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0.9525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7" name="Rect 0"/>
          <p:cNvSpPr txBox="1">
            <a:spLocks/>
          </p:cNvSpPr>
          <p:nvPr/>
        </p:nvSpPr>
        <p:spPr>
          <a:xfrm>
            <a:off x="6718935" y="4858385"/>
            <a:ext cx="2279015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</a:t>
            </a:r>
            <a:r>
              <a:rPr lang="en-US"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1784</a:t>
            </a:r>
            <a:endParaRPr lang="ko-KR" altLang="en-US" sz="1200" dirty="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8" name="Rect 0"/>
          <p:cNvSpPr txBox="1">
            <a:spLocks/>
          </p:cNvSpPr>
          <p:nvPr/>
        </p:nvSpPr>
        <p:spPr>
          <a:xfrm>
            <a:off x="9102090" y="4858385"/>
            <a:ext cx="218059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0.9059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9" name="Rect 0"/>
          <p:cNvSpPr txBox="1">
            <a:spLocks/>
          </p:cNvSpPr>
          <p:nvPr/>
        </p:nvSpPr>
        <p:spPr>
          <a:xfrm>
            <a:off x="914400" y="5334000"/>
            <a:ext cx="122047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3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0" name="Rect 0"/>
          <p:cNvSpPr txBox="1">
            <a:spLocks/>
          </p:cNvSpPr>
          <p:nvPr/>
        </p:nvSpPr>
        <p:spPr>
          <a:xfrm>
            <a:off x="2247900" y="5334000"/>
            <a:ext cx="179197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2026Q2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>
            <a:off x="4243070" y="5334000"/>
            <a:ext cx="2279015" cy="2584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0.9501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2" name="Rect 0"/>
          <p:cNvSpPr txBox="1">
            <a:spLocks/>
          </p:cNvSpPr>
          <p:nvPr/>
        </p:nvSpPr>
        <p:spPr>
          <a:xfrm>
            <a:off x="6718935" y="5334000"/>
            <a:ext cx="2279015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</a:t>
            </a:r>
            <a:r>
              <a:rPr lang="en-US"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1840</a:t>
            </a:r>
            <a:endParaRPr lang="ko-KR" altLang="en-US" sz="1200" dirty="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3" name="Rect 0"/>
          <p:cNvSpPr txBox="1">
            <a:spLocks/>
          </p:cNvSpPr>
          <p:nvPr/>
        </p:nvSpPr>
        <p:spPr>
          <a:xfrm>
            <a:off x="9102090" y="5334000"/>
            <a:ext cx="218059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0.9000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4" name="Rect 0"/>
          <p:cNvSpPr txBox="1">
            <a:spLocks/>
          </p:cNvSpPr>
          <p:nvPr/>
        </p:nvSpPr>
        <p:spPr>
          <a:xfrm>
            <a:off x="914400" y="5810250"/>
            <a:ext cx="122047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4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5" name="Rect 0"/>
          <p:cNvSpPr txBox="1">
            <a:spLocks/>
          </p:cNvSpPr>
          <p:nvPr/>
        </p:nvSpPr>
        <p:spPr>
          <a:xfrm>
            <a:off x="2247900" y="5810250"/>
            <a:ext cx="179197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2026Q3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>
            <a:off x="4243070" y="5810250"/>
            <a:ext cx="2279015" cy="2584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0.9553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>
            <a:off x="6718935" y="5810250"/>
            <a:ext cx="2279015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</a:t>
            </a:r>
            <a:r>
              <a:rPr lang="en-US" sz="1200" dirty="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1766</a:t>
            </a:r>
            <a:endParaRPr lang="ko-KR" altLang="en-US" sz="1200" dirty="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8" name="Rect 0"/>
          <p:cNvSpPr txBox="1">
            <a:spLocks/>
          </p:cNvSpPr>
          <p:nvPr/>
        </p:nvSpPr>
        <p:spPr>
          <a:xfrm>
            <a:off x="9102090" y="5810250"/>
            <a:ext cx="2180590" cy="2393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0.9075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59" name="Picture " descr="C:/Users/Kim dong gwan/AppData/Roaming/PolarisOffice/ETemp/17048_16254952/fImage110917838145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421755"/>
            <a:ext cx="172720" cy="172720"/>
          </a:xfrm>
          <a:prstGeom prst="rect">
            <a:avLst/>
          </a:prstGeom>
          <a:noFill/>
        </p:spPr>
      </p:pic>
      <p:sp>
        <p:nvSpPr>
          <p:cNvPr id="60" name="Rect 0"/>
          <p:cNvSpPr txBox="1">
            <a:spLocks/>
          </p:cNvSpPr>
          <p:nvPr/>
        </p:nvSpPr>
        <p:spPr>
          <a:xfrm>
            <a:off x="1238250" y="6381750"/>
            <a:ext cx="1017905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1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CatBoost 모델 적용 결과, </a:t>
            </a: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모든 선행 예측 기간(h=1~4)에서 Spearman 계수 0.95 이상의 높은 예측 정확도</a:t>
            </a:r>
            <a:r>
              <a:rPr sz="11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를 달성하며 안정적인 성능 확보.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2" name="텍스트 상자 59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모델 학습 평가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3" name="도형 60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4" name="텍스트 상자 61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6A1C34-20BD-1C2C-E707-AC3A22B88050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18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5218-F749-F94F-5934-F2567816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A22D014F-202D-B0A4-6AC9-8DC4D022F1BB}"/>
              </a:ext>
            </a:extLst>
          </p:cNvPr>
          <p:cNvSpPr/>
          <p:nvPr/>
        </p:nvSpPr>
        <p:spPr>
          <a:xfrm>
            <a:off x="571500" y="1619250"/>
            <a:ext cx="5638800" cy="4019550"/>
          </a:xfrm>
          <a:prstGeom prst="roundRect">
            <a:avLst>
              <a:gd name="adj" fmla="val 1294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DFC7E8-1AF6-A7DB-6BCD-2BEFA6E2856C}"/>
              </a:ext>
            </a:extLst>
          </p:cNvPr>
          <p:cNvSpPr/>
          <p:nvPr/>
        </p:nvSpPr>
        <p:spPr>
          <a:xfrm>
            <a:off x="6477000" y="1619250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855363-F360-4FA4-B8D5-26322F4B66BE}"/>
              </a:ext>
            </a:extLst>
          </p:cNvPr>
          <p:cNvSpPr/>
          <p:nvPr/>
        </p:nvSpPr>
        <p:spPr>
          <a:xfrm>
            <a:off x="6477000" y="1619250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193B3B-5DEA-15C4-500A-2162A88C6B58}"/>
              </a:ext>
            </a:extLst>
          </p:cNvPr>
          <p:cNvSpPr/>
          <p:nvPr/>
        </p:nvSpPr>
        <p:spPr>
          <a:xfrm>
            <a:off x="6477000" y="3000375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E7712A0-8C29-5918-AD0A-26AD43DC59C3}"/>
              </a:ext>
            </a:extLst>
          </p:cNvPr>
          <p:cNvSpPr/>
          <p:nvPr/>
        </p:nvSpPr>
        <p:spPr>
          <a:xfrm>
            <a:off x="6477000" y="3000375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4A65E5"/>
          </a:solidFill>
          <a:ln w="12700">
            <a:solidFill>
              <a:srgbClr val="4A6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C9F9776-C2B2-AC7C-162C-9DDC94D7E18E}"/>
              </a:ext>
            </a:extLst>
          </p:cNvPr>
          <p:cNvSpPr/>
          <p:nvPr/>
        </p:nvSpPr>
        <p:spPr>
          <a:xfrm>
            <a:off x="6477000" y="4381500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B1E3CC-59EB-D3BF-3CDE-DD53DC51FBAE}"/>
              </a:ext>
            </a:extLst>
          </p:cNvPr>
          <p:cNvSpPr/>
          <p:nvPr/>
        </p:nvSpPr>
        <p:spPr>
          <a:xfrm>
            <a:off x="6477000" y="4381500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D45E400-90FB-4F8C-891A-9B373D8E5D84}"/>
              </a:ext>
            </a:extLst>
          </p:cNvPr>
          <p:cNvSpPr/>
          <p:nvPr/>
        </p:nvSpPr>
        <p:spPr>
          <a:xfrm>
            <a:off x="571500" y="5810250"/>
            <a:ext cx="11087100" cy="800100"/>
          </a:xfrm>
          <a:prstGeom prst="roundRect">
            <a:avLst>
              <a:gd name="adj" fmla="val 21769"/>
            </a:avLst>
          </a:prstGeom>
          <a:solidFill>
            <a:srgbClr val="E8EEFF"/>
          </a:solidFill>
          <a:ln w="25400">
            <a:solidFill>
              <a:srgbClr val="1A3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06BC018-5845-77E7-7C59-6A5831FD19DE}"/>
              </a:ext>
            </a:extLst>
          </p:cNvPr>
          <p:cNvSpPr txBox="1"/>
          <p:nvPr/>
        </p:nvSpPr>
        <p:spPr>
          <a:xfrm>
            <a:off x="571500" y="95250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변수 중요도 분석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D6685B-5CB1-1D28-DD3F-AE54751370F1}"/>
              </a:ext>
            </a:extLst>
          </p:cNvPr>
          <p:cNvSpPr txBox="1"/>
          <p:nvPr/>
        </p:nvSpPr>
        <p:spPr>
          <a:xfrm>
            <a:off x="762000" y="1762125"/>
            <a:ext cx="3410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h별 상위 5개 주요 피처 SHAP Value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(Mean |SHAP|)</a:t>
            </a:r>
            <a:endParaRPr lang="en-US" sz="1200" dirty="0"/>
          </a:p>
        </p:txBody>
      </p:sp>
      <p:pic>
        <p:nvPicPr>
          <p:cNvPr id="21" name="Image 4">
            <a:extLst>
              <a:ext uri="{FF2B5EF4-FFF2-40B4-BE49-F238E27FC236}">
                <a16:creationId xmlns:a16="http://schemas.microsoft.com/office/drawing/2014/main" id="{734E0AF7-7AD6-9353-8445-787236E63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2750" y="1857375"/>
            <a:ext cx="114300" cy="228600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CF803E75-196D-0B18-CE9F-39F6ED56700B}"/>
              </a:ext>
            </a:extLst>
          </p:cNvPr>
          <p:cNvSpPr txBox="1"/>
          <p:nvPr/>
        </p:nvSpPr>
        <p:spPr>
          <a:xfrm>
            <a:off x="7144385" y="1837690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수익 효율과 프랜차이즈 집적도가 핵심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4D17BD1D-47EF-EA27-82F7-0553607FDB82}"/>
              </a:ext>
            </a:extLst>
          </p:cNvPr>
          <p:cNvSpPr txBox="1"/>
          <p:nvPr/>
        </p:nvSpPr>
        <p:spPr>
          <a:xfrm>
            <a:off x="7144385" y="2190750"/>
            <a:ext cx="4363085" cy="4578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임대료대비수익성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및 </a:t>
            </a:r>
            <a:r>
              <a:rPr lang="en-US" sz="12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프랜차이즈</a:t>
            </a:r>
            <a:r>
              <a:rPr lang="en-US" sz="12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점포</a:t>
            </a:r>
            <a:r>
              <a:rPr lang="en-US" sz="12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수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가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h=1~4 전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구간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압도적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1·2위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기여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.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상권의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미래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활력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을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판단하는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가장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중요한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기준임</a:t>
            </a:r>
            <a:r>
              <a:rPr lang="en-US" sz="1200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endParaRPr lang="ko-KR" altLang="en-US" sz="1200" dirty="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4" name="Image 5">
            <a:extLst>
              <a:ext uri="{FF2B5EF4-FFF2-40B4-BE49-F238E27FC236}">
                <a16:creationId xmlns:a16="http://schemas.microsoft.com/office/drawing/2014/main" id="{DE66662D-067E-5822-07BC-26B6ADA8F1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762750" y="3238500"/>
            <a:ext cx="142875" cy="22860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193076C5-61E0-0246-995C-C1DE54A1A5DF}"/>
              </a:ext>
            </a:extLst>
          </p:cNvPr>
          <p:cNvSpPr txBox="1"/>
          <p:nvPr/>
        </p:nvSpPr>
        <p:spPr>
          <a:xfrm>
            <a:off x="7144385" y="3219450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집객시설 5종의 안정적 기여</a:t>
            </a:r>
            <a:endParaRPr lang="en-US" sz="15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640B869A-8459-331A-0CE1-7AF8A66ED9B3}"/>
              </a:ext>
            </a:extLst>
          </p:cNvPr>
          <p:cNvSpPr txBox="1"/>
          <p:nvPr/>
        </p:nvSpPr>
        <p:spPr>
          <a:xfrm>
            <a:off x="7144385" y="3571875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교통·교육·의료·공공·상업시설 수가 중위권에서 안정적 유지.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 인프라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상권 활력에 꾸준히 기여하고 있음을 확인.</a:t>
            </a:r>
            <a:endParaRPr lang="en-US" sz="1200" dirty="0"/>
          </a:p>
        </p:txBody>
      </p:sp>
      <p:pic>
        <p:nvPicPr>
          <p:cNvPr id="27" name="Image 6">
            <a:extLst>
              <a:ext uri="{FF2B5EF4-FFF2-40B4-BE49-F238E27FC236}">
                <a16:creationId xmlns:a16="http://schemas.microsoft.com/office/drawing/2014/main" id="{91BB0125-B36A-C692-2A56-0F3BE3E80C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6762750" y="4619625"/>
            <a:ext cx="142875" cy="228600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4F19F2C1-93B0-2614-D3D6-AD1729734E20}"/>
              </a:ext>
            </a:extLst>
          </p:cNvPr>
          <p:cNvSpPr txBox="1"/>
          <p:nvPr/>
        </p:nvSpPr>
        <p:spPr>
          <a:xfrm>
            <a:off x="7144385" y="4600575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변화율 변수 기여도 미미</a:t>
            </a:r>
            <a:endParaRPr lang="en-US" sz="15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3D7C4D89-0524-54F9-C6A9-B8B62E8D6617}"/>
              </a:ext>
            </a:extLst>
          </p:cNvPr>
          <p:cNvSpPr txBox="1"/>
          <p:nvPr/>
        </p:nvSpPr>
        <p:spPr>
          <a:xfrm>
            <a:off x="7144385" y="4953000"/>
            <a:ext cx="4363085" cy="4578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YoY·QoQ·Roll4 등 모든 단기 diff 계열 변수의 기여도는 </a:t>
            </a:r>
            <a:r>
              <a:rPr lang="ko-KR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작음.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상권의 미래는 </a:t>
            </a:r>
            <a:r>
              <a:rPr lang="en-US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단기 등락보다 구조적 체력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에 의해 좌우됨.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0" name="Image 7">
            <a:extLst>
              <a:ext uri="{FF2B5EF4-FFF2-40B4-BE49-F238E27FC236}">
                <a16:creationId xmlns:a16="http://schemas.microsoft.com/office/drawing/2014/main" id="{78B948F7-865D-B0FD-89E6-CA1A9D667D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885" y="6057900"/>
            <a:ext cx="200025" cy="266700"/>
          </a:xfrm>
          <a:prstGeom prst="rect">
            <a:avLst/>
          </a:prstGeom>
        </p:spPr>
      </p:pic>
      <p:sp>
        <p:nvSpPr>
          <p:cNvPr id="31" name="Text 21">
            <a:extLst>
              <a:ext uri="{FF2B5EF4-FFF2-40B4-BE49-F238E27FC236}">
                <a16:creationId xmlns:a16="http://schemas.microsoft.com/office/drawing/2014/main" id="{B55D67B7-182A-5EF0-0675-704E6F6D7CDB}"/>
              </a:ext>
            </a:extLst>
          </p:cNvPr>
          <p:cNvSpPr txBox="1"/>
          <p:nvPr/>
        </p:nvSpPr>
        <p:spPr>
          <a:xfrm>
            <a:off x="1333500" y="6079813"/>
            <a:ext cx="10192385" cy="24828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r>
              <a:rPr lang="en-US" sz="16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h=1 ~ 4 </a:t>
            </a:r>
            <a:r>
              <a:rPr lang="ko-KR" altLang="en-US" sz="16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전 구간에서 변수 중요도 순위가 거의 동일하게 나타남</a:t>
            </a:r>
            <a:r>
              <a:rPr lang="en-US" altLang="ko-KR" sz="16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endParaRPr lang="ko-KR" altLang="en-US" sz="1600" dirty="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텍스트 상자 55">
            <a:extLst>
              <a:ext uri="{FF2B5EF4-FFF2-40B4-BE49-F238E27FC236}">
                <a16:creationId xmlns:a16="http://schemas.microsoft.com/office/drawing/2014/main" id="{3085FAB6-265F-3847-8A2E-AAD470A795B6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모델 학습 평가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5" name="도형 56">
            <a:extLst>
              <a:ext uri="{FF2B5EF4-FFF2-40B4-BE49-F238E27FC236}">
                <a16:creationId xmlns:a16="http://schemas.microsoft.com/office/drawing/2014/main" id="{93D22FFA-14AB-D0A2-5C88-492CFCA9B8C7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텍스트 상자 57">
            <a:extLst>
              <a:ext uri="{FF2B5EF4-FFF2-40B4-BE49-F238E27FC236}">
                <a16:creationId xmlns:a16="http://schemas.microsoft.com/office/drawing/2014/main" id="{5615E028-54D6-C9C4-A6BA-D07C492D6A34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D3105D91-E857-C551-5B1E-2F8714D27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654" y="2221923"/>
            <a:ext cx="5474306" cy="34099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8CCF8DC-7E2E-ADCC-790B-63979068F5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277" t="40224" r="51408" b="53891"/>
          <a:stretch>
            <a:fillRect/>
          </a:stretch>
        </p:blipFill>
        <p:spPr>
          <a:xfrm>
            <a:off x="5787735" y="5327941"/>
            <a:ext cx="290945" cy="2006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6B7ED6-3F60-B544-7591-A1A679F900C2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19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43318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1619250"/>
            <a:ext cx="2905125" cy="723900"/>
          </a:xfrm>
          <a:prstGeom prst="roundRect">
            <a:avLst>
              <a:gd name="adj" fmla="val 1993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619250"/>
            <a:ext cx="38100" cy="723900"/>
          </a:xfrm>
          <a:prstGeom prst="roundRect">
            <a:avLst>
              <a:gd name="adj" fmla="val 375938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2476500"/>
            <a:ext cx="2876550" cy="18097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476500"/>
            <a:ext cx="2876550" cy="38100"/>
          </a:xfrm>
          <a:prstGeom prst="roundRect">
            <a:avLst>
              <a:gd name="adj" fmla="val 150375"/>
            </a:avLst>
          </a:prstGeom>
          <a:solidFill>
            <a:srgbClr val="1A7A4A"/>
          </a:solidFill>
          <a:ln w="12700">
            <a:solidFill>
              <a:srgbClr val="1A7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4381500"/>
            <a:ext cx="2876550" cy="18097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4381500"/>
            <a:ext cx="2876550" cy="38100"/>
          </a:xfrm>
          <a:prstGeom prst="roundRect">
            <a:avLst>
              <a:gd name="adj" fmla="val 150375"/>
            </a:avLst>
          </a:prstGeom>
          <a:solidFill>
            <a:srgbClr val="D94040"/>
          </a:solidFill>
          <a:ln w="12700">
            <a:solidFill>
              <a:srgbClr val="D940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전체 상권활력 예측 순위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4375" y="1762125"/>
            <a:ext cx="2963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기준: 2025Q3 Y점수 기준 상위 424개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4375" y="1962150"/>
            <a:ext cx="2799715" cy="20066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(상위 대다수 핵심상</a:t>
            </a:r>
            <a:r>
              <a:rPr lang="ko-KR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업 </a:t>
            </a:r>
            <a:r>
              <a:rPr lang="en-US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Cluster 0)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762000" y="2680970"/>
            <a:ext cx="219710" cy="1905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47750" y="2647950"/>
            <a:ext cx="2437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상승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(전체 424개 기준)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4375" y="3000375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8990" y="3057525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고척1동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221위 → 107위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758440" y="305752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114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4375" y="339090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08990" y="3448050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일원1동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323위 → 211위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758440" y="3448050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112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4375" y="378079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808990" y="3838575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홍제3동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275위 → 169위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758440" y="383857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106</a:t>
            </a:r>
            <a:endParaRPr lang="en-US" sz="1100" dirty="0"/>
          </a:p>
        </p:txBody>
      </p:sp>
      <p:pic>
        <p:nvPicPr>
          <p:cNvPr id="27" name="Image 1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762000" y="4586605"/>
            <a:ext cx="219710" cy="1905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47750" y="4552950"/>
            <a:ext cx="2437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하락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(전체 424개 기준)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14375" y="490601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 txBox="1"/>
          <p:nvPr/>
        </p:nvSpPr>
        <p:spPr>
          <a:xfrm>
            <a:off x="808990" y="4962525"/>
            <a:ext cx="1847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용산2가동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176위 → 294위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2758440" y="496252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118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14375" y="529590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808990" y="5353050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성산1동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125위 → 242위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2758440" y="5353050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117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14375" y="5686425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808990" y="5743575"/>
            <a:ext cx="159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청구동 </a:t>
            </a: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231위 → 342위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2758440" y="574357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111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629025" y="1628775"/>
            <a:ext cx="8001000" cy="361950"/>
          </a:xfrm>
          <a:prstGeom prst="roundRect">
            <a:avLst>
              <a:gd name="adj" fmla="val 106327"/>
            </a:avLst>
          </a:prstGeom>
          <a:solidFill>
            <a:srgbClr val="1A35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3629025" y="1971675"/>
            <a:ext cx="8001000" cy="19050"/>
          </a:xfrm>
          <a:prstGeom prst="roundRect">
            <a:avLst>
              <a:gd name="adj" fmla="val 2005054"/>
            </a:avLst>
          </a:prstGeom>
          <a:solidFill>
            <a:srgbClr val="0F2070"/>
          </a:solidFill>
          <a:ln w="12700">
            <a:solidFill>
              <a:srgbClr val="0F20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3590925" y="17056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현재순위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4520565" y="17056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행정동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066790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711517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h=2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816292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h=3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21067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h=4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258425" y="17056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변동(h4)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629025" y="19907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4"/>
          <p:cNvSpPr/>
          <p:nvPr/>
        </p:nvSpPr>
        <p:spPr>
          <a:xfrm>
            <a:off x="3629025" y="22383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5"/>
          <p:cNvSpPr txBox="1"/>
          <p:nvPr/>
        </p:nvSpPr>
        <p:spPr>
          <a:xfrm>
            <a:off x="3590925" y="20193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4520565" y="20193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역삼1동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6066790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711517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816292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921067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0258425" y="20193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3629025" y="22479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3"/>
          <p:cNvSpPr/>
          <p:nvPr/>
        </p:nvSpPr>
        <p:spPr>
          <a:xfrm>
            <a:off x="3629025" y="24955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4"/>
          <p:cNvSpPr txBox="1"/>
          <p:nvPr/>
        </p:nvSpPr>
        <p:spPr>
          <a:xfrm>
            <a:off x="3590925" y="22771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4520565" y="22771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구로3동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6066790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711517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816292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921067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10258425" y="22771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3629025" y="25057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2"/>
          <p:cNvSpPr/>
          <p:nvPr/>
        </p:nvSpPr>
        <p:spPr>
          <a:xfrm>
            <a:off x="3629025" y="27533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3"/>
          <p:cNvSpPr txBox="1"/>
          <p:nvPr/>
        </p:nvSpPr>
        <p:spPr>
          <a:xfrm>
            <a:off x="3590925" y="25336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4520565" y="25336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대치4동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6066790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711517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816292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72" name="Text 68"/>
          <p:cNvSpPr txBox="1"/>
          <p:nvPr/>
        </p:nvSpPr>
        <p:spPr>
          <a:xfrm>
            <a:off x="921067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10258425" y="25336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3629025" y="27622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1"/>
          <p:cNvSpPr/>
          <p:nvPr/>
        </p:nvSpPr>
        <p:spPr>
          <a:xfrm>
            <a:off x="3629025" y="30099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2"/>
          <p:cNvSpPr txBox="1"/>
          <p:nvPr/>
        </p:nvSpPr>
        <p:spPr>
          <a:xfrm>
            <a:off x="3590925" y="27908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4520565" y="27908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소공동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6066790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5"/>
          <p:cNvSpPr txBox="1"/>
          <p:nvPr/>
        </p:nvSpPr>
        <p:spPr>
          <a:xfrm>
            <a:off x="711517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ext 76"/>
          <p:cNvSpPr txBox="1"/>
          <p:nvPr/>
        </p:nvSpPr>
        <p:spPr>
          <a:xfrm>
            <a:off x="816292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921067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82" name="Text 78"/>
          <p:cNvSpPr txBox="1"/>
          <p:nvPr/>
        </p:nvSpPr>
        <p:spPr>
          <a:xfrm>
            <a:off x="10258425" y="27908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3629025" y="30194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0"/>
          <p:cNvSpPr/>
          <p:nvPr/>
        </p:nvSpPr>
        <p:spPr>
          <a:xfrm>
            <a:off x="3629025" y="32670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1"/>
          <p:cNvSpPr txBox="1"/>
          <p:nvPr/>
        </p:nvSpPr>
        <p:spPr>
          <a:xfrm>
            <a:off x="3590925" y="30480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86" name="Text 82"/>
          <p:cNvSpPr txBox="1"/>
          <p:nvPr/>
        </p:nvSpPr>
        <p:spPr>
          <a:xfrm>
            <a:off x="4520565" y="30480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문래동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6066790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88" name="Text 84"/>
          <p:cNvSpPr txBox="1"/>
          <p:nvPr/>
        </p:nvSpPr>
        <p:spPr>
          <a:xfrm>
            <a:off x="711517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89" name="Text 85"/>
          <p:cNvSpPr txBox="1"/>
          <p:nvPr/>
        </p:nvSpPr>
        <p:spPr>
          <a:xfrm>
            <a:off x="816292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1000" dirty="0"/>
          </a:p>
        </p:txBody>
      </p:sp>
      <p:sp>
        <p:nvSpPr>
          <p:cNvPr id="90" name="Text 86"/>
          <p:cNvSpPr txBox="1"/>
          <p:nvPr/>
        </p:nvSpPr>
        <p:spPr>
          <a:xfrm>
            <a:off x="921067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91" name="Text 87"/>
          <p:cNvSpPr txBox="1"/>
          <p:nvPr/>
        </p:nvSpPr>
        <p:spPr>
          <a:xfrm>
            <a:off x="10258425" y="30480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23</a:t>
            </a:r>
            <a:endParaRPr lang="en-US" sz="1000" dirty="0"/>
          </a:p>
        </p:txBody>
      </p:sp>
      <p:sp>
        <p:nvSpPr>
          <p:cNvPr id="92" name="Shape 88"/>
          <p:cNvSpPr/>
          <p:nvPr/>
        </p:nvSpPr>
        <p:spPr>
          <a:xfrm>
            <a:off x="3629025" y="32766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89"/>
          <p:cNvSpPr/>
          <p:nvPr/>
        </p:nvSpPr>
        <p:spPr>
          <a:xfrm>
            <a:off x="3629025" y="35242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0"/>
          <p:cNvSpPr txBox="1"/>
          <p:nvPr/>
        </p:nvSpPr>
        <p:spPr>
          <a:xfrm>
            <a:off x="3590925" y="33058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95" name="Text 91"/>
          <p:cNvSpPr txBox="1"/>
          <p:nvPr/>
        </p:nvSpPr>
        <p:spPr>
          <a:xfrm>
            <a:off x="4520565" y="33058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회현동</a:t>
            </a:r>
            <a:endParaRPr lang="en-US" sz="1000" dirty="0"/>
          </a:p>
        </p:txBody>
      </p:sp>
      <p:sp>
        <p:nvSpPr>
          <p:cNvPr id="96" name="Text 92"/>
          <p:cNvSpPr txBox="1"/>
          <p:nvPr/>
        </p:nvSpPr>
        <p:spPr>
          <a:xfrm>
            <a:off x="6066790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97" name="Text 93"/>
          <p:cNvSpPr txBox="1"/>
          <p:nvPr/>
        </p:nvSpPr>
        <p:spPr>
          <a:xfrm>
            <a:off x="711517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98" name="Text 94"/>
          <p:cNvSpPr txBox="1"/>
          <p:nvPr/>
        </p:nvSpPr>
        <p:spPr>
          <a:xfrm>
            <a:off x="816292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99" name="Text 95"/>
          <p:cNvSpPr txBox="1"/>
          <p:nvPr/>
        </p:nvSpPr>
        <p:spPr>
          <a:xfrm>
            <a:off x="921067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Text 96"/>
          <p:cNvSpPr txBox="1"/>
          <p:nvPr/>
        </p:nvSpPr>
        <p:spPr>
          <a:xfrm>
            <a:off x="10258425" y="33058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101" name="Shape 97"/>
          <p:cNvSpPr/>
          <p:nvPr/>
        </p:nvSpPr>
        <p:spPr>
          <a:xfrm>
            <a:off x="3629025" y="35344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98"/>
          <p:cNvSpPr/>
          <p:nvPr/>
        </p:nvSpPr>
        <p:spPr>
          <a:xfrm>
            <a:off x="3629025" y="37820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99"/>
          <p:cNvSpPr txBox="1"/>
          <p:nvPr/>
        </p:nvSpPr>
        <p:spPr>
          <a:xfrm>
            <a:off x="3590925" y="35623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04" name="Text 100"/>
          <p:cNvSpPr txBox="1"/>
          <p:nvPr/>
        </p:nvSpPr>
        <p:spPr>
          <a:xfrm>
            <a:off x="4520565" y="35623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방이2동</a:t>
            </a:r>
            <a:endParaRPr lang="en-US" sz="1000" dirty="0"/>
          </a:p>
        </p:txBody>
      </p:sp>
      <p:sp>
        <p:nvSpPr>
          <p:cNvPr id="105" name="Text 101"/>
          <p:cNvSpPr txBox="1"/>
          <p:nvPr/>
        </p:nvSpPr>
        <p:spPr>
          <a:xfrm>
            <a:off x="6066790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06" name="Text 102"/>
          <p:cNvSpPr txBox="1"/>
          <p:nvPr/>
        </p:nvSpPr>
        <p:spPr>
          <a:xfrm>
            <a:off x="711517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07" name="Text 103"/>
          <p:cNvSpPr txBox="1"/>
          <p:nvPr/>
        </p:nvSpPr>
        <p:spPr>
          <a:xfrm>
            <a:off x="816292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08" name="Text 104"/>
          <p:cNvSpPr txBox="1"/>
          <p:nvPr/>
        </p:nvSpPr>
        <p:spPr>
          <a:xfrm>
            <a:off x="921067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09" name="Text 105"/>
          <p:cNvSpPr txBox="1"/>
          <p:nvPr/>
        </p:nvSpPr>
        <p:spPr>
          <a:xfrm>
            <a:off x="10258425" y="35623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110" name="Shape 106"/>
          <p:cNvSpPr/>
          <p:nvPr/>
        </p:nvSpPr>
        <p:spPr>
          <a:xfrm>
            <a:off x="3629025" y="37909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7"/>
          <p:cNvSpPr/>
          <p:nvPr/>
        </p:nvSpPr>
        <p:spPr>
          <a:xfrm>
            <a:off x="3629025" y="40386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08"/>
          <p:cNvSpPr txBox="1"/>
          <p:nvPr/>
        </p:nvSpPr>
        <p:spPr>
          <a:xfrm>
            <a:off x="3590925" y="38195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13" name="Text 109"/>
          <p:cNvSpPr txBox="1"/>
          <p:nvPr/>
        </p:nvSpPr>
        <p:spPr>
          <a:xfrm>
            <a:off x="4520565" y="38195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역삼2동</a:t>
            </a:r>
            <a:endParaRPr lang="en-US" sz="1000" dirty="0"/>
          </a:p>
        </p:txBody>
      </p:sp>
      <p:sp>
        <p:nvSpPr>
          <p:cNvPr id="114" name="Text 110"/>
          <p:cNvSpPr txBox="1"/>
          <p:nvPr/>
        </p:nvSpPr>
        <p:spPr>
          <a:xfrm>
            <a:off x="6066790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5" name="Text 111"/>
          <p:cNvSpPr txBox="1"/>
          <p:nvPr/>
        </p:nvSpPr>
        <p:spPr>
          <a:xfrm>
            <a:off x="711517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6" name="Text 112"/>
          <p:cNvSpPr txBox="1"/>
          <p:nvPr/>
        </p:nvSpPr>
        <p:spPr>
          <a:xfrm>
            <a:off x="816292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17" name="Text 113"/>
          <p:cNvSpPr txBox="1"/>
          <p:nvPr/>
        </p:nvSpPr>
        <p:spPr>
          <a:xfrm>
            <a:off x="921067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8" name="Text 114"/>
          <p:cNvSpPr txBox="1"/>
          <p:nvPr/>
        </p:nvSpPr>
        <p:spPr>
          <a:xfrm>
            <a:off x="10258425" y="38195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119" name="Shape 115"/>
          <p:cNvSpPr/>
          <p:nvPr/>
        </p:nvSpPr>
        <p:spPr>
          <a:xfrm>
            <a:off x="3629025" y="40481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6"/>
          <p:cNvSpPr/>
          <p:nvPr/>
        </p:nvSpPr>
        <p:spPr>
          <a:xfrm>
            <a:off x="3629025" y="42957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7"/>
          <p:cNvSpPr txBox="1"/>
          <p:nvPr/>
        </p:nvSpPr>
        <p:spPr>
          <a:xfrm>
            <a:off x="3590925" y="40767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22" name="Text 118"/>
          <p:cNvSpPr txBox="1"/>
          <p:nvPr/>
        </p:nvSpPr>
        <p:spPr>
          <a:xfrm>
            <a:off x="4520565" y="40767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명동</a:t>
            </a:r>
            <a:endParaRPr lang="en-US" sz="1000" dirty="0"/>
          </a:p>
        </p:txBody>
      </p:sp>
      <p:sp>
        <p:nvSpPr>
          <p:cNvPr id="123" name="Text 119"/>
          <p:cNvSpPr txBox="1"/>
          <p:nvPr/>
        </p:nvSpPr>
        <p:spPr>
          <a:xfrm>
            <a:off x="6066790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24" name="Text 120"/>
          <p:cNvSpPr txBox="1"/>
          <p:nvPr/>
        </p:nvSpPr>
        <p:spPr>
          <a:xfrm>
            <a:off x="711517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25" name="Text 121"/>
          <p:cNvSpPr txBox="1"/>
          <p:nvPr/>
        </p:nvSpPr>
        <p:spPr>
          <a:xfrm>
            <a:off x="816292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26" name="Text 122"/>
          <p:cNvSpPr txBox="1"/>
          <p:nvPr/>
        </p:nvSpPr>
        <p:spPr>
          <a:xfrm>
            <a:off x="921067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27" name="Text 123"/>
          <p:cNvSpPr txBox="1"/>
          <p:nvPr/>
        </p:nvSpPr>
        <p:spPr>
          <a:xfrm>
            <a:off x="10258425" y="40767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4</a:t>
            </a:r>
            <a:endParaRPr lang="en-US" sz="1000" dirty="0"/>
          </a:p>
        </p:txBody>
      </p:sp>
      <p:sp>
        <p:nvSpPr>
          <p:cNvPr id="128" name="Shape 124"/>
          <p:cNvSpPr/>
          <p:nvPr/>
        </p:nvSpPr>
        <p:spPr>
          <a:xfrm>
            <a:off x="3629025" y="43053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5"/>
          <p:cNvSpPr/>
          <p:nvPr/>
        </p:nvSpPr>
        <p:spPr>
          <a:xfrm>
            <a:off x="3629025" y="45529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6"/>
          <p:cNvSpPr txBox="1"/>
          <p:nvPr/>
        </p:nvSpPr>
        <p:spPr>
          <a:xfrm>
            <a:off x="3590925" y="43345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31" name="Text 127"/>
          <p:cNvSpPr txBox="1"/>
          <p:nvPr/>
        </p:nvSpPr>
        <p:spPr>
          <a:xfrm>
            <a:off x="4520565" y="43345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서교동</a:t>
            </a:r>
            <a:endParaRPr lang="en-US" sz="1000" dirty="0"/>
          </a:p>
        </p:txBody>
      </p:sp>
      <p:sp>
        <p:nvSpPr>
          <p:cNvPr id="132" name="Text 128"/>
          <p:cNvSpPr txBox="1"/>
          <p:nvPr/>
        </p:nvSpPr>
        <p:spPr>
          <a:xfrm>
            <a:off x="6066790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3" name="Text 129"/>
          <p:cNvSpPr txBox="1"/>
          <p:nvPr/>
        </p:nvSpPr>
        <p:spPr>
          <a:xfrm>
            <a:off x="711517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4" name="Text 130"/>
          <p:cNvSpPr txBox="1"/>
          <p:nvPr/>
        </p:nvSpPr>
        <p:spPr>
          <a:xfrm>
            <a:off x="816292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5" name="Text 131"/>
          <p:cNvSpPr txBox="1"/>
          <p:nvPr/>
        </p:nvSpPr>
        <p:spPr>
          <a:xfrm>
            <a:off x="921067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6" name="Text 132"/>
          <p:cNvSpPr txBox="1"/>
          <p:nvPr/>
        </p:nvSpPr>
        <p:spPr>
          <a:xfrm>
            <a:off x="10258425" y="43345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7</a:t>
            </a:r>
            <a:endParaRPr lang="en-US" sz="1000" dirty="0"/>
          </a:p>
        </p:txBody>
      </p:sp>
      <p:sp>
        <p:nvSpPr>
          <p:cNvPr id="137" name="Shape 133"/>
          <p:cNvSpPr/>
          <p:nvPr/>
        </p:nvSpPr>
        <p:spPr>
          <a:xfrm>
            <a:off x="3629025" y="45631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4"/>
          <p:cNvSpPr/>
          <p:nvPr/>
        </p:nvSpPr>
        <p:spPr>
          <a:xfrm>
            <a:off x="3629025" y="48107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5"/>
          <p:cNvSpPr txBox="1"/>
          <p:nvPr/>
        </p:nvSpPr>
        <p:spPr>
          <a:xfrm>
            <a:off x="3590925" y="45910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40" name="Text 136"/>
          <p:cNvSpPr txBox="1"/>
          <p:nvPr/>
        </p:nvSpPr>
        <p:spPr>
          <a:xfrm>
            <a:off x="4520565" y="45910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가산동</a:t>
            </a:r>
            <a:endParaRPr lang="en-US" sz="1000" dirty="0"/>
          </a:p>
        </p:txBody>
      </p:sp>
      <p:sp>
        <p:nvSpPr>
          <p:cNvPr id="141" name="Text 137"/>
          <p:cNvSpPr txBox="1"/>
          <p:nvPr/>
        </p:nvSpPr>
        <p:spPr>
          <a:xfrm>
            <a:off x="6066790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42" name="Text 138"/>
          <p:cNvSpPr txBox="1"/>
          <p:nvPr/>
        </p:nvSpPr>
        <p:spPr>
          <a:xfrm>
            <a:off x="711517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43" name="Text 139"/>
          <p:cNvSpPr txBox="1"/>
          <p:nvPr/>
        </p:nvSpPr>
        <p:spPr>
          <a:xfrm>
            <a:off x="816292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44" name="Text 140"/>
          <p:cNvSpPr txBox="1"/>
          <p:nvPr/>
        </p:nvSpPr>
        <p:spPr>
          <a:xfrm>
            <a:off x="921067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45" name="Text 141"/>
          <p:cNvSpPr txBox="1"/>
          <p:nvPr/>
        </p:nvSpPr>
        <p:spPr>
          <a:xfrm>
            <a:off x="10258425" y="45910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2</a:t>
            </a:r>
            <a:endParaRPr lang="en-US" sz="1000" dirty="0"/>
          </a:p>
        </p:txBody>
      </p:sp>
      <p:sp>
        <p:nvSpPr>
          <p:cNvPr id="146" name="Shape 142"/>
          <p:cNvSpPr/>
          <p:nvPr/>
        </p:nvSpPr>
        <p:spPr>
          <a:xfrm>
            <a:off x="3629025" y="48196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3"/>
          <p:cNvSpPr/>
          <p:nvPr/>
        </p:nvSpPr>
        <p:spPr>
          <a:xfrm>
            <a:off x="3629025" y="50673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Text 144"/>
          <p:cNvSpPr txBox="1"/>
          <p:nvPr/>
        </p:nvSpPr>
        <p:spPr>
          <a:xfrm>
            <a:off x="3590925" y="48482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49" name="Text 145"/>
          <p:cNvSpPr txBox="1"/>
          <p:nvPr/>
        </p:nvSpPr>
        <p:spPr>
          <a:xfrm>
            <a:off x="4520565" y="48482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을지로동</a:t>
            </a:r>
            <a:endParaRPr lang="en-US" sz="1000" dirty="0"/>
          </a:p>
        </p:txBody>
      </p:sp>
      <p:sp>
        <p:nvSpPr>
          <p:cNvPr id="150" name="Text 146"/>
          <p:cNvSpPr txBox="1"/>
          <p:nvPr/>
        </p:nvSpPr>
        <p:spPr>
          <a:xfrm>
            <a:off x="6066790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51" name="Text 147"/>
          <p:cNvSpPr txBox="1"/>
          <p:nvPr/>
        </p:nvSpPr>
        <p:spPr>
          <a:xfrm>
            <a:off x="711517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52" name="Text 148"/>
          <p:cNvSpPr txBox="1"/>
          <p:nvPr/>
        </p:nvSpPr>
        <p:spPr>
          <a:xfrm>
            <a:off x="816292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53" name="Text 149"/>
          <p:cNvSpPr txBox="1"/>
          <p:nvPr/>
        </p:nvSpPr>
        <p:spPr>
          <a:xfrm>
            <a:off x="921067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54" name="Text 150"/>
          <p:cNvSpPr txBox="1"/>
          <p:nvPr/>
        </p:nvSpPr>
        <p:spPr>
          <a:xfrm>
            <a:off x="10258425" y="48482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155" name="Shape 151"/>
          <p:cNvSpPr/>
          <p:nvPr/>
        </p:nvSpPr>
        <p:spPr>
          <a:xfrm>
            <a:off x="3629025" y="50768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2"/>
          <p:cNvSpPr/>
          <p:nvPr/>
        </p:nvSpPr>
        <p:spPr>
          <a:xfrm>
            <a:off x="3629025" y="53244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Text 153"/>
          <p:cNvSpPr txBox="1"/>
          <p:nvPr/>
        </p:nvSpPr>
        <p:spPr>
          <a:xfrm>
            <a:off x="3590925" y="51054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58" name="Text 154"/>
          <p:cNvSpPr txBox="1"/>
          <p:nvPr/>
        </p:nvSpPr>
        <p:spPr>
          <a:xfrm>
            <a:off x="4543425" y="5105400"/>
            <a:ext cx="16002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종로1234가동</a:t>
            </a:r>
            <a:endParaRPr lang="en-US" sz="1000" dirty="0"/>
          </a:p>
        </p:txBody>
      </p:sp>
      <p:sp>
        <p:nvSpPr>
          <p:cNvPr id="159" name="Text 155"/>
          <p:cNvSpPr txBox="1"/>
          <p:nvPr/>
        </p:nvSpPr>
        <p:spPr>
          <a:xfrm>
            <a:off x="6066790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0" name="Text 156"/>
          <p:cNvSpPr txBox="1"/>
          <p:nvPr/>
        </p:nvSpPr>
        <p:spPr>
          <a:xfrm>
            <a:off x="711517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1" name="Text 157"/>
          <p:cNvSpPr txBox="1"/>
          <p:nvPr/>
        </p:nvSpPr>
        <p:spPr>
          <a:xfrm>
            <a:off x="816292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2" name="Text 158"/>
          <p:cNvSpPr txBox="1"/>
          <p:nvPr/>
        </p:nvSpPr>
        <p:spPr>
          <a:xfrm>
            <a:off x="921067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63" name="Text 159"/>
          <p:cNvSpPr txBox="1"/>
          <p:nvPr/>
        </p:nvSpPr>
        <p:spPr>
          <a:xfrm>
            <a:off x="10258425" y="51054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</a:t>
            </a:r>
            <a:endParaRPr lang="en-US" sz="1000" dirty="0"/>
          </a:p>
        </p:txBody>
      </p:sp>
      <p:sp>
        <p:nvSpPr>
          <p:cNvPr id="164" name="Shape 160"/>
          <p:cNvSpPr/>
          <p:nvPr/>
        </p:nvSpPr>
        <p:spPr>
          <a:xfrm>
            <a:off x="3629025" y="53340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1"/>
          <p:cNvSpPr/>
          <p:nvPr/>
        </p:nvSpPr>
        <p:spPr>
          <a:xfrm>
            <a:off x="3629025" y="55816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Text 162"/>
          <p:cNvSpPr txBox="1"/>
          <p:nvPr/>
        </p:nvSpPr>
        <p:spPr>
          <a:xfrm>
            <a:off x="3590925" y="53632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67" name="Text 163"/>
          <p:cNvSpPr txBox="1"/>
          <p:nvPr/>
        </p:nvSpPr>
        <p:spPr>
          <a:xfrm>
            <a:off x="4520565" y="53632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서초2동</a:t>
            </a:r>
            <a:endParaRPr lang="en-US" sz="1000" dirty="0"/>
          </a:p>
        </p:txBody>
      </p:sp>
      <p:sp>
        <p:nvSpPr>
          <p:cNvPr id="168" name="Text 164"/>
          <p:cNvSpPr txBox="1"/>
          <p:nvPr/>
        </p:nvSpPr>
        <p:spPr>
          <a:xfrm>
            <a:off x="6066790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69" name="Text 165"/>
          <p:cNvSpPr txBox="1"/>
          <p:nvPr/>
        </p:nvSpPr>
        <p:spPr>
          <a:xfrm>
            <a:off x="711517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70" name="Text 166"/>
          <p:cNvSpPr txBox="1"/>
          <p:nvPr/>
        </p:nvSpPr>
        <p:spPr>
          <a:xfrm>
            <a:off x="816292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71" name="Text 167"/>
          <p:cNvSpPr txBox="1"/>
          <p:nvPr/>
        </p:nvSpPr>
        <p:spPr>
          <a:xfrm>
            <a:off x="921067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72" name="Text 168"/>
          <p:cNvSpPr txBox="1"/>
          <p:nvPr/>
        </p:nvSpPr>
        <p:spPr>
          <a:xfrm>
            <a:off x="10258425" y="53632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</a:t>
            </a:r>
            <a:endParaRPr lang="en-US" sz="1000" dirty="0"/>
          </a:p>
        </p:txBody>
      </p:sp>
      <p:sp>
        <p:nvSpPr>
          <p:cNvPr id="173" name="Shape 169"/>
          <p:cNvSpPr/>
          <p:nvPr/>
        </p:nvSpPr>
        <p:spPr>
          <a:xfrm>
            <a:off x="3629025" y="55918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0"/>
          <p:cNvSpPr/>
          <p:nvPr/>
        </p:nvSpPr>
        <p:spPr>
          <a:xfrm>
            <a:off x="3629025" y="58394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1"/>
          <p:cNvSpPr txBox="1"/>
          <p:nvPr/>
        </p:nvSpPr>
        <p:spPr>
          <a:xfrm>
            <a:off x="3590925" y="56197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76" name="Text 172"/>
          <p:cNvSpPr txBox="1"/>
          <p:nvPr/>
        </p:nvSpPr>
        <p:spPr>
          <a:xfrm>
            <a:off x="4520565" y="56197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논현1동</a:t>
            </a:r>
            <a:endParaRPr lang="en-US" sz="1000" dirty="0"/>
          </a:p>
        </p:txBody>
      </p:sp>
      <p:sp>
        <p:nvSpPr>
          <p:cNvPr id="177" name="Text 173"/>
          <p:cNvSpPr txBox="1"/>
          <p:nvPr/>
        </p:nvSpPr>
        <p:spPr>
          <a:xfrm>
            <a:off x="6066790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78" name="Text 174"/>
          <p:cNvSpPr txBox="1"/>
          <p:nvPr/>
        </p:nvSpPr>
        <p:spPr>
          <a:xfrm>
            <a:off x="711517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79" name="Text 175"/>
          <p:cNvSpPr txBox="1"/>
          <p:nvPr/>
        </p:nvSpPr>
        <p:spPr>
          <a:xfrm>
            <a:off x="816292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80" name="Text 176"/>
          <p:cNvSpPr txBox="1"/>
          <p:nvPr/>
        </p:nvSpPr>
        <p:spPr>
          <a:xfrm>
            <a:off x="921067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81" name="Text 177"/>
          <p:cNvSpPr txBox="1"/>
          <p:nvPr/>
        </p:nvSpPr>
        <p:spPr>
          <a:xfrm>
            <a:off x="10258425" y="56197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</a:t>
            </a:r>
            <a:endParaRPr lang="en-US" sz="1000" dirty="0"/>
          </a:p>
        </p:txBody>
      </p:sp>
      <p:sp>
        <p:nvSpPr>
          <p:cNvPr id="182" name="Shape 178"/>
          <p:cNvSpPr/>
          <p:nvPr/>
        </p:nvSpPr>
        <p:spPr>
          <a:xfrm>
            <a:off x="3629025" y="58483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79"/>
          <p:cNvSpPr/>
          <p:nvPr/>
        </p:nvSpPr>
        <p:spPr>
          <a:xfrm>
            <a:off x="3629025" y="60960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180"/>
          <p:cNvSpPr txBox="1"/>
          <p:nvPr/>
        </p:nvSpPr>
        <p:spPr>
          <a:xfrm>
            <a:off x="3590925" y="58769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85" name="Text 181"/>
          <p:cNvSpPr txBox="1"/>
          <p:nvPr/>
        </p:nvSpPr>
        <p:spPr>
          <a:xfrm>
            <a:off x="4520565" y="58769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서초4동</a:t>
            </a:r>
            <a:endParaRPr lang="en-US" sz="1000" dirty="0"/>
          </a:p>
        </p:txBody>
      </p:sp>
      <p:sp>
        <p:nvSpPr>
          <p:cNvPr id="186" name="Text 182"/>
          <p:cNvSpPr txBox="1"/>
          <p:nvPr/>
        </p:nvSpPr>
        <p:spPr>
          <a:xfrm>
            <a:off x="6066790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187" name="Text 183"/>
          <p:cNvSpPr txBox="1"/>
          <p:nvPr/>
        </p:nvSpPr>
        <p:spPr>
          <a:xfrm>
            <a:off x="711517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188" name="Text 184"/>
          <p:cNvSpPr txBox="1"/>
          <p:nvPr/>
        </p:nvSpPr>
        <p:spPr>
          <a:xfrm>
            <a:off x="816292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189" name="Text 185"/>
          <p:cNvSpPr txBox="1"/>
          <p:nvPr/>
        </p:nvSpPr>
        <p:spPr>
          <a:xfrm>
            <a:off x="921067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190" name="Text 186"/>
          <p:cNvSpPr txBox="1"/>
          <p:nvPr/>
        </p:nvSpPr>
        <p:spPr>
          <a:xfrm>
            <a:off x="10258425" y="58769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4</a:t>
            </a:r>
            <a:endParaRPr lang="en-US" sz="1000" dirty="0"/>
          </a:p>
        </p:txBody>
      </p:sp>
      <p:sp>
        <p:nvSpPr>
          <p:cNvPr id="191" name="Shape 187"/>
          <p:cNvSpPr/>
          <p:nvPr/>
        </p:nvSpPr>
        <p:spPr>
          <a:xfrm>
            <a:off x="3629025" y="61055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88"/>
          <p:cNvSpPr/>
          <p:nvPr/>
        </p:nvSpPr>
        <p:spPr>
          <a:xfrm>
            <a:off x="3629025" y="63531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189"/>
          <p:cNvSpPr txBox="1"/>
          <p:nvPr/>
        </p:nvSpPr>
        <p:spPr>
          <a:xfrm>
            <a:off x="3590925" y="61341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194" name="Text 190"/>
          <p:cNvSpPr txBox="1"/>
          <p:nvPr/>
        </p:nvSpPr>
        <p:spPr>
          <a:xfrm>
            <a:off x="4520565" y="61341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압구정동</a:t>
            </a:r>
            <a:endParaRPr lang="en-US" sz="1000" dirty="0"/>
          </a:p>
        </p:txBody>
      </p:sp>
      <p:sp>
        <p:nvSpPr>
          <p:cNvPr id="195" name="Text 191"/>
          <p:cNvSpPr txBox="1"/>
          <p:nvPr/>
        </p:nvSpPr>
        <p:spPr>
          <a:xfrm>
            <a:off x="6066790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6" name="Text 192"/>
          <p:cNvSpPr txBox="1"/>
          <p:nvPr/>
        </p:nvSpPr>
        <p:spPr>
          <a:xfrm>
            <a:off x="711517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197" name="Text 193"/>
          <p:cNvSpPr txBox="1"/>
          <p:nvPr/>
        </p:nvSpPr>
        <p:spPr>
          <a:xfrm>
            <a:off x="816292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8" name="Text 194"/>
          <p:cNvSpPr txBox="1"/>
          <p:nvPr/>
        </p:nvSpPr>
        <p:spPr>
          <a:xfrm>
            <a:off x="921067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9" name="Text 195"/>
          <p:cNvSpPr txBox="1"/>
          <p:nvPr/>
        </p:nvSpPr>
        <p:spPr>
          <a:xfrm>
            <a:off x="10258425" y="61341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</a:t>
            </a:r>
            <a:endParaRPr lang="en-US" sz="1000" dirty="0"/>
          </a:p>
        </p:txBody>
      </p:sp>
      <p:sp>
        <p:nvSpPr>
          <p:cNvPr id="200" name="Shape 196"/>
          <p:cNvSpPr/>
          <p:nvPr/>
        </p:nvSpPr>
        <p:spPr>
          <a:xfrm>
            <a:off x="3629025" y="6362700"/>
            <a:ext cx="8001000" cy="24765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Text 197"/>
          <p:cNvSpPr txBox="1"/>
          <p:nvPr/>
        </p:nvSpPr>
        <p:spPr>
          <a:xfrm>
            <a:off x="3590925" y="63919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202" name="Text 198"/>
          <p:cNvSpPr txBox="1"/>
          <p:nvPr/>
        </p:nvSpPr>
        <p:spPr>
          <a:xfrm>
            <a:off x="4520565" y="63919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영등포동</a:t>
            </a:r>
            <a:endParaRPr lang="en-US" sz="1000" dirty="0"/>
          </a:p>
        </p:txBody>
      </p:sp>
      <p:sp>
        <p:nvSpPr>
          <p:cNvPr id="203" name="Text 199"/>
          <p:cNvSpPr txBox="1"/>
          <p:nvPr/>
        </p:nvSpPr>
        <p:spPr>
          <a:xfrm>
            <a:off x="6066790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204" name="Text 200"/>
          <p:cNvSpPr txBox="1"/>
          <p:nvPr/>
        </p:nvSpPr>
        <p:spPr>
          <a:xfrm>
            <a:off x="711517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205" name="Text 201"/>
          <p:cNvSpPr txBox="1"/>
          <p:nvPr/>
        </p:nvSpPr>
        <p:spPr>
          <a:xfrm>
            <a:off x="816292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206" name="Text 202"/>
          <p:cNvSpPr txBox="1"/>
          <p:nvPr/>
        </p:nvSpPr>
        <p:spPr>
          <a:xfrm>
            <a:off x="921067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207" name="Text 203"/>
          <p:cNvSpPr txBox="1"/>
          <p:nvPr/>
        </p:nvSpPr>
        <p:spPr>
          <a:xfrm>
            <a:off x="10258425" y="63919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</a:t>
            </a:r>
            <a:endParaRPr lang="en-US" sz="1000" dirty="0"/>
          </a:p>
        </p:txBody>
      </p:sp>
      <p:sp>
        <p:nvSpPr>
          <p:cNvPr id="209" name="텍스트 상자 63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10" name="도형 64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11" name="텍스트 상자 65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8AD6E-EAD4-5269-FA1D-310B9A049AF8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20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0"/>
          <p:cNvSpPr>
            <a:spLocks/>
          </p:cNvSpPr>
          <p:nvPr/>
        </p:nvSpPr>
        <p:spPr>
          <a:xfrm>
            <a:off x="762000" y="1714500"/>
            <a:ext cx="5163185" cy="1381125"/>
          </a:xfrm>
          <a:prstGeom prst="roundRect">
            <a:avLst>
              <a:gd name="adj" fmla="val 7308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>
            <a:off x="762000" y="1714500"/>
            <a:ext cx="5163185" cy="38735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7" name="Picture " descr="C:/Users/Kim dong gwan/AppData/Roaming/PolarisOffice/ETemp/17048_16254952/fImage2061608328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1047750" y="2286000"/>
            <a:ext cx="4572635" cy="9525"/>
          </a:xfrm>
          <a:prstGeom prst="rect">
            <a:avLst/>
          </a:prstGeom>
          <a:noFill/>
        </p:spPr>
      </p:pic>
      <p:sp>
        <p:nvSpPr>
          <p:cNvPr id="8" name="Rect 0"/>
          <p:cNvSpPr>
            <a:spLocks/>
          </p:cNvSpPr>
          <p:nvPr/>
        </p:nvSpPr>
        <p:spPr>
          <a:xfrm>
            <a:off x="6286500" y="1714500"/>
            <a:ext cx="5163185" cy="1381125"/>
          </a:xfrm>
          <a:prstGeom prst="roundRect">
            <a:avLst>
              <a:gd name="adj" fmla="val 7308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>
            <a:off x="6286500" y="1714500"/>
            <a:ext cx="5163185" cy="38735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0" name="Picture " descr="C:/Users/Kim dong gwan/AppData/Roaming/PolarisOffice/ETemp/17048_16254952/fImage20616116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>
            <a:off x="6572885" y="2286000"/>
            <a:ext cx="4572635" cy="9525"/>
          </a:xfrm>
          <a:prstGeom prst="rect">
            <a:avLst/>
          </a:prstGeom>
          <a:noFill/>
        </p:spPr>
      </p:pic>
      <p:sp>
        <p:nvSpPr>
          <p:cNvPr id="11" name="Rect 0"/>
          <p:cNvSpPr>
            <a:spLocks/>
          </p:cNvSpPr>
          <p:nvPr/>
        </p:nvSpPr>
        <p:spPr>
          <a:xfrm>
            <a:off x="762000" y="3715385"/>
            <a:ext cx="10688320" cy="3067685"/>
          </a:xfrm>
          <a:prstGeom prst="roundRect">
            <a:avLst>
              <a:gd name="adj" fmla="val 1481"/>
            </a:avLst>
          </a:prstGeom>
          <a:noFill/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762000" y="952500"/>
            <a:ext cx="7925435" cy="457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30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유망 상권 선정 기준 &amp; 결과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15" name="Picture " descr="C:/Users/Kim dong gwan/AppData/Roaming/PolarisOffice/ETemp/17048_16254952/fImage8161616996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2" r="-1282"/>
          <a:stretch>
            <a:fillRect/>
          </a:stretch>
        </p:blipFill>
        <p:spPr>
          <a:xfrm>
            <a:off x="1047750" y="1938655"/>
            <a:ext cx="220345" cy="191135"/>
          </a:xfrm>
          <a:prstGeom prst="rect">
            <a:avLst/>
          </a:prstGeom>
          <a:noFill/>
        </p:spPr>
      </p:pic>
      <p:sp>
        <p:nvSpPr>
          <p:cNvPr id="16" name="Rect 0"/>
          <p:cNvSpPr txBox="1">
            <a:spLocks/>
          </p:cNvSpPr>
          <p:nvPr/>
        </p:nvSpPr>
        <p:spPr>
          <a:xfrm>
            <a:off x="1380490" y="190500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기준 1 : 순위 지속 성장형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1238250" y="2428875"/>
            <a:ext cx="4572635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h=1~4 전 예측 구간에서 순위 </a:t>
            </a: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지속 상승 또는 유지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8" name="Rect 0"/>
          <p:cNvSpPr txBox="1">
            <a:spLocks/>
          </p:cNvSpPr>
          <p:nvPr/>
        </p:nvSpPr>
        <p:spPr>
          <a:xfrm>
            <a:off x="1238250" y="2672715"/>
            <a:ext cx="4496435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단, 상권 포화 가능성이 높고 순위 상승폭이 작은 행정동</a:t>
            </a: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들은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제외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19" name="Picture " descr="C:/Users/Kim dong gwan/AppData/Roaming/PolarisOffice/ETemp/17048_16254952/fImage949162049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85" y="1938655"/>
            <a:ext cx="238125" cy="191135"/>
          </a:xfrm>
          <a:prstGeom prst="rect">
            <a:avLst/>
          </a:prstGeom>
          <a:noFill/>
        </p:spPr>
      </p:pic>
      <p:sp>
        <p:nvSpPr>
          <p:cNvPr id="20" name="Rect 0"/>
          <p:cNvSpPr txBox="1">
            <a:spLocks/>
          </p:cNvSpPr>
          <p:nvPr/>
        </p:nvSpPr>
        <p:spPr>
          <a:xfrm>
            <a:off x="6905625" y="190500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기준 2 : 클러스터 </a:t>
            </a:r>
            <a:r>
              <a:rPr lang="ko-KR"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별</a:t>
            </a: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 상위 성장 상권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1" name="Rect 0"/>
          <p:cNvSpPr txBox="1">
            <a:spLocks/>
          </p:cNvSpPr>
          <p:nvPr/>
        </p:nvSpPr>
        <p:spPr>
          <a:xfrm>
            <a:off x="6762750" y="2428875"/>
            <a:ext cx="516128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클러스터 내 h=4 기준 </a:t>
            </a: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순위상승 상위 10% &amp; 해당 클러스터 평균 Y 이상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762750" y="2672715"/>
            <a:ext cx="4953000" cy="24828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Cluster 1: 성산2동, 중계4동 / Cluster 2: 염창동, 명일2동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3" name="Picture " descr="C:/Users/Kim dong gwan/AppData/Roaming/PolarisOffice/ETemp/17048_16254952/fImage124216242995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66770"/>
            <a:ext cx="191135" cy="191135"/>
          </a:xfrm>
          <a:prstGeom prst="rect">
            <a:avLst/>
          </a:prstGeom>
          <a:noFill/>
        </p:spPr>
      </p:pic>
      <p:sp>
        <p:nvSpPr>
          <p:cNvPr id="24" name="Rect 0"/>
          <p:cNvSpPr txBox="1">
            <a:spLocks/>
          </p:cNvSpPr>
          <p:nvPr/>
        </p:nvSpPr>
        <p:spPr>
          <a:xfrm>
            <a:off x="1095375" y="333375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최종 선정 7개 유망 행정동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>
            <a:off x="762000" y="3715385"/>
            <a:ext cx="10668635" cy="401320"/>
          </a:xfrm>
          <a:prstGeom prst="rect">
            <a:avLst/>
          </a:prstGeom>
          <a:solidFill>
            <a:srgbClr val="1A35B5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6" name="Rect 0"/>
          <p:cNvSpPr>
            <a:spLocks/>
          </p:cNvSpPr>
          <p:nvPr/>
        </p:nvSpPr>
        <p:spPr>
          <a:xfrm>
            <a:off x="762000" y="4096385"/>
            <a:ext cx="10668635" cy="19685"/>
          </a:xfrm>
          <a:prstGeom prst="rect">
            <a:avLst/>
          </a:prstGeom>
          <a:solidFill>
            <a:srgbClr val="0F2070"/>
          </a:solidFill>
          <a:ln w="12700" cap="flat" cmpd="sng">
            <a:solidFill>
              <a:srgbClr val="0F2070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7" name="Rect 0"/>
          <p:cNvSpPr txBox="1">
            <a:spLocks/>
          </p:cNvSpPr>
          <p:nvPr/>
        </p:nvSpPr>
        <p:spPr>
          <a:xfrm>
            <a:off x="708660" y="3804920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행정동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>
            <a:off x="2042160" y="3804920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클러스터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>
            <a:off x="3383280" y="3804920"/>
            <a:ext cx="123507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현재순위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4533900" y="38049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h=1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>
            <a:off x="5486400" y="38049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h=2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>
            <a:off x="6438900" y="38049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h=3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3" name="Rect 0"/>
          <p:cNvSpPr txBox="1">
            <a:spLocks/>
          </p:cNvSpPr>
          <p:nvPr/>
        </p:nvSpPr>
        <p:spPr>
          <a:xfrm>
            <a:off x="7391400" y="38049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h=4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4" name="Rect 0"/>
          <p:cNvSpPr txBox="1">
            <a:spLocks/>
          </p:cNvSpPr>
          <p:nvPr/>
        </p:nvSpPr>
        <p:spPr>
          <a:xfrm>
            <a:off x="8343900" y="380492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변동(h4)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5" name="Rect 0"/>
          <p:cNvSpPr txBox="1">
            <a:spLocks/>
          </p:cNvSpPr>
          <p:nvPr/>
        </p:nvSpPr>
        <p:spPr>
          <a:xfrm>
            <a:off x="9448800" y="3804920"/>
            <a:ext cx="20580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선정기준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6" name="Rect 0"/>
          <p:cNvSpPr>
            <a:spLocks/>
          </p:cNvSpPr>
          <p:nvPr/>
        </p:nvSpPr>
        <p:spPr>
          <a:xfrm>
            <a:off x="762000" y="4114800"/>
            <a:ext cx="10668635" cy="391160"/>
          </a:xfrm>
          <a:prstGeom prst="rect">
            <a:avLst/>
          </a:prstGeom>
          <a:solidFill>
            <a:srgbClr val="FFFF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7" name="Rect 0"/>
          <p:cNvSpPr>
            <a:spLocks/>
          </p:cNvSpPr>
          <p:nvPr/>
        </p:nvSpPr>
        <p:spPr>
          <a:xfrm>
            <a:off x="762000" y="4495800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>
            <a:off x="708660" y="4205605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행당1동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>
            <a:off x="2042160" y="4210050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0" name="Rect 0"/>
          <p:cNvSpPr txBox="1">
            <a:spLocks/>
          </p:cNvSpPr>
          <p:nvPr/>
        </p:nvSpPr>
        <p:spPr>
          <a:xfrm>
            <a:off x="3390900" y="420560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137위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1" name="Rect 0"/>
          <p:cNvSpPr txBox="1">
            <a:spLocks/>
          </p:cNvSpPr>
          <p:nvPr/>
        </p:nvSpPr>
        <p:spPr>
          <a:xfrm>
            <a:off x="4533900" y="420560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>
            <a:off x="5486400" y="420560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119위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>
            <a:off x="6438900" y="420560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116위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>
            <a:off x="7391400" y="420560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109위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>
            <a:off x="8343900" y="420560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28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6" name="Rect 0"/>
          <p:cNvSpPr>
            <a:spLocks/>
          </p:cNvSpPr>
          <p:nvPr/>
        </p:nvSpPr>
        <p:spPr>
          <a:xfrm>
            <a:off x="10214610" y="4196080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7" name="Rect 0"/>
          <p:cNvSpPr txBox="1">
            <a:spLocks/>
          </p:cNvSpPr>
          <p:nvPr/>
        </p:nvSpPr>
        <p:spPr>
          <a:xfrm>
            <a:off x="10214610" y="4196080"/>
            <a:ext cx="591185" cy="22034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8" name="Rect 0"/>
          <p:cNvSpPr>
            <a:spLocks/>
          </p:cNvSpPr>
          <p:nvPr/>
        </p:nvSpPr>
        <p:spPr>
          <a:xfrm>
            <a:off x="762000" y="4505325"/>
            <a:ext cx="10668635" cy="391160"/>
          </a:xfrm>
          <a:prstGeom prst="rect">
            <a:avLst/>
          </a:prstGeom>
          <a:solidFill>
            <a:srgbClr val="F8F9FA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9" name="Rect 0"/>
          <p:cNvSpPr>
            <a:spLocks/>
          </p:cNvSpPr>
          <p:nvPr/>
        </p:nvSpPr>
        <p:spPr>
          <a:xfrm>
            <a:off x="762000" y="4886325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0" name="Rect 0"/>
          <p:cNvSpPr txBox="1">
            <a:spLocks/>
          </p:cNvSpPr>
          <p:nvPr/>
        </p:nvSpPr>
        <p:spPr>
          <a:xfrm>
            <a:off x="708660" y="4595495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숭인2동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>
            <a:off x="2042160" y="4600575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2" name="Rect 0"/>
          <p:cNvSpPr txBox="1">
            <a:spLocks/>
          </p:cNvSpPr>
          <p:nvPr/>
        </p:nvSpPr>
        <p:spPr>
          <a:xfrm>
            <a:off x="3390900" y="459549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198위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3" name="Rect 0"/>
          <p:cNvSpPr txBox="1">
            <a:spLocks/>
          </p:cNvSpPr>
          <p:nvPr/>
        </p:nvSpPr>
        <p:spPr>
          <a:xfrm>
            <a:off x="4533900" y="45954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173위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4" name="Rect 0"/>
          <p:cNvSpPr txBox="1">
            <a:spLocks/>
          </p:cNvSpPr>
          <p:nvPr/>
        </p:nvSpPr>
        <p:spPr>
          <a:xfrm>
            <a:off x="5486400" y="45954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167위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5" name="Rect 0"/>
          <p:cNvSpPr txBox="1">
            <a:spLocks/>
          </p:cNvSpPr>
          <p:nvPr/>
        </p:nvSpPr>
        <p:spPr>
          <a:xfrm>
            <a:off x="6438900" y="45954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158위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>
            <a:off x="7391400" y="45954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154위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>
            <a:off x="8343900" y="459549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44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8" name="Rect 0"/>
          <p:cNvSpPr>
            <a:spLocks/>
          </p:cNvSpPr>
          <p:nvPr/>
        </p:nvSpPr>
        <p:spPr>
          <a:xfrm>
            <a:off x="10214610" y="4586605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>
            <a:off x="10214610" y="4586605"/>
            <a:ext cx="591185" cy="22034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0" name="Rect 0"/>
          <p:cNvSpPr>
            <a:spLocks/>
          </p:cNvSpPr>
          <p:nvPr/>
        </p:nvSpPr>
        <p:spPr>
          <a:xfrm>
            <a:off x="762000" y="4895850"/>
            <a:ext cx="10668635" cy="391160"/>
          </a:xfrm>
          <a:prstGeom prst="rect">
            <a:avLst/>
          </a:prstGeom>
          <a:solidFill>
            <a:srgbClr val="FFFF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1" name="Rect 0"/>
          <p:cNvSpPr>
            <a:spLocks/>
          </p:cNvSpPr>
          <p:nvPr/>
        </p:nvSpPr>
        <p:spPr>
          <a:xfrm>
            <a:off x="762000" y="5276850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>
            <a:off x="708660" y="4986020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고덕2동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>
            <a:off x="2042160" y="4991100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4" name="Rect 0"/>
          <p:cNvSpPr txBox="1">
            <a:spLocks/>
          </p:cNvSpPr>
          <p:nvPr/>
        </p:nvSpPr>
        <p:spPr>
          <a:xfrm>
            <a:off x="3390900" y="498602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233위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5" name="Rect 0"/>
          <p:cNvSpPr txBox="1">
            <a:spLocks/>
          </p:cNvSpPr>
          <p:nvPr/>
        </p:nvSpPr>
        <p:spPr>
          <a:xfrm>
            <a:off x="4533900" y="49860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6" name="Rect 0"/>
          <p:cNvSpPr txBox="1">
            <a:spLocks/>
          </p:cNvSpPr>
          <p:nvPr/>
        </p:nvSpPr>
        <p:spPr>
          <a:xfrm>
            <a:off x="5486400" y="49860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7" name="Rect 0"/>
          <p:cNvSpPr txBox="1">
            <a:spLocks/>
          </p:cNvSpPr>
          <p:nvPr/>
        </p:nvSpPr>
        <p:spPr>
          <a:xfrm>
            <a:off x="6438900" y="49860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186위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8" name="Rect 0"/>
          <p:cNvSpPr txBox="1">
            <a:spLocks/>
          </p:cNvSpPr>
          <p:nvPr/>
        </p:nvSpPr>
        <p:spPr>
          <a:xfrm>
            <a:off x="7391400" y="49860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184위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9" name="Rect 0"/>
          <p:cNvSpPr txBox="1">
            <a:spLocks/>
          </p:cNvSpPr>
          <p:nvPr/>
        </p:nvSpPr>
        <p:spPr>
          <a:xfrm>
            <a:off x="8343900" y="498602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49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0" name="Rect 0"/>
          <p:cNvSpPr>
            <a:spLocks/>
          </p:cNvSpPr>
          <p:nvPr/>
        </p:nvSpPr>
        <p:spPr>
          <a:xfrm>
            <a:off x="10214610" y="4977130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1" name="Rect 0"/>
          <p:cNvSpPr txBox="1">
            <a:spLocks/>
          </p:cNvSpPr>
          <p:nvPr/>
        </p:nvSpPr>
        <p:spPr>
          <a:xfrm>
            <a:off x="10214610" y="4977130"/>
            <a:ext cx="591185" cy="22034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2" name="Rect 0"/>
          <p:cNvSpPr>
            <a:spLocks/>
          </p:cNvSpPr>
          <p:nvPr/>
        </p:nvSpPr>
        <p:spPr>
          <a:xfrm>
            <a:off x="762000" y="5286375"/>
            <a:ext cx="10668635" cy="391160"/>
          </a:xfrm>
          <a:prstGeom prst="rect">
            <a:avLst/>
          </a:prstGeom>
          <a:solidFill>
            <a:srgbClr val="F8F9FA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3" name="Rect 0"/>
          <p:cNvSpPr>
            <a:spLocks/>
          </p:cNvSpPr>
          <p:nvPr/>
        </p:nvSpPr>
        <p:spPr>
          <a:xfrm>
            <a:off x="762000" y="5667375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4" name="Rect 0"/>
          <p:cNvSpPr txBox="1">
            <a:spLocks/>
          </p:cNvSpPr>
          <p:nvPr/>
        </p:nvSpPr>
        <p:spPr>
          <a:xfrm>
            <a:off x="708660" y="5376545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성산2동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5" name="Rect 0"/>
          <p:cNvSpPr txBox="1">
            <a:spLocks/>
          </p:cNvSpPr>
          <p:nvPr/>
        </p:nvSpPr>
        <p:spPr>
          <a:xfrm>
            <a:off x="2042160" y="5380990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6" name="Rect 0"/>
          <p:cNvSpPr txBox="1">
            <a:spLocks/>
          </p:cNvSpPr>
          <p:nvPr/>
        </p:nvSpPr>
        <p:spPr>
          <a:xfrm>
            <a:off x="3390900" y="537654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244위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7" name="Rect 0"/>
          <p:cNvSpPr txBox="1">
            <a:spLocks/>
          </p:cNvSpPr>
          <p:nvPr/>
        </p:nvSpPr>
        <p:spPr>
          <a:xfrm>
            <a:off x="4533900" y="537654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211위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8" name="Rect 0"/>
          <p:cNvSpPr txBox="1">
            <a:spLocks/>
          </p:cNvSpPr>
          <p:nvPr/>
        </p:nvSpPr>
        <p:spPr>
          <a:xfrm>
            <a:off x="5486400" y="537654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9" name="Rect 0"/>
          <p:cNvSpPr txBox="1">
            <a:spLocks/>
          </p:cNvSpPr>
          <p:nvPr/>
        </p:nvSpPr>
        <p:spPr>
          <a:xfrm>
            <a:off x="6438900" y="537654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0" name="Rect 0"/>
          <p:cNvSpPr txBox="1">
            <a:spLocks/>
          </p:cNvSpPr>
          <p:nvPr/>
        </p:nvSpPr>
        <p:spPr>
          <a:xfrm>
            <a:off x="7391400" y="537654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180위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1" name="Rect 0"/>
          <p:cNvSpPr txBox="1">
            <a:spLocks/>
          </p:cNvSpPr>
          <p:nvPr/>
        </p:nvSpPr>
        <p:spPr>
          <a:xfrm>
            <a:off x="8343900" y="537654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64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2" name="Rect 0"/>
          <p:cNvSpPr>
            <a:spLocks/>
          </p:cNvSpPr>
          <p:nvPr/>
        </p:nvSpPr>
        <p:spPr>
          <a:xfrm>
            <a:off x="10204450" y="5357495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3" name="Rect 0"/>
          <p:cNvSpPr txBox="1">
            <a:spLocks/>
          </p:cNvSpPr>
          <p:nvPr/>
        </p:nvSpPr>
        <p:spPr>
          <a:xfrm>
            <a:off x="10204450" y="5357495"/>
            <a:ext cx="610235" cy="23939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4" name="Rect 0"/>
          <p:cNvSpPr>
            <a:spLocks/>
          </p:cNvSpPr>
          <p:nvPr/>
        </p:nvSpPr>
        <p:spPr>
          <a:xfrm>
            <a:off x="762000" y="5676900"/>
            <a:ext cx="10668635" cy="391160"/>
          </a:xfrm>
          <a:prstGeom prst="rect">
            <a:avLst/>
          </a:prstGeom>
          <a:solidFill>
            <a:srgbClr val="FFFF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5" name="Rect 0"/>
          <p:cNvSpPr>
            <a:spLocks/>
          </p:cNvSpPr>
          <p:nvPr/>
        </p:nvSpPr>
        <p:spPr>
          <a:xfrm>
            <a:off x="762000" y="6057900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6" name="Rect 0"/>
          <p:cNvSpPr txBox="1">
            <a:spLocks/>
          </p:cNvSpPr>
          <p:nvPr/>
        </p:nvSpPr>
        <p:spPr>
          <a:xfrm>
            <a:off x="708660" y="5767070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중계4동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7" name="Rect 0"/>
          <p:cNvSpPr txBox="1">
            <a:spLocks/>
          </p:cNvSpPr>
          <p:nvPr/>
        </p:nvSpPr>
        <p:spPr>
          <a:xfrm>
            <a:off x="2042160" y="5772785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8" name="Rect 0"/>
          <p:cNvSpPr txBox="1">
            <a:spLocks/>
          </p:cNvSpPr>
          <p:nvPr/>
        </p:nvSpPr>
        <p:spPr>
          <a:xfrm>
            <a:off x="3390900" y="576707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265위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9" name="Rect 0"/>
          <p:cNvSpPr txBox="1">
            <a:spLocks/>
          </p:cNvSpPr>
          <p:nvPr/>
        </p:nvSpPr>
        <p:spPr>
          <a:xfrm>
            <a:off x="4533900" y="576707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232위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0" name="Rect 0"/>
          <p:cNvSpPr txBox="1">
            <a:spLocks/>
          </p:cNvSpPr>
          <p:nvPr/>
        </p:nvSpPr>
        <p:spPr>
          <a:xfrm>
            <a:off x="5486400" y="576707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1" name="Rect 0"/>
          <p:cNvSpPr txBox="1">
            <a:spLocks/>
          </p:cNvSpPr>
          <p:nvPr/>
        </p:nvSpPr>
        <p:spPr>
          <a:xfrm>
            <a:off x="6438900" y="576707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223위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2" name="Rect 0"/>
          <p:cNvSpPr txBox="1">
            <a:spLocks/>
          </p:cNvSpPr>
          <p:nvPr/>
        </p:nvSpPr>
        <p:spPr>
          <a:xfrm>
            <a:off x="7391400" y="576707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222위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3" name="Rect 0"/>
          <p:cNvSpPr txBox="1">
            <a:spLocks/>
          </p:cNvSpPr>
          <p:nvPr/>
        </p:nvSpPr>
        <p:spPr>
          <a:xfrm>
            <a:off x="8343900" y="576707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43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4" name="Rect 0"/>
          <p:cNvSpPr>
            <a:spLocks/>
          </p:cNvSpPr>
          <p:nvPr/>
        </p:nvSpPr>
        <p:spPr>
          <a:xfrm>
            <a:off x="10204450" y="5748020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5" name="Rect 0"/>
          <p:cNvSpPr txBox="1">
            <a:spLocks/>
          </p:cNvSpPr>
          <p:nvPr/>
        </p:nvSpPr>
        <p:spPr>
          <a:xfrm>
            <a:off x="10204450" y="5748020"/>
            <a:ext cx="610235" cy="23939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6" name="Rect 0"/>
          <p:cNvSpPr>
            <a:spLocks/>
          </p:cNvSpPr>
          <p:nvPr/>
        </p:nvSpPr>
        <p:spPr>
          <a:xfrm>
            <a:off x="762000" y="6066790"/>
            <a:ext cx="10668635" cy="391160"/>
          </a:xfrm>
          <a:prstGeom prst="rect">
            <a:avLst/>
          </a:prstGeom>
          <a:solidFill>
            <a:srgbClr val="F8F9FA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/>
          </p:cNvSpPr>
          <p:nvPr/>
        </p:nvSpPr>
        <p:spPr>
          <a:xfrm>
            <a:off x="762000" y="6448425"/>
            <a:ext cx="1066863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8" name="Rect 0"/>
          <p:cNvSpPr txBox="1">
            <a:spLocks/>
          </p:cNvSpPr>
          <p:nvPr/>
        </p:nvSpPr>
        <p:spPr>
          <a:xfrm>
            <a:off x="708660" y="6157595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염창동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9" name="Rect 0"/>
          <p:cNvSpPr txBox="1">
            <a:spLocks/>
          </p:cNvSpPr>
          <p:nvPr/>
        </p:nvSpPr>
        <p:spPr>
          <a:xfrm>
            <a:off x="2042160" y="6163310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0" name="Rect 0"/>
          <p:cNvSpPr txBox="1">
            <a:spLocks/>
          </p:cNvSpPr>
          <p:nvPr/>
        </p:nvSpPr>
        <p:spPr>
          <a:xfrm>
            <a:off x="3390900" y="615759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1" name="Rect 0"/>
          <p:cNvSpPr txBox="1">
            <a:spLocks/>
          </p:cNvSpPr>
          <p:nvPr/>
        </p:nvSpPr>
        <p:spPr>
          <a:xfrm>
            <a:off x="4533900" y="61575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146위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2" name="Rect 0"/>
          <p:cNvSpPr txBox="1">
            <a:spLocks/>
          </p:cNvSpPr>
          <p:nvPr/>
        </p:nvSpPr>
        <p:spPr>
          <a:xfrm>
            <a:off x="5486400" y="61575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149위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3" name="Rect 0"/>
          <p:cNvSpPr txBox="1">
            <a:spLocks/>
          </p:cNvSpPr>
          <p:nvPr/>
        </p:nvSpPr>
        <p:spPr>
          <a:xfrm>
            <a:off x="6438900" y="61575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135위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4" name="Rect 0"/>
          <p:cNvSpPr txBox="1">
            <a:spLocks/>
          </p:cNvSpPr>
          <p:nvPr/>
        </p:nvSpPr>
        <p:spPr>
          <a:xfrm>
            <a:off x="7391400" y="6157595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118위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5" name="Rect 0"/>
          <p:cNvSpPr txBox="1">
            <a:spLocks/>
          </p:cNvSpPr>
          <p:nvPr/>
        </p:nvSpPr>
        <p:spPr>
          <a:xfrm>
            <a:off x="8343900" y="6157595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88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6" name="Rect 0"/>
          <p:cNvSpPr>
            <a:spLocks/>
          </p:cNvSpPr>
          <p:nvPr/>
        </p:nvSpPr>
        <p:spPr>
          <a:xfrm>
            <a:off x="10204450" y="6139180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7" name="Rect 0"/>
          <p:cNvSpPr txBox="1">
            <a:spLocks/>
          </p:cNvSpPr>
          <p:nvPr/>
        </p:nvSpPr>
        <p:spPr>
          <a:xfrm>
            <a:off x="10204450" y="6139180"/>
            <a:ext cx="610235" cy="23939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8" name="Rect 0"/>
          <p:cNvSpPr>
            <a:spLocks/>
          </p:cNvSpPr>
          <p:nvPr/>
        </p:nvSpPr>
        <p:spPr>
          <a:xfrm>
            <a:off x="762000" y="6458585"/>
            <a:ext cx="10668635" cy="38163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9" name="Rect 0"/>
          <p:cNvSpPr txBox="1">
            <a:spLocks/>
          </p:cNvSpPr>
          <p:nvPr/>
        </p:nvSpPr>
        <p:spPr>
          <a:xfrm>
            <a:off x="708660" y="6548120"/>
            <a:ext cx="144081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명일2동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0" name="Rect 0"/>
          <p:cNvSpPr txBox="1">
            <a:spLocks/>
          </p:cNvSpPr>
          <p:nvPr/>
        </p:nvSpPr>
        <p:spPr>
          <a:xfrm>
            <a:off x="2042160" y="6553200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클러스터 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1" name="Rect 0"/>
          <p:cNvSpPr txBox="1">
            <a:spLocks/>
          </p:cNvSpPr>
          <p:nvPr/>
        </p:nvSpPr>
        <p:spPr>
          <a:xfrm>
            <a:off x="3390900" y="654812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2" name="Rect 0"/>
          <p:cNvSpPr txBox="1">
            <a:spLocks/>
          </p:cNvSpPr>
          <p:nvPr/>
        </p:nvSpPr>
        <p:spPr>
          <a:xfrm>
            <a:off x="4533900" y="65481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3" name="Rect 0"/>
          <p:cNvSpPr txBox="1">
            <a:spLocks/>
          </p:cNvSpPr>
          <p:nvPr/>
        </p:nvSpPr>
        <p:spPr>
          <a:xfrm>
            <a:off x="5486400" y="65481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4" name="Rect 0"/>
          <p:cNvSpPr txBox="1">
            <a:spLocks/>
          </p:cNvSpPr>
          <p:nvPr/>
        </p:nvSpPr>
        <p:spPr>
          <a:xfrm>
            <a:off x="6438900" y="65481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5" name="Rect 0"/>
          <p:cNvSpPr txBox="1">
            <a:spLocks/>
          </p:cNvSpPr>
          <p:nvPr/>
        </p:nvSpPr>
        <p:spPr>
          <a:xfrm>
            <a:off x="7391400" y="6548120"/>
            <a:ext cx="102933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90위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6" name="Rect 0"/>
          <p:cNvSpPr txBox="1">
            <a:spLocks/>
          </p:cNvSpPr>
          <p:nvPr/>
        </p:nvSpPr>
        <p:spPr>
          <a:xfrm>
            <a:off x="8343900" y="6548120"/>
            <a:ext cx="1220470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40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7" name="Rect 0"/>
          <p:cNvSpPr>
            <a:spLocks/>
          </p:cNvSpPr>
          <p:nvPr/>
        </p:nvSpPr>
        <p:spPr>
          <a:xfrm>
            <a:off x="10204450" y="6529705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8" name="Rect 0"/>
          <p:cNvSpPr txBox="1">
            <a:spLocks/>
          </p:cNvSpPr>
          <p:nvPr/>
        </p:nvSpPr>
        <p:spPr>
          <a:xfrm>
            <a:off x="10204450" y="6529705"/>
            <a:ext cx="610235" cy="23939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101600" tIns="25400" rIns="101600" bIns="2540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0" name="텍스트 상자 66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21" name="도형 67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22" name="텍스트 상자 68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5795-2F7F-5C0E-4E31-F9A09D6C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0">
            <a:extLst>
              <a:ext uri="{FF2B5EF4-FFF2-40B4-BE49-F238E27FC236}">
                <a16:creationId xmlns:a16="http://schemas.microsoft.com/office/drawing/2014/main" id="{C68D0A63-21BE-D82C-64E3-89ECAE63EBFC}"/>
              </a:ext>
            </a:extLst>
          </p:cNvPr>
          <p:cNvSpPr>
            <a:spLocks/>
          </p:cNvSpPr>
          <p:nvPr/>
        </p:nvSpPr>
        <p:spPr>
          <a:xfrm>
            <a:off x="571500" y="1571625"/>
            <a:ext cx="11106785" cy="1000125"/>
          </a:xfrm>
          <a:prstGeom prst="roundRect">
            <a:avLst>
              <a:gd name="adj" fmla="val 18953"/>
            </a:avLst>
          </a:prstGeom>
          <a:solidFill>
            <a:srgbClr val="F4F7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Rect 0">
            <a:extLst>
              <a:ext uri="{FF2B5EF4-FFF2-40B4-BE49-F238E27FC236}">
                <a16:creationId xmlns:a16="http://schemas.microsoft.com/office/drawing/2014/main" id="{CF3EB453-6CB3-0C49-33A1-2D2D8F6AC6DC}"/>
              </a:ext>
            </a:extLst>
          </p:cNvPr>
          <p:cNvSpPr>
            <a:spLocks/>
          </p:cNvSpPr>
          <p:nvPr/>
        </p:nvSpPr>
        <p:spPr>
          <a:xfrm>
            <a:off x="571500" y="1571625"/>
            <a:ext cx="58420" cy="858520"/>
          </a:xfrm>
          <a:prstGeom prst="roundRect">
            <a:avLst>
              <a:gd name="adj" fmla="val 282188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9D8E67BA-C1D0-F97B-3AAD-3A88E77FA40A}"/>
              </a:ext>
            </a:extLst>
          </p:cNvPr>
          <p:cNvSpPr>
            <a:spLocks/>
          </p:cNvSpPr>
          <p:nvPr/>
        </p:nvSpPr>
        <p:spPr>
          <a:xfrm>
            <a:off x="571500" y="3048000"/>
            <a:ext cx="5258435" cy="1544320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8C33963-E8A0-77AF-13E0-3E6F41806505}"/>
              </a:ext>
            </a:extLst>
          </p:cNvPr>
          <p:cNvSpPr>
            <a:spLocks/>
          </p:cNvSpPr>
          <p:nvPr/>
        </p:nvSpPr>
        <p:spPr>
          <a:xfrm>
            <a:off x="571500" y="5380991"/>
            <a:ext cx="5258435" cy="1135379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 dirty="0"/>
          </a:p>
        </p:txBody>
      </p:sp>
      <p:sp>
        <p:nvSpPr>
          <p:cNvPr id="9" name="Rect 0">
            <a:extLst>
              <a:ext uri="{FF2B5EF4-FFF2-40B4-BE49-F238E27FC236}">
                <a16:creationId xmlns:a16="http://schemas.microsoft.com/office/drawing/2014/main" id="{16649FD8-21C4-9731-537F-1E65A8B0A846}"/>
              </a:ext>
            </a:extLst>
          </p:cNvPr>
          <p:cNvSpPr>
            <a:spLocks/>
          </p:cNvSpPr>
          <p:nvPr/>
        </p:nvSpPr>
        <p:spPr>
          <a:xfrm>
            <a:off x="6286500" y="3048000"/>
            <a:ext cx="5381625" cy="1162685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8E0E3A60-31F1-54DD-2B61-877C8D60026E}"/>
              </a:ext>
            </a:extLst>
          </p:cNvPr>
          <p:cNvSpPr>
            <a:spLocks/>
          </p:cNvSpPr>
          <p:nvPr/>
        </p:nvSpPr>
        <p:spPr>
          <a:xfrm>
            <a:off x="6286500" y="3048000"/>
            <a:ext cx="38735" cy="1162685"/>
          </a:xfrm>
          <a:prstGeom prst="roundRect">
            <a:avLst>
              <a:gd name="adj" fmla="val 234191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9" name="Rect 0">
            <a:extLst>
              <a:ext uri="{FF2B5EF4-FFF2-40B4-BE49-F238E27FC236}">
                <a16:creationId xmlns:a16="http://schemas.microsoft.com/office/drawing/2014/main" id="{76A1AEBF-40C4-36CA-09D3-308E6491AADA}"/>
              </a:ext>
            </a:extLst>
          </p:cNvPr>
          <p:cNvSpPr>
            <a:spLocks/>
          </p:cNvSpPr>
          <p:nvPr/>
        </p:nvSpPr>
        <p:spPr>
          <a:xfrm>
            <a:off x="808990" y="1714500"/>
            <a:ext cx="781685" cy="267335"/>
          </a:xfrm>
          <a:prstGeom prst="roundRect">
            <a:avLst>
              <a:gd name="adj" fmla="val 97847"/>
            </a:avLst>
          </a:prstGeom>
          <a:solidFill>
            <a:srgbClr val="FFFFFF"/>
          </a:solidFill>
          <a:ln w="12700" cap="flat" cmpd="sng">
            <a:solidFill>
              <a:srgbClr val="D1DEFF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2" name="Rect 0">
            <a:extLst>
              <a:ext uri="{FF2B5EF4-FFF2-40B4-BE49-F238E27FC236}">
                <a16:creationId xmlns:a16="http://schemas.microsoft.com/office/drawing/2014/main" id="{01305D1C-594F-9806-B6BD-B4861B93E13C}"/>
              </a:ext>
            </a:extLst>
          </p:cNvPr>
          <p:cNvSpPr txBox="1">
            <a:spLocks/>
          </p:cNvSpPr>
          <p:nvPr/>
        </p:nvSpPr>
        <p:spPr>
          <a:xfrm>
            <a:off x="571500" y="952500"/>
            <a:ext cx="7925435" cy="457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유망 상권 심층분석 : </a:t>
            </a: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고덕 2동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3" name="Rect 0">
            <a:extLst>
              <a:ext uri="{FF2B5EF4-FFF2-40B4-BE49-F238E27FC236}">
                <a16:creationId xmlns:a16="http://schemas.microsoft.com/office/drawing/2014/main" id="{2A48264F-C8F2-7C8E-6FFC-DADEDD5CDCB6}"/>
              </a:ext>
            </a:extLst>
          </p:cNvPr>
          <p:cNvSpPr txBox="1">
            <a:spLocks/>
          </p:cNvSpPr>
          <p:nvPr/>
        </p:nvSpPr>
        <p:spPr>
          <a:xfrm>
            <a:off x="771525" y="1743075"/>
            <a:ext cx="8388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유동집중 주거</a:t>
            </a:r>
            <a:endParaRPr lang="ko-KR" altLang="en-US" sz="8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4" name="Rect 0">
            <a:extLst>
              <a:ext uri="{FF2B5EF4-FFF2-40B4-BE49-F238E27FC236}">
                <a16:creationId xmlns:a16="http://schemas.microsoft.com/office/drawing/2014/main" id="{81A77DE1-A870-B403-C4AC-04240662D166}"/>
              </a:ext>
            </a:extLst>
          </p:cNvPr>
          <p:cNvSpPr txBox="1">
            <a:spLocks/>
          </p:cNvSpPr>
          <p:nvPr/>
        </p:nvSpPr>
        <p:spPr>
          <a:xfrm>
            <a:off x="1714500" y="1733550"/>
            <a:ext cx="39249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현재 233위  </a:t>
            </a:r>
            <a:r>
              <a:rPr lang="en-US" sz="12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184위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(h=4)</a:t>
            </a:r>
            <a:r>
              <a:rPr lang="en-US" sz="1200" b="1">
                <a:solidFill>
                  <a:srgbClr val="DDDDDD"/>
                </a:solidFill>
                <a:latin typeface="Noto Sans KR" charset="0"/>
                <a:ea typeface="Noto Sans KR" charset="0"/>
                <a:cs typeface="Noto Sans KR" charset="0"/>
              </a:rPr>
              <a:t>|</a:t>
            </a:r>
            <a:r>
              <a:rPr lang="en-US" sz="12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49</a:t>
            </a:r>
            <a:endParaRPr lang="ko-KR" altLang="en-US" sz="12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6" name="Rect 0">
            <a:extLst>
              <a:ext uri="{FF2B5EF4-FFF2-40B4-BE49-F238E27FC236}">
                <a16:creationId xmlns:a16="http://schemas.microsoft.com/office/drawing/2014/main" id="{0A9C8E2C-4681-055B-CF36-14607BCB4337}"/>
              </a:ext>
            </a:extLst>
          </p:cNvPr>
          <p:cNvSpPr txBox="1">
            <a:spLocks/>
          </p:cNvSpPr>
          <p:nvPr/>
        </p:nvSpPr>
        <p:spPr>
          <a:xfrm>
            <a:off x="808990" y="2048510"/>
            <a:ext cx="10859135" cy="4870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주거·학교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밀집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생활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기반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상권으로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, </a:t>
            </a:r>
            <a:r>
              <a:rPr lang="en-US" sz="1200" b="1" dirty="0">
                <a:solidFill>
                  <a:srgbClr val="1A35BE"/>
                </a:solidFill>
                <a:latin typeface="Noto Sans KR" charset="0"/>
                <a:ea typeface="Noto Sans KR" charset="0"/>
                <a:cs typeface="Noto Sans KR" charset="0"/>
              </a:rPr>
              <a:t>10·20대 </a:t>
            </a:r>
            <a:r>
              <a:rPr lang="en-US" sz="1200" b="1" dirty="0" err="1">
                <a:solidFill>
                  <a:srgbClr val="1A35BE"/>
                </a:solidFill>
                <a:latin typeface="Noto Sans KR" charset="0"/>
                <a:ea typeface="Noto Sans KR" charset="0"/>
                <a:cs typeface="Noto Sans KR" charset="0"/>
              </a:rPr>
              <a:t>소비</a:t>
            </a:r>
            <a:r>
              <a:rPr lang="en-US" sz="1200" b="1" dirty="0">
                <a:solidFill>
                  <a:srgbClr val="1A35BE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A35BE"/>
                </a:solidFill>
                <a:latin typeface="Noto Sans KR" charset="0"/>
                <a:ea typeface="Noto Sans KR" charset="0"/>
                <a:cs typeface="Noto Sans KR" charset="0"/>
              </a:rPr>
              <a:t>증가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와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상권이</a:t>
            </a:r>
            <a:r>
              <a:rPr lang="en-US" sz="1200" b="1" dirty="0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점진적으로</a:t>
            </a:r>
            <a:r>
              <a:rPr lang="en-US" sz="1200" b="1" dirty="0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회복</a:t>
            </a:r>
            <a:r>
              <a:rPr lang="en-US" sz="1200" b="1" dirty="0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 중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.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임대료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하락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+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수익성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상승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+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프랜차이즈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증가로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성장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초기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단계에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진입한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상권</a:t>
            </a:r>
            <a:r>
              <a:rPr lang="en-US" sz="1200" b="1" dirty="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endParaRPr lang="ko-KR" altLang="en-US" sz="1200" b="1" dirty="0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7" name="Picture " descr="C:/Users/Kim dong gwan/AppData/Roaming/PolarisOffice/ETemp/17048_16254952/image-20-2.png">
            <a:extLst>
              <a:ext uri="{FF2B5EF4-FFF2-40B4-BE49-F238E27FC236}">
                <a16:creationId xmlns:a16="http://schemas.microsoft.com/office/drawing/2014/main" id="{764A5148-2571-5C13-7AAF-44DABBBE39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700020"/>
            <a:ext cx="191135" cy="191135"/>
          </a:xfrm>
          <a:prstGeom prst="rect">
            <a:avLst/>
          </a:prstGeom>
          <a:noFill/>
        </p:spPr>
      </p:pic>
      <p:sp>
        <p:nvSpPr>
          <p:cNvPr id="28" name="Rect 0">
            <a:extLst>
              <a:ext uri="{FF2B5EF4-FFF2-40B4-BE49-F238E27FC236}">
                <a16:creationId xmlns:a16="http://schemas.microsoft.com/office/drawing/2014/main" id="{2BA29E3F-DD26-1641-880B-E6F0F7BFFEFC}"/>
              </a:ext>
            </a:extLst>
          </p:cNvPr>
          <p:cNvSpPr txBox="1">
            <a:spLocks/>
          </p:cNvSpPr>
          <p:nvPr/>
        </p:nvSpPr>
        <p:spPr>
          <a:xfrm>
            <a:off x="857885" y="266700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순위 변동 추이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9" name="Rect 0">
            <a:extLst>
              <a:ext uri="{FF2B5EF4-FFF2-40B4-BE49-F238E27FC236}">
                <a16:creationId xmlns:a16="http://schemas.microsoft.com/office/drawing/2014/main" id="{59D3CFD4-93FB-11FA-8B01-B8E9E1CE59F3}"/>
              </a:ext>
            </a:extLst>
          </p:cNvPr>
          <p:cNvSpPr>
            <a:spLocks/>
          </p:cNvSpPr>
          <p:nvPr/>
        </p:nvSpPr>
        <p:spPr>
          <a:xfrm>
            <a:off x="571500" y="3048000"/>
            <a:ext cx="5239385" cy="305435"/>
          </a:xfrm>
          <a:prstGeom prst="rect">
            <a:avLst/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0" name="Rect 0">
            <a:extLst>
              <a:ext uri="{FF2B5EF4-FFF2-40B4-BE49-F238E27FC236}">
                <a16:creationId xmlns:a16="http://schemas.microsoft.com/office/drawing/2014/main" id="{2DF5D49C-8586-8696-5E40-73096FD7BCF2}"/>
              </a:ext>
            </a:extLst>
          </p:cNvPr>
          <p:cNvSpPr txBox="1">
            <a:spLocks/>
          </p:cNvSpPr>
          <p:nvPr/>
        </p:nvSpPr>
        <p:spPr>
          <a:xfrm>
            <a:off x="518160" y="3103245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시점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1" name="Rect 0">
            <a:extLst>
              <a:ext uri="{FF2B5EF4-FFF2-40B4-BE49-F238E27FC236}">
                <a16:creationId xmlns:a16="http://schemas.microsoft.com/office/drawing/2014/main" id="{04CC760E-C2D6-29E3-4307-DED243853BAC}"/>
              </a:ext>
            </a:extLst>
          </p:cNvPr>
          <p:cNvSpPr txBox="1">
            <a:spLocks/>
          </p:cNvSpPr>
          <p:nvPr/>
        </p:nvSpPr>
        <p:spPr>
          <a:xfrm>
            <a:off x="1851660" y="3103245"/>
            <a:ext cx="144081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Y점수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2" name="Rect 0">
            <a:extLst>
              <a:ext uri="{FF2B5EF4-FFF2-40B4-BE49-F238E27FC236}">
                <a16:creationId xmlns:a16="http://schemas.microsoft.com/office/drawing/2014/main" id="{B14658B4-EAD7-9698-4BF4-22566107E54E}"/>
              </a:ext>
            </a:extLst>
          </p:cNvPr>
          <p:cNvSpPr txBox="1">
            <a:spLocks/>
          </p:cNvSpPr>
          <p:nvPr/>
        </p:nvSpPr>
        <p:spPr>
          <a:xfrm>
            <a:off x="3186430" y="3103245"/>
            <a:ext cx="1389380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순위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3" name="Rect 0">
            <a:extLst>
              <a:ext uri="{FF2B5EF4-FFF2-40B4-BE49-F238E27FC236}">
                <a16:creationId xmlns:a16="http://schemas.microsoft.com/office/drawing/2014/main" id="{0C8B8950-8BB0-6B05-732E-4F93DC52BB97}"/>
              </a:ext>
            </a:extLst>
          </p:cNvPr>
          <p:cNvSpPr txBox="1">
            <a:spLocks/>
          </p:cNvSpPr>
          <p:nvPr/>
        </p:nvSpPr>
        <p:spPr>
          <a:xfrm>
            <a:off x="4472940" y="3103245"/>
            <a:ext cx="1389380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변화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Rect 0">
            <a:extLst>
              <a:ext uri="{FF2B5EF4-FFF2-40B4-BE49-F238E27FC236}">
                <a16:creationId xmlns:a16="http://schemas.microsoft.com/office/drawing/2014/main" id="{483CB65F-A9F8-EBDE-19AE-3B1520D10A00}"/>
              </a:ext>
            </a:extLst>
          </p:cNvPr>
          <p:cNvSpPr>
            <a:spLocks/>
          </p:cNvSpPr>
          <p:nvPr/>
        </p:nvSpPr>
        <p:spPr>
          <a:xfrm>
            <a:off x="571500" y="3348355"/>
            <a:ext cx="5239385" cy="248285"/>
          </a:xfrm>
          <a:prstGeom prst="rect">
            <a:avLst/>
          </a:prstGeom>
          <a:solidFill>
            <a:srgbClr val="FFFF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Rect 0">
            <a:extLst>
              <a:ext uri="{FF2B5EF4-FFF2-40B4-BE49-F238E27FC236}">
                <a16:creationId xmlns:a16="http://schemas.microsoft.com/office/drawing/2014/main" id="{60E71372-734D-19F0-E683-2CB103B34216}"/>
              </a:ext>
            </a:extLst>
          </p:cNvPr>
          <p:cNvSpPr>
            <a:spLocks/>
          </p:cNvSpPr>
          <p:nvPr/>
        </p:nvSpPr>
        <p:spPr>
          <a:xfrm>
            <a:off x="571500" y="358711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Rect 0">
            <a:extLst>
              <a:ext uri="{FF2B5EF4-FFF2-40B4-BE49-F238E27FC236}">
                <a16:creationId xmlns:a16="http://schemas.microsoft.com/office/drawing/2014/main" id="{CA3C7151-E53E-3A41-C2FE-1D1D77330F70}"/>
              </a:ext>
            </a:extLst>
          </p:cNvPr>
          <p:cNvSpPr txBox="1">
            <a:spLocks/>
          </p:cNvSpPr>
          <p:nvPr/>
        </p:nvSpPr>
        <p:spPr>
          <a:xfrm>
            <a:off x="533400" y="3375660"/>
            <a:ext cx="1410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현재 (2025Q3)</a:t>
            </a:r>
            <a:endParaRPr lang="ko-KR" altLang="en-US" sz="9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7" name="Rect 0">
            <a:extLst>
              <a:ext uri="{FF2B5EF4-FFF2-40B4-BE49-F238E27FC236}">
                <a16:creationId xmlns:a16="http://schemas.microsoft.com/office/drawing/2014/main" id="{10C5CF4D-6BA5-0CCD-89F1-7AAE315C4A73}"/>
              </a:ext>
            </a:extLst>
          </p:cNvPr>
          <p:cNvSpPr txBox="1">
            <a:spLocks/>
          </p:cNvSpPr>
          <p:nvPr/>
        </p:nvSpPr>
        <p:spPr>
          <a:xfrm>
            <a:off x="1866900" y="3371215"/>
            <a:ext cx="14103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-0.0764 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8" name="Rect 0">
            <a:extLst>
              <a:ext uri="{FF2B5EF4-FFF2-40B4-BE49-F238E27FC236}">
                <a16:creationId xmlns:a16="http://schemas.microsoft.com/office/drawing/2014/main" id="{670EE259-56A6-C18D-5C7F-C3DD5721DFB2}"/>
              </a:ext>
            </a:extLst>
          </p:cNvPr>
          <p:cNvSpPr txBox="1">
            <a:spLocks/>
          </p:cNvSpPr>
          <p:nvPr/>
        </p:nvSpPr>
        <p:spPr>
          <a:xfrm>
            <a:off x="3200400" y="3371215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33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9" name="Rect 0">
            <a:extLst>
              <a:ext uri="{FF2B5EF4-FFF2-40B4-BE49-F238E27FC236}">
                <a16:creationId xmlns:a16="http://schemas.microsoft.com/office/drawing/2014/main" id="{3346B866-B9EF-D990-2C50-F435B4E4AFA9}"/>
              </a:ext>
            </a:extLst>
          </p:cNvPr>
          <p:cNvSpPr txBox="1">
            <a:spLocks/>
          </p:cNvSpPr>
          <p:nvPr/>
        </p:nvSpPr>
        <p:spPr>
          <a:xfrm>
            <a:off x="4486275" y="3371215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-</a:t>
            </a:r>
            <a:endParaRPr lang="ko-KR" altLang="en-US" sz="1000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0" name="Rect 0">
            <a:extLst>
              <a:ext uri="{FF2B5EF4-FFF2-40B4-BE49-F238E27FC236}">
                <a16:creationId xmlns:a16="http://schemas.microsoft.com/office/drawing/2014/main" id="{AD1D65B7-716B-521B-3B8F-D9FBE35BA8B6}"/>
              </a:ext>
            </a:extLst>
          </p:cNvPr>
          <p:cNvSpPr>
            <a:spLocks/>
          </p:cNvSpPr>
          <p:nvPr/>
        </p:nvSpPr>
        <p:spPr>
          <a:xfrm>
            <a:off x="571500" y="3593465"/>
            <a:ext cx="5239385" cy="248285"/>
          </a:xfrm>
          <a:prstGeom prst="rect">
            <a:avLst/>
          </a:prstGeom>
          <a:solidFill>
            <a:srgbClr val="F8F9FA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1" name="Rect 0">
            <a:extLst>
              <a:ext uri="{FF2B5EF4-FFF2-40B4-BE49-F238E27FC236}">
                <a16:creationId xmlns:a16="http://schemas.microsoft.com/office/drawing/2014/main" id="{3D0E9FBE-9888-E5B8-B763-03309AE40850}"/>
              </a:ext>
            </a:extLst>
          </p:cNvPr>
          <p:cNvSpPr>
            <a:spLocks/>
          </p:cNvSpPr>
          <p:nvPr/>
        </p:nvSpPr>
        <p:spPr>
          <a:xfrm>
            <a:off x="571500" y="383222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2" name="Rect 0">
            <a:extLst>
              <a:ext uri="{FF2B5EF4-FFF2-40B4-BE49-F238E27FC236}">
                <a16:creationId xmlns:a16="http://schemas.microsoft.com/office/drawing/2014/main" id="{6A479D2F-A35A-2B89-78CF-A5AAA61B663B}"/>
              </a:ext>
            </a:extLst>
          </p:cNvPr>
          <p:cNvSpPr txBox="1">
            <a:spLocks/>
          </p:cNvSpPr>
          <p:nvPr/>
        </p:nvSpPr>
        <p:spPr>
          <a:xfrm>
            <a:off x="533400" y="3620135"/>
            <a:ext cx="1410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h=1 (2025Q4)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3" name="Rect 0">
            <a:extLst>
              <a:ext uri="{FF2B5EF4-FFF2-40B4-BE49-F238E27FC236}">
                <a16:creationId xmlns:a16="http://schemas.microsoft.com/office/drawing/2014/main" id="{5B76DB9E-B828-8A3F-ADCD-2053B68EC439}"/>
              </a:ext>
            </a:extLst>
          </p:cNvPr>
          <p:cNvSpPr txBox="1">
            <a:spLocks/>
          </p:cNvSpPr>
          <p:nvPr/>
        </p:nvSpPr>
        <p:spPr>
          <a:xfrm>
            <a:off x="1866900" y="3615690"/>
            <a:ext cx="14103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-0.0013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Rect 0">
            <a:extLst>
              <a:ext uri="{FF2B5EF4-FFF2-40B4-BE49-F238E27FC236}">
                <a16:creationId xmlns:a16="http://schemas.microsoft.com/office/drawing/2014/main" id="{567B858D-285C-8311-6D15-0C7AD7466DCE}"/>
              </a:ext>
            </a:extLst>
          </p:cNvPr>
          <p:cNvSpPr txBox="1">
            <a:spLocks/>
          </p:cNvSpPr>
          <p:nvPr/>
        </p:nvSpPr>
        <p:spPr>
          <a:xfrm>
            <a:off x="3200400" y="3615690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202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Rect 0">
            <a:extLst>
              <a:ext uri="{FF2B5EF4-FFF2-40B4-BE49-F238E27FC236}">
                <a16:creationId xmlns:a16="http://schemas.microsoft.com/office/drawing/2014/main" id="{9B7EAE0D-D3D3-8594-DF39-AADBFD8D89DE}"/>
              </a:ext>
            </a:extLst>
          </p:cNvPr>
          <p:cNvSpPr txBox="1">
            <a:spLocks/>
          </p:cNvSpPr>
          <p:nvPr/>
        </p:nvSpPr>
        <p:spPr>
          <a:xfrm>
            <a:off x="4486275" y="3620135"/>
            <a:ext cx="136334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31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6" name="Rect 0">
            <a:extLst>
              <a:ext uri="{FF2B5EF4-FFF2-40B4-BE49-F238E27FC236}">
                <a16:creationId xmlns:a16="http://schemas.microsoft.com/office/drawing/2014/main" id="{3F495B13-1F17-13BC-9A60-9153EDDF910B}"/>
              </a:ext>
            </a:extLst>
          </p:cNvPr>
          <p:cNvSpPr>
            <a:spLocks/>
          </p:cNvSpPr>
          <p:nvPr/>
        </p:nvSpPr>
        <p:spPr>
          <a:xfrm>
            <a:off x="571500" y="3837940"/>
            <a:ext cx="5239385" cy="248285"/>
          </a:xfrm>
          <a:prstGeom prst="rect">
            <a:avLst/>
          </a:prstGeom>
          <a:solidFill>
            <a:srgbClr val="FFFF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7" name="Rect 0">
            <a:extLst>
              <a:ext uri="{FF2B5EF4-FFF2-40B4-BE49-F238E27FC236}">
                <a16:creationId xmlns:a16="http://schemas.microsoft.com/office/drawing/2014/main" id="{482695ED-ACFD-97BD-C933-107DA8E9F0D8}"/>
              </a:ext>
            </a:extLst>
          </p:cNvPr>
          <p:cNvSpPr>
            <a:spLocks/>
          </p:cNvSpPr>
          <p:nvPr/>
        </p:nvSpPr>
        <p:spPr>
          <a:xfrm>
            <a:off x="571500" y="4076700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8" name="Rect 0">
            <a:extLst>
              <a:ext uri="{FF2B5EF4-FFF2-40B4-BE49-F238E27FC236}">
                <a16:creationId xmlns:a16="http://schemas.microsoft.com/office/drawing/2014/main" id="{28804807-9D40-2F21-6BB1-2D6988F2B287}"/>
              </a:ext>
            </a:extLst>
          </p:cNvPr>
          <p:cNvSpPr txBox="1">
            <a:spLocks/>
          </p:cNvSpPr>
          <p:nvPr/>
        </p:nvSpPr>
        <p:spPr>
          <a:xfrm>
            <a:off x="533400" y="3865245"/>
            <a:ext cx="1410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h=2 (2026Q1)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Rect 0">
            <a:extLst>
              <a:ext uri="{FF2B5EF4-FFF2-40B4-BE49-F238E27FC236}">
                <a16:creationId xmlns:a16="http://schemas.microsoft.com/office/drawing/2014/main" id="{AD1ED40A-D244-28CB-0C95-2E7F07A30C75}"/>
              </a:ext>
            </a:extLst>
          </p:cNvPr>
          <p:cNvSpPr txBox="1">
            <a:spLocks/>
          </p:cNvSpPr>
          <p:nvPr/>
        </p:nvSpPr>
        <p:spPr>
          <a:xfrm>
            <a:off x="1866900" y="3860800"/>
            <a:ext cx="14103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0.0250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0" name="Rect 0">
            <a:extLst>
              <a:ext uri="{FF2B5EF4-FFF2-40B4-BE49-F238E27FC236}">
                <a16:creationId xmlns:a16="http://schemas.microsoft.com/office/drawing/2014/main" id="{24CC39E5-C93B-791C-9610-A342C42DB41A}"/>
              </a:ext>
            </a:extLst>
          </p:cNvPr>
          <p:cNvSpPr txBox="1">
            <a:spLocks/>
          </p:cNvSpPr>
          <p:nvPr/>
        </p:nvSpPr>
        <p:spPr>
          <a:xfrm>
            <a:off x="3200400" y="3860800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200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1" name="Rect 0">
            <a:extLst>
              <a:ext uri="{FF2B5EF4-FFF2-40B4-BE49-F238E27FC236}">
                <a16:creationId xmlns:a16="http://schemas.microsoft.com/office/drawing/2014/main" id="{08E90300-EBF8-6E15-3D1F-82B1F4AF375B}"/>
              </a:ext>
            </a:extLst>
          </p:cNvPr>
          <p:cNvSpPr txBox="1">
            <a:spLocks/>
          </p:cNvSpPr>
          <p:nvPr/>
        </p:nvSpPr>
        <p:spPr>
          <a:xfrm>
            <a:off x="4486275" y="3865245"/>
            <a:ext cx="136334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33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2" name="Rect 0">
            <a:extLst>
              <a:ext uri="{FF2B5EF4-FFF2-40B4-BE49-F238E27FC236}">
                <a16:creationId xmlns:a16="http://schemas.microsoft.com/office/drawing/2014/main" id="{3E14617B-99BA-1A03-E124-0D761499731E}"/>
              </a:ext>
            </a:extLst>
          </p:cNvPr>
          <p:cNvSpPr>
            <a:spLocks/>
          </p:cNvSpPr>
          <p:nvPr/>
        </p:nvSpPr>
        <p:spPr>
          <a:xfrm>
            <a:off x="571500" y="4083050"/>
            <a:ext cx="5239385" cy="248285"/>
          </a:xfrm>
          <a:prstGeom prst="rect">
            <a:avLst/>
          </a:prstGeom>
          <a:solidFill>
            <a:srgbClr val="F8F9FA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3" name="Rect 0">
            <a:extLst>
              <a:ext uri="{FF2B5EF4-FFF2-40B4-BE49-F238E27FC236}">
                <a16:creationId xmlns:a16="http://schemas.microsoft.com/office/drawing/2014/main" id="{153BB197-B16B-AFAC-B438-1DB0D81929EA}"/>
              </a:ext>
            </a:extLst>
          </p:cNvPr>
          <p:cNvSpPr>
            <a:spLocks/>
          </p:cNvSpPr>
          <p:nvPr/>
        </p:nvSpPr>
        <p:spPr>
          <a:xfrm>
            <a:off x="571500" y="432117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4" name="Rect 0">
            <a:extLst>
              <a:ext uri="{FF2B5EF4-FFF2-40B4-BE49-F238E27FC236}">
                <a16:creationId xmlns:a16="http://schemas.microsoft.com/office/drawing/2014/main" id="{7FAE6D29-55F3-C380-9D33-D51684AB3513}"/>
              </a:ext>
            </a:extLst>
          </p:cNvPr>
          <p:cNvSpPr txBox="1">
            <a:spLocks/>
          </p:cNvSpPr>
          <p:nvPr/>
        </p:nvSpPr>
        <p:spPr>
          <a:xfrm>
            <a:off x="533400" y="4110355"/>
            <a:ext cx="1410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h=3 (2026Q2)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5" name="Rect 0">
            <a:extLst>
              <a:ext uri="{FF2B5EF4-FFF2-40B4-BE49-F238E27FC236}">
                <a16:creationId xmlns:a16="http://schemas.microsoft.com/office/drawing/2014/main" id="{6249743F-53B8-160F-CB92-ABF63FDEFC4F}"/>
              </a:ext>
            </a:extLst>
          </p:cNvPr>
          <p:cNvSpPr txBox="1">
            <a:spLocks/>
          </p:cNvSpPr>
          <p:nvPr/>
        </p:nvSpPr>
        <p:spPr>
          <a:xfrm>
            <a:off x="1866900" y="4104640"/>
            <a:ext cx="14103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+0.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0443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6" name="Rect 0">
            <a:extLst>
              <a:ext uri="{FF2B5EF4-FFF2-40B4-BE49-F238E27FC236}">
                <a16:creationId xmlns:a16="http://schemas.microsoft.com/office/drawing/2014/main" id="{8CB30CAC-976E-C6E6-E668-634CA69A0B09}"/>
              </a:ext>
            </a:extLst>
          </p:cNvPr>
          <p:cNvSpPr txBox="1">
            <a:spLocks/>
          </p:cNvSpPr>
          <p:nvPr/>
        </p:nvSpPr>
        <p:spPr>
          <a:xfrm>
            <a:off x="3200400" y="4104640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86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7" name="Rect 0">
            <a:extLst>
              <a:ext uri="{FF2B5EF4-FFF2-40B4-BE49-F238E27FC236}">
                <a16:creationId xmlns:a16="http://schemas.microsoft.com/office/drawing/2014/main" id="{4144BA6E-60E1-FF5B-F095-124995C9E807}"/>
              </a:ext>
            </a:extLst>
          </p:cNvPr>
          <p:cNvSpPr txBox="1">
            <a:spLocks/>
          </p:cNvSpPr>
          <p:nvPr/>
        </p:nvSpPr>
        <p:spPr>
          <a:xfrm>
            <a:off x="4486275" y="4110355"/>
            <a:ext cx="136334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47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8" name="Rect 0">
            <a:extLst>
              <a:ext uri="{FF2B5EF4-FFF2-40B4-BE49-F238E27FC236}">
                <a16:creationId xmlns:a16="http://schemas.microsoft.com/office/drawing/2014/main" id="{EE63C504-0E2F-5734-DE8B-A2BEAC29BED6}"/>
              </a:ext>
            </a:extLst>
          </p:cNvPr>
          <p:cNvSpPr>
            <a:spLocks/>
          </p:cNvSpPr>
          <p:nvPr/>
        </p:nvSpPr>
        <p:spPr>
          <a:xfrm>
            <a:off x="571500" y="4328160"/>
            <a:ext cx="5239385" cy="2482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9" name="Rect 0">
            <a:extLst>
              <a:ext uri="{FF2B5EF4-FFF2-40B4-BE49-F238E27FC236}">
                <a16:creationId xmlns:a16="http://schemas.microsoft.com/office/drawing/2014/main" id="{D3D17245-DCE7-465F-B502-28D0FC47B69C}"/>
              </a:ext>
            </a:extLst>
          </p:cNvPr>
          <p:cNvSpPr txBox="1">
            <a:spLocks/>
          </p:cNvSpPr>
          <p:nvPr/>
        </p:nvSpPr>
        <p:spPr>
          <a:xfrm>
            <a:off x="533400" y="4358640"/>
            <a:ext cx="1410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h=4 (2026Q3)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0" name="Rect 0">
            <a:extLst>
              <a:ext uri="{FF2B5EF4-FFF2-40B4-BE49-F238E27FC236}">
                <a16:creationId xmlns:a16="http://schemas.microsoft.com/office/drawing/2014/main" id="{DBE74BD7-BB1B-4680-35B0-070429ED3AE8}"/>
              </a:ext>
            </a:extLst>
          </p:cNvPr>
          <p:cNvSpPr txBox="1">
            <a:spLocks/>
          </p:cNvSpPr>
          <p:nvPr/>
        </p:nvSpPr>
        <p:spPr>
          <a:xfrm>
            <a:off x="1866900" y="4354195"/>
            <a:ext cx="14103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+0.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0436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Rect 0">
            <a:extLst>
              <a:ext uri="{FF2B5EF4-FFF2-40B4-BE49-F238E27FC236}">
                <a16:creationId xmlns:a16="http://schemas.microsoft.com/office/drawing/2014/main" id="{7E83042D-C0E2-59E5-18E3-D2AD05E46A1F}"/>
              </a:ext>
            </a:extLst>
          </p:cNvPr>
          <p:cNvSpPr txBox="1">
            <a:spLocks/>
          </p:cNvSpPr>
          <p:nvPr/>
        </p:nvSpPr>
        <p:spPr>
          <a:xfrm>
            <a:off x="3200400" y="4349750"/>
            <a:ext cx="1363345" cy="20066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84</a:t>
            </a: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2" name="Rect 0">
            <a:extLst>
              <a:ext uri="{FF2B5EF4-FFF2-40B4-BE49-F238E27FC236}">
                <a16:creationId xmlns:a16="http://schemas.microsoft.com/office/drawing/2014/main" id="{C93189A5-F4E6-BFAD-AB99-09E3D34F4EDD}"/>
              </a:ext>
            </a:extLst>
          </p:cNvPr>
          <p:cNvSpPr txBox="1">
            <a:spLocks/>
          </p:cNvSpPr>
          <p:nvPr/>
        </p:nvSpPr>
        <p:spPr>
          <a:xfrm>
            <a:off x="4486275" y="4354195"/>
            <a:ext cx="136334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</a:t>
            </a:r>
            <a:r>
              <a:rPr lang="ko-KR" sz="10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49</a:t>
            </a:r>
            <a:endParaRPr lang="ko-KR" altLang="en-US" sz="10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63" name="Picture " descr="C:/Users/Kim dong gwan/AppData/Roaming/PolarisOffice/ETemp/17048_16254952/image-20-3.png">
            <a:extLst>
              <a:ext uri="{FF2B5EF4-FFF2-40B4-BE49-F238E27FC236}">
                <a16:creationId xmlns:a16="http://schemas.microsoft.com/office/drawing/2014/main" id="{EEC7139A-BA5F-6654-F3AD-E37DDBFBA27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5033645"/>
            <a:ext cx="191135" cy="191135"/>
          </a:xfrm>
          <a:prstGeom prst="rect">
            <a:avLst/>
          </a:prstGeom>
          <a:noFill/>
        </p:spPr>
      </p:pic>
      <p:sp>
        <p:nvSpPr>
          <p:cNvPr id="64" name="Rect 0">
            <a:extLst>
              <a:ext uri="{FF2B5EF4-FFF2-40B4-BE49-F238E27FC236}">
                <a16:creationId xmlns:a16="http://schemas.microsoft.com/office/drawing/2014/main" id="{ECA4FAE8-1640-F6A0-07B6-5175F22A6885}"/>
              </a:ext>
            </a:extLst>
          </p:cNvPr>
          <p:cNvSpPr txBox="1">
            <a:spLocks/>
          </p:cNvSpPr>
          <p:nvPr/>
        </p:nvSpPr>
        <p:spPr>
          <a:xfrm>
            <a:off x="857885" y="5000625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 지표 변화 </a:t>
            </a:r>
            <a:r>
              <a:rPr lang="en-US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(과거 대비 현재)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5" name="Rect 0">
            <a:extLst>
              <a:ext uri="{FF2B5EF4-FFF2-40B4-BE49-F238E27FC236}">
                <a16:creationId xmlns:a16="http://schemas.microsoft.com/office/drawing/2014/main" id="{5C3DA7BB-F807-8244-6AAD-01B5705B54E8}"/>
              </a:ext>
            </a:extLst>
          </p:cNvPr>
          <p:cNvSpPr>
            <a:spLocks/>
          </p:cNvSpPr>
          <p:nvPr/>
        </p:nvSpPr>
        <p:spPr>
          <a:xfrm>
            <a:off x="571500" y="5380990"/>
            <a:ext cx="5239385" cy="191135"/>
          </a:xfrm>
          <a:prstGeom prst="rect">
            <a:avLst/>
          </a:prstGeom>
          <a:solidFill>
            <a:srgbClr val="F4F7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6" name="Rect 0">
            <a:extLst>
              <a:ext uri="{FF2B5EF4-FFF2-40B4-BE49-F238E27FC236}">
                <a16:creationId xmlns:a16="http://schemas.microsoft.com/office/drawing/2014/main" id="{78B2A085-8E86-56AB-E89E-148E8B7782AC}"/>
              </a:ext>
            </a:extLst>
          </p:cNvPr>
          <p:cNvSpPr>
            <a:spLocks/>
          </p:cNvSpPr>
          <p:nvPr/>
        </p:nvSpPr>
        <p:spPr>
          <a:xfrm>
            <a:off x="571500" y="5562600"/>
            <a:ext cx="5239385" cy="9525"/>
          </a:xfrm>
          <a:prstGeom prst="rect">
            <a:avLst/>
          </a:prstGeom>
          <a:solidFill>
            <a:srgbClr val="D1DEFF"/>
          </a:solidFill>
          <a:ln w="12700" cap="flat" cmpd="sng">
            <a:solidFill>
              <a:srgbClr val="D1DE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7" name="Rect 0">
            <a:extLst>
              <a:ext uri="{FF2B5EF4-FFF2-40B4-BE49-F238E27FC236}">
                <a16:creationId xmlns:a16="http://schemas.microsoft.com/office/drawing/2014/main" id="{239AB362-9FA7-3D52-C27A-0C1CDFBF8E71}"/>
              </a:ext>
            </a:extLst>
          </p:cNvPr>
          <p:cNvSpPr txBox="1">
            <a:spLocks/>
          </p:cNvSpPr>
          <p:nvPr/>
        </p:nvSpPr>
        <p:spPr>
          <a:xfrm>
            <a:off x="506730" y="5380990"/>
            <a:ext cx="175006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변수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8" name="Rect 0">
            <a:extLst>
              <a:ext uri="{FF2B5EF4-FFF2-40B4-BE49-F238E27FC236}">
                <a16:creationId xmlns:a16="http://schemas.microsoft.com/office/drawing/2014/main" id="{04528E49-723F-02F6-8DB0-4CEE871D2541}"/>
              </a:ext>
            </a:extLst>
          </p:cNvPr>
          <p:cNvSpPr txBox="1">
            <a:spLocks/>
          </p:cNvSpPr>
          <p:nvPr/>
        </p:nvSpPr>
        <p:spPr>
          <a:xfrm>
            <a:off x="2103120" y="5380990"/>
            <a:ext cx="236728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변화 추이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9" name="Rect 0">
            <a:extLst>
              <a:ext uri="{FF2B5EF4-FFF2-40B4-BE49-F238E27FC236}">
                <a16:creationId xmlns:a16="http://schemas.microsoft.com/office/drawing/2014/main" id="{8FF51B54-340E-359E-A7C4-31C5DE9497BC}"/>
              </a:ext>
            </a:extLst>
          </p:cNvPr>
          <p:cNvSpPr txBox="1">
            <a:spLocks/>
          </p:cNvSpPr>
          <p:nvPr/>
        </p:nvSpPr>
        <p:spPr>
          <a:xfrm>
            <a:off x="4324350" y="5380990"/>
            <a:ext cx="15443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의미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0" name="Rect 0">
            <a:extLst>
              <a:ext uri="{FF2B5EF4-FFF2-40B4-BE49-F238E27FC236}">
                <a16:creationId xmlns:a16="http://schemas.microsoft.com/office/drawing/2014/main" id="{00A92A27-25A2-3477-B7E1-79C645D8B0E3}"/>
              </a:ext>
            </a:extLst>
          </p:cNvPr>
          <p:cNvSpPr>
            <a:spLocks/>
          </p:cNvSpPr>
          <p:nvPr/>
        </p:nvSpPr>
        <p:spPr>
          <a:xfrm>
            <a:off x="592282" y="5812617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1" name="Rect 0">
            <a:extLst>
              <a:ext uri="{FF2B5EF4-FFF2-40B4-BE49-F238E27FC236}">
                <a16:creationId xmlns:a16="http://schemas.microsoft.com/office/drawing/2014/main" id="{F86A65E0-ABDC-02BD-B9D0-C5EF9D8325EE}"/>
              </a:ext>
            </a:extLst>
          </p:cNvPr>
          <p:cNvSpPr txBox="1">
            <a:spLocks/>
          </p:cNvSpPr>
          <p:nvPr/>
        </p:nvSpPr>
        <p:spPr>
          <a:xfrm>
            <a:off x="506730" y="5591810"/>
            <a:ext cx="175006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임대료 대비 수익성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2" name="Rect 0">
            <a:extLst>
              <a:ext uri="{FF2B5EF4-FFF2-40B4-BE49-F238E27FC236}">
                <a16:creationId xmlns:a16="http://schemas.microsoft.com/office/drawing/2014/main" id="{66A5ABF4-9675-5501-EB5A-AA283705082F}"/>
              </a:ext>
            </a:extLst>
          </p:cNvPr>
          <p:cNvSpPr txBox="1">
            <a:spLocks/>
          </p:cNvSpPr>
          <p:nvPr/>
        </p:nvSpPr>
        <p:spPr>
          <a:xfrm>
            <a:off x="2128520" y="5591810"/>
            <a:ext cx="231521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 상승</a:t>
            </a: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Rect 0">
            <a:extLst>
              <a:ext uri="{FF2B5EF4-FFF2-40B4-BE49-F238E27FC236}">
                <a16:creationId xmlns:a16="http://schemas.microsoft.com/office/drawing/2014/main" id="{8FA3CF84-3CAC-CDC5-2BA5-29F302DA277D}"/>
              </a:ext>
            </a:extLst>
          </p:cNvPr>
          <p:cNvSpPr txBox="1">
            <a:spLocks/>
          </p:cNvSpPr>
          <p:nvPr/>
        </p:nvSpPr>
        <p:spPr>
          <a:xfrm>
            <a:off x="4324350" y="5591810"/>
            <a:ext cx="15443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상권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효율 개선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4" name="Rect 0">
            <a:extLst>
              <a:ext uri="{FF2B5EF4-FFF2-40B4-BE49-F238E27FC236}">
                <a16:creationId xmlns:a16="http://schemas.microsoft.com/office/drawing/2014/main" id="{25D47831-509C-E21B-C13D-6D5E77578D1A}"/>
              </a:ext>
            </a:extLst>
          </p:cNvPr>
          <p:cNvSpPr>
            <a:spLocks/>
          </p:cNvSpPr>
          <p:nvPr/>
        </p:nvSpPr>
        <p:spPr>
          <a:xfrm>
            <a:off x="592282" y="581261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8" name="Rect 0">
            <a:extLst>
              <a:ext uri="{FF2B5EF4-FFF2-40B4-BE49-F238E27FC236}">
                <a16:creationId xmlns:a16="http://schemas.microsoft.com/office/drawing/2014/main" id="{121EFD31-2E0C-42DF-65A9-8AFEF2303E75}"/>
              </a:ext>
            </a:extLst>
          </p:cNvPr>
          <p:cNvSpPr>
            <a:spLocks/>
          </p:cNvSpPr>
          <p:nvPr/>
        </p:nvSpPr>
        <p:spPr>
          <a:xfrm>
            <a:off x="592282" y="604121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9" name="Rect 0">
            <a:extLst>
              <a:ext uri="{FF2B5EF4-FFF2-40B4-BE49-F238E27FC236}">
                <a16:creationId xmlns:a16="http://schemas.microsoft.com/office/drawing/2014/main" id="{33A154D4-9D99-5C78-3CB9-3D18E7B9EA0D}"/>
              </a:ext>
            </a:extLst>
          </p:cNvPr>
          <p:cNvSpPr txBox="1">
            <a:spLocks/>
          </p:cNvSpPr>
          <p:nvPr/>
        </p:nvSpPr>
        <p:spPr>
          <a:xfrm>
            <a:off x="527512" y="5841190"/>
            <a:ext cx="175006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프랜차이즈</a:t>
            </a:r>
            <a:r>
              <a:rPr lang="en-US" sz="9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9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점포</a:t>
            </a:r>
            <a:r>
              <a:rPr lang="en-US" sz="9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수</a:t>
            </a:r>
            <a:endParaRPr lang="ko-KR" altLang="en-US" sz="9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0" name="Rect 0">
            <a:extLst>
              <a:ext uri="{FF2B5EF4-FFF2-40B4-BE49-F238E27FC236}">
                <a16:creationId xmlns:a16="http://schemas.microsoft.com/office/drawing/2014/main" id="{CE963FA6-A4BA-1CE6-0908-9A8D68F68555}"/>
              </a:ext>
            </a:extLst>
          </p:cNvPr>
          <p:cNvSpPr txBox="1">
            <a:spLocks/>
          </p:cNvSpPr>
          <p:nvPr/>
        </p:nvSpPr>
        <p:spPr>
          <a:xfrm>
            <a:off x="2157557" y="5841190"/>
            <a:ext cx="22993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</a:t>
            </a:r>
            <a:r>
              <a:rPr lang="en-US" sz="9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9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증가</a:t>
            </a:r>
            <a:endParaRPr lang="ko-KR" altLang="en-US" sz="900" b="1" dirty="0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1" name="Rect 0">
            <a:extLst>
              <a:ext uri="{FF2B5EF4-FFF2-40B4-BE49-F238E27FC236}">
                <a16:creationId xmlns:a16="http://schemas.microsoft.com/office/drawing/2014/main" id="{D366CFF8-C23A-7D48-5F15-206F706B8BD6}"/>
              </a:ext>
            </a:extLst>
          </p:cNvPr>
          <p:cNvSpPr txBox="1">
            <a:spLocks/>
          </p:cNvSpPr>
          <p:nvPr/>
        </p:nvSpPr>
        <p:spPr>
          <a:xfrm>
            <a:off x="4345132" y="5841190"/>
            <a:ext cx="15443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상권 안정성 강화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2" name="Rect 0">
            <a:extLst>
              <a:ext uri="{FF2B5EF4-FFF2-40B4-BE49-F238E27FC236}">
                <a16:creationId xmlns:a16="http://schemas.microsoft.com/office/drawing/2014/main" id="{6EEB552E-BC3C-E853-0F9B-B2BF66248E7D}"/>
              </a:ext>
            </a:extLst>
          </p:cNvPr>
          <p:cNvSpPr>
            <a:spLocks/>
          </p:cNvSpPr>
          <p:nvPr/>
        </p:nvSpPr>
        <p:spPr>
          <a:xfrm>
            <a:off x="592282" y="6269815"/>
            <a:ext cx="5239385" cy="9525"/>
          </a:xfrm>
          <a:prstGeom prst="rect">
            <a:avLst/>
          </a:prstGeom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3" name="Rect 0">
            <a:extLst>
              <a:ext uri="{FF2B5EF4-FFF2-40B4-BE49-F238E27FC236}">
                <a16:creationId xmlns:a16="http://schemas.microsoft.com/office/drawing/2014/main" id="{BB3A1654-5B5F-3C17-D223-A5FC2F886E5C}"/>
              </a:ext>
            </a:extLst>
          </p:cNvPr>
          <p:cNvSpPr txBox="1">
            <a:spLocks/>
          </p:cNvSpPr>
          <p:nvPr/>
        </p:nvSpPr>
        <p:spPr>
          <a:xfrm>
            <a:off x="527512" y="6069790"/>
            <a:ext cx="175006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개업 점포 수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4" name="Rect 0">
            <a:extLst>
              <a:ext uri="{FF2B5EF4-FFF2-40B4-BE49-F238E27FC236}">
                <a16:creationId xmlns:a16="http://schemas.microsoft.com/office/drawing/2014/main" id="{DAE351CA-5ECC-0AB5-D7C1-DB2FEA0C0FAC}"/>
              </a:ext>
            </a:extLst>
          </p:cNvPr>
          <p:cNvSpPr txBox="1">
            <a:spLocks/>
          </p:cNvSpPr>
          <p:nvPr/>
        </p:nvSpPr>
        <p:spPr>
          <a:xfrm>
            <a:off x="2167717" y="6069790"/>
            <a:ext cx="227901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증가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5" name="Rect 0">
            <a:extLst>
              <a:ext uri="{FF2B5EF4-FFF2-40B4-BE49-F238E27FC236}">
                <a16:creationId xmlns:a16="http://schemas.microsoft.com/office/drawing/2014/main" id="{0003D490-E87C-18E9-315C-33C2541A1F1A}"/>
              </a:ext>
            </a:extLst>
          </p:cNvPr>
          <p:cNvSpPr txBox="1">
            <a:spLocks/>
          </p:cNvSpPr>
          <p:nvPr/>
        </p:nvSpPr>
        <p:spPr>
          <a:xfrm>
            <a:off x="4345132" y="6069790"/>
            <a:ext cx="15443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신규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진입 확대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6" name="Rect 0">
            <a:extLst>
              <a:ext uri="{FF2B5EF4-FFF2-40B4-BE49-F238E27FC236}">
                <a16:creationId xmlns:a16="http://schemas.microsoft.com/office/drawing/2014/main" id="{2F9D1182-42F6-9828-6D8E-9F14D498DE1C}"/>
              </a:ext>
            </a:extLst>
          </p:cNvPr>
          <p:cNvSpPr txBox="1">
            <a:spLocks/>
          </p:cNvSpPr>
          <p:nvPr/>
        </p:nvSpPr>
        <p:spPr>
          <a:xfrm>
            <a:off x="554182" y="6298390"/>
            <a:ext cx="16967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임대시세</a:t>
            </a:r>
            <a:endParaRPr lang="ko-KR" altLang="en-US" sz="9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7" name="Rect 0">
            <a:extLst>
              <a:ext uri="{FF2B5EF4-FFF2-40B4-BE49-F238E27FC236}">
                <a16:creationId xmlns:a16="http://schemas.microsoft.com/office/drawing/2014/main" id="{4F1CA35A-C70A-AA32-F610-5C5B0869AAF6}"/>
              </a:ext>
            </a:extLst>
          </p:cNvPr>
          <p:cNvSpPr txBox="1">
            <a:spLocks/>
          </p:cNvSpPr>
          <p:nvPr/>
        </p:nvSpPr>
        <p:spPr>
          <a:xfrm>
            <a:off x="2149302" y="6298390"/>
            <a:ext cx="231521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완</a:t>
            </a:r>
            <a:r>
              <a:rPr lang="ko-KR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만한 하락</a:t>
            </a:r>
            <a:endParaRPr lang="ko-KR" altLang="en-US" sz="900" b="1">
              <a:solidFill>
                <a:srgbClr val="1E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8" name="Rect 0">
            <a:extLst>
              <a:ext uri="{FF2B5EF4-FFF2-40B4-BE49-F238E27FC236}">
                <a16:creationId xmlns:a16="http://schemas.microsoft.com/office/drawing/2014/main" id="{561DC502-0863-380E-0A4B-06423F2B42A5}"/>
              </a:ext>
            </a:extLst>
          </p:cNvPr>
          <p:cNvSpPr txBox="1">
            <a:spLocks/>
          </p:cNvSpPr>
          <p:nvPr/>
        </p:nvSpPr>
        <p:spPr>
          <a:xfrm>
            <a:off x="4345132" y="6298390"/>
            <a:ext cx="1544320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비용 구조 개선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89" name="Picture " descr="C:/Users/Kim dong gwan/AppData/Roaming/PolarisOffice/ETemp/17048_16254952/image-20-4.png">
            <a:extLst>
              <a:ext uri="{FF2B5EF4-FFF2-40B4-BE49-F238E27FC236}">
                <a16:creationId xmlns:a16="http://schemas.microsoft.com/office/drawing/2014/main" id="{8B4A0681-91BD-BA3C-7475-F10EB876841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700020"/>
            <a:ext cx="238125" cy="191135"/>
          </a:xfrm>
          <a:prstGeom prst="rect">
            <a:avLst/>
          </a:prstGeom>
          <a:noFill/>
        </p:spPr>
      </p:pic>
      <p:sp>
        <p:nvSpPr>
          <p:cNvPr id="90" name="Rect 0">
            <a:extLst>
              <a:ext uri="{FF2B5EF4-FFF2-40B4-BE49-F238E27FC236}">
                <a16:creationId xmlns:a16="http://schemas.microsoft.com/office/drawing/2014/main" id="{812AF4C7-C439-3F9F-05E0-039C95D9EF49}"/>
              </a:ext>
            </a:extLst>
          </p:cNvPr>
          <p:cNvSpPr txBox="1">
            <a:spLocks/>
          </p:cNvSpPr>
          <p:nvPr/>
        </p:nvSpPr>
        <p:spPr>
          <a:xfrm>
            <a:off x="6572885" y="266700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소비 패턴 특징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1" name="Rect 0">
            <a:extLst>
              <a:ext uri="{FF2B5EF4-FFF2-40B4-BE49-F238E27FC236}">
                <a16:creationId xmlns:a16="http://schemas.microsoft.com/office/drawing/2014/main" id="{35B96D3F-633B-34F6-1473-32B3D4DE37F9}"/>
              </a:ext>
            </a:extLst>
          </p:cNvPr>
          <p:cNvSpPr txBox="1">
            <a:spLocks/>
          </p:cNvSpPr>
          <p:nvPr/>
        </p:nvSpPr>
        <p:spPr>
          <a:xfrm>
            <a:off x="6667500" y="3191510"/>
            <a:ext cx="4878070" cy="25844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10대 매출 3배 이상 증가 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/20대 매출도 동반 증가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(청소년·젊은 층 소비 중심의 상권으로 변화 중)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2" name="Rect 0">
            <a:extLst>
              <a:ext uri="{FF2B5EF4-FFF2-40B4-BE49-F238E27FC236}">
                <a16:creationId xmlns:a16="http://schemas.microsoft.com/office/drawing/2014/main" id="{468B02EB-4DF1-064B-4987-E84B1742BDDC}"/>
              </a:ext>
            </a:extLst>
          </p:cNvPr>
          <p:cNvSpPr txBox="1">
            <a:spLocks/>
          </p:cNvSpPr>
          <p:nvPr/>
        </p:nvSpPr>
        <p:spPr>
          <a:xfrm>
            <a:off x="6667500" y="3550285"/>
            <a:ext cx="49536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주말 매출이 주중 대비 2~3배 높음</a:t>
            </a:r>
            <a:r>
              <a:rPr lang="en-US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가족 단위 소비)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3" name="Rect 0">
            <a:extLst>
              <a:ext uri="{FF2B5EF4-FFF2-40B4-BE49-F238E27FC236}">
                <a16:creationId xmlns:a16="http://schemas.microsoft.com/office/drawing/2014/main" id="{AF36688F-A4C8-F4D3-1D6A-798DCDCCF5AC}"/>
              </a:ext>
            </a:extLst>
          </p:cNvPr>
          <p:cNvSpPr txBox="1">
            <a:spLocks/>
          </p:cNvSpPr>
          <p:nvPr/>
        </p:nvSpPr>
        <p:spPr>
          <a:xfrm>
            <a:off x="6667500" y="3836670"/>
            <a:ext cx="49536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고덕강일지구 </a:t>
            </a: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신규 입주 효과(2024)</a:t>
            </a:r>
            <a:r>
              <a:rPr lang="en-US" sz="11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 + 9호선 연장 예정(2028년)</a:t>
            </a:r>
            <a:endParaRPr lang="ko-KR" altLang="en-US" sz="11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3" name="텍스트 상자 80">
            <a:extLst>
              <a:ext uri="{FF2B5EF4-FFF2-40B4-BE49-F238E27FC236}">
                <a16:creationId xmlns:a16="http://schemas.microsoft.com/office/drawing/2014/main" id="{2B88AD21-7B56-908E-B573-2F45C5042D50}"/>
              </a:ext>
            </a:extLst>
          </p:cNvPr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4" name="도형 81">
            <a:extLst>
              <a:ext uri="{FF2B5EF4-FFF2-40B4-BE49-F238E27FC236}">
                <a16:creationId xmlns:a16="http://schemas.microsoft.com/office/drawing/2014/main" id="{979AFC72-A10F-2FD4-B95A-4A38EE8F9687}"/>
              </a:ext>
            </a:extLst>
          </p:cNvPr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5" name="텍스트 상자 82">
            <a:extLst>
              <a:ext uri="{FF2B5EF4-FFF2-40B4-BE49-F238E27FC236}">
                <a16:creationId xmlns:a16="http://schemas.microsoft.com/office/drawing/2014/main" id="{DC1092F9-A402-59D2-B78C-57384BBEEFFC}"/>
              </a:ext>
            </a:extLst>
          </p:cNvPr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6" name="도형 95">
            <a:extLst>
              <a:ext uri="{FF2B5EF4-FFF2-40B4-BE49-F238E27FC236}">
                <a16:creationId xmlns:a16="http://schemas.microsoft.com/office/drawing/2014/main" id="{F64BE660-A8E2-1A37-2204-6053DEA4FE23}"/>
              </a:ext>
            </a:extLst>
          </p:cNvPr>
          <p:cNvSpPr>
            <a:spLocks/>
          </p:cNvSpPr>
          <p:nvPr/>
        </p:nvSpPr>
        <p:spPr>
          <a:xfrm>
            <a:off x="6182590" y="4931122"/>
            <a:ext cx="1857375" cy="1452589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blurRad="635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7" name="도형 96">
            <a:extLst>
              <a:ext uri="{FF2B5EF4-FFF2-40B4-BE49-F238E27FC236}">
                <a16:creationId xmlns:a16="http://schemas.microsoft.com/office/drawing/2014/main" id="{1AB36F2F-2AFA-433E-96DA-6161F10DCA68}"/>
              </a:ext>
            </a:extLst>
          </p:cNvPr>
          <p:cNvSpPr>
            <a:spLocks/>
          </p:cNvSpPr>
          <p:nvPr/>
        </p:nvSpPr>
        <p:spPr>
          <a:xfrm>
            <a:off x="6182590" y="4941513"/>
            <a:ext cx="1857375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24" name="그림 103" descr="C:/Users/Kim dong gwan/AppData/Roaming/PolarisOffice/ETemp/17048_16254952/fImage118819471942.png">
            <a:extLst>
              <a:ext uri="{FF2B5EF4-FFF2-40B4-BE49-F238E27FC236}">
                <a16:creationId xmlns:a16="http://schemas.microsoft.com/office/drawing/2014/main" id="{8A355C20-8782-4956-155A-86C94A65CDF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4509770"/>
            <a:ext cx="143510" cy="191135"/>
          </a:xfrm>
          <a:prstGeom prst="rect">
            <a:avLst/>
          </a:prstGeom>
          <a:noFill/>
        </p:spPr>
      </p:pic>
      <p:sp>
        <p:nvSpPr>
          <p:cNvPr id="125" name="텍스트 상자 104">
            <a:extLst>
              <a:ext uri="{FF2B5EF4-FFF2-40B4-BE49-F238E27FC236}">
                <a16:creationId xmlns:a16="http://schemas.microsoft.com/office/drawing/2014/main" id="{097418D4-F5C4-A26F-10EA-52010D0C9021}"/>
              </a:ext>
            </a:extLst>
          </p:cNvPr>
          <p:cNvSpPr txBox="1">
            <a:spLocks/>
          </p:cNvSpPr>
          <p:nvPr/>
        </p:nvSpPr>
        <p:spPr>
          <a:xfrm>
            <a:off x="6572885" y="4476750"/>
            <a:ext cx="4001135" cy="27749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입점 및 마케팅 제안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6" name="도형 105">
            <a:extLst>
              <a:ext uri="{FF2B5EF4-FFF2-40B4-BE49-F238E27FC236}">
                <a16:creationId xmlns:a16="http://schemas.microsoft.com/office/drawing/2014/main" id="{2D05ED2F-E2D8-09D2-1203-20F7B4A8CF47}"/>
              </a:ext>
            </a:extLst>
          </p:cNvPr>
          <p:cNvSpPr>
            <a:spLocks/>
          </p:cNvSpPr>
          <p:nvPr/>
        </p:nvSpPr>
        <p:spPr>
          <a:xfrm>
            <a:off x="6865796" y="5019445"/>
            <a:ext cx="345498" cy="34549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27" name="그림 106" descr="C:/Users/Kim dong gwan/AppData/Roaming/PolarisOffice/ETemp/17048_16254952/fImage81219504827.png">
            <a:extLst>
              <a:ext uri="{FF2B5EF4-FFF2-40B4-BE49-F238E27FC236}">
                <a16:creationId xmlns:a16="http://schemas.microsoft.com/office/drawing/2014/main" id="{D0AC22D4-5F62-4E04-6B93-1A1139F20BA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1" r="-2571"/>
          <a:stretch>
            <a:fillRect/>
          </a:stretch>
        </p:blipFill>
        <p:spPr>
          <a:xfrm>
            <a:off x="6948808" y="5113782"/>
            <a:ext cx="159829" cy="173228"/>
          </a:xfrm>
          <a:prstGeom prst="rect">
            <a:avLst/>
          </a:prstGeom>
          <a:noFill/>
        </p:spPr>
      </p:pic>
      <p:sp>
        <p:nvSpPr>
          <p:cNvPr id="128" name="텍스트 상자 107">
            <a:extLst>
              <a:ext uri="{FF2B5EF4-FFF2-40B4-BE49-F238E27FC236}">
                <a16:creationId xmlns:a16="http://schemas.microsoft.com/office/drawing/2014/main" id="{657379FC-86D9-ED57-9EB9-4C9A5AEDE989}"/>
              </a:ext>
            </a:extLst>
          </p:cNvPr>
          <p:cNvSpPr txBox="1">
            <a:spLocks/>
          </p:cNvSpPr>
          <p:nvPr/>
        </p:nvSpPr>
        <p:spPr>
          <a:xfrm>
            <a:off x="6182590" y="5416265"/>
            <a:ext cx="185737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① </a:t>
            </a:r>
            <a:r>
              <a:rPr sz="1050" b="1" dirty="0" err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가족형</a:t>
            </a:r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외식</a:t>
            </a:r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브랜드</a:t>
            </a:r>
            <a:endParaRPr lang="ko-KR" altLang="en-US" sz="1050" b="1" dirty="0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9" name="텍스트 상자 108">
            <a:extLst>
              <a:ext uri="{FF2B5EF4-FFF2-40B4-BE49-F238E27FC236}">
                <a16:creationId xmlns:a16="http://schemas.microsoft.com/office/drawing/2014/main" id="{53A9E849-E465-6EA2-D274-6F1855DFC32E}"/>
              </a:ext>
            </a:extLst>
          </p:cNvPr>
          <p:cNvSpPr txBox="1">
            <a:spLocks/>
          </p:cNvSpPr>
          <p:nvPr/>
        </p:nvSpPr>
        <p:spPr>
          <a:xfrm>
            <a:off x="6219422" y="5739251"/>
            <a:ext cx="1820543" cy="342896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아웃백·빕스·샤브샤브</a:t>
            </a:r>
            <a:r>
              <a:rPr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등</a:t>
            </a:r>
            <a:endParaRPr lang="ko-KR" altLang="en-US" sz="1100" dirty="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algn="ctr" defTabSz="914400" rtl="0" eaLnBrk="1" latinLnBrk="0" hangingPunct="1">
              <a:buFontTx/>
              <a:buNone/>
            </a:pP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주말</a:t>
            </a:r>
            <a:r>
              <a:rPr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가족</a:t>
            </a:r>
            <a:r>
              <a:rPr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소비</a:t>
            </a:r>
            <a:r>
              <a:rPr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수요</a:t>
            </a:r>
            <a:r>
              <a:rPr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타겟팅</a:t>
            </a:r>
            <a:endParaRPr lang="ko-KR" altLang="en-US" sz="1100" dirty="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74B91-5AE7-C05D-5888-F0DF0E5461B7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22</a:t>
            </a:r>
            <a:endParaRPr lang="ko-KR" altLang="en-US" sz="1000" dirty="0"/>
          </a:p>
        </p:txBody>
      </p:sp>
      <p:sp>
        <p:nvSpPr>
          <p:cNvPr id="3" name="도형 95">
            <a:extLst>
              <a:ext uri="{FF2B5EF4-FFF2-40B4-BE49-F238E27FC236}">
                <a16:creationId xmlns:a16="http://schemas.microsoft.com/office/drawing/2014/main" id="{24B6DF31-4453-6FEA-5CDC-15524AE47CA0}"/>
              </a:ext>
            </a:extLst>
          </p:cNvPr>
          <p:cNvSpPr>
            <a:spLocks/>
          </p:cNvSpPr>
          <p:nvPr/>
        </p:nvSpPr>
        <p:spPr>
          <a:xfrm>
            <a:off x="8167574" y="4926562"/>
            <a:ext cx="1857375" cy="1452589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blurRad="635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96">
            <a:extLst>
              <a:ext uri="{FF2B5EF4-FFF2-40B4-BE49-F238E27FC236}">
                <a16:creationId xmlns:a16="http://schemas.microsoft.com/office/drawing/2014/main" id="{82BFD6D3-C2B0-C9D6-A003-19D210095E21}"/>
              </a:ext>
            </a:extLst>
          </p:cNvPr>
          <p:cNvSpPr>
            <a:spLocks/>
          </p:cNvSpPr>
          <p:nvPr/>
        </p:nvSpPr>
        <p:spPr>
          <a:xfrm>
            <a:off x="8167574" y="4936953"/>
            <a:ext cx="1857375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3" name="텍스트 상자 107">
            <a:extLst>
              <a:ext uri="{FF2B5EF4-FFF2-40B4-BE49-F238E27FC236}">
                <a16:creationId xmlns:a16="http://schemas.microsoft.com/office/drawing/2014/main" id="{EC9A8A73-03B6-5C02-2389-24AA3FF7D268}"/>
              </a:ext>
            </a:extLst>
          </p:cNvPr>
          <p:cNvSpPr txBox="1">
            <a:spLocks/>
          </p:cNvSpPr>
          <p:nvPr/>
        </p:nvSpPr>
        <p:spPr>
          <a:xfrm>
            <a:off x="8167574" y="5411705"/>
            <a:ext cx="185737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②</a:t>
            </a:r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lang="ko-KR" altLang="en-US"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프랜차이즈 카페</a:t>
            </a:r>
          </a:p>
        </p:txBody>
      </p:sp>
      <p:sp>
        <p:nvSpPr>
          <p:cNvPr id="14" name="텍스트 상자 108">
            <a:extLst>
              <a:ext uri="{FF2B5EF4-FFF2-40B4-BE49-F238E27FC236}">
                <a16:creationId xmlns:a16="http://schemas.microsoft.com/office/drawing/2014/main" id="{21CCFA38-74C8-E475-CB74-9CE44E7BC455}"/>
              </a:ext>
            </a:extLst>
          </p:cNvPr>
          <p:cNvSpPr txBox="1">
            <a:spLocks/>
          </p:cNvSpPr>
          <p:nvPr/>
        </p:nvSpPr>
        <p:spPr>
          <a:xfrm>
            <a:off x="8204406" y="5734691"/>
            <a:ext cx="1820543" cy="342896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스타벅스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·</a:t>
            </a:r>
            <a:r>
              <a:rPr lang="ko-KR" altLang="en-US"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투썸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·</a:t>
            </a:r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메가커피 등</a:t>
            </a:r>
          </a:p>
          <a:p>
            <a:pPr algn="ctr"/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증가하는 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10·20</a:t>
            </a:r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대 수요 흡수</a:t>
            </a:r>
          </a:p>
        </p:txBody>
      </p:sp>
      <p:sp>
        <p:nvSpPr>
          <p:cNvPr id="15" name="도형 95">
            <a:extLst>
              <a:ext uri="{FF2B5EF4-FFF2-40B4-BE49-F238E27FC236}">
                <a16:creationId xmlns:a16="http://schemas.microsoft.com/office/drawing/2014/main" id="{CEDEDD29-5649-D9A5-F943-939F1352A303}"/>
              </a:ext>
            </a:extLst>
          </p:cNvPr>
          <p:cNvSpPr>
            <a:spLocks/>
          </p:cNvSpPr>
          <p:nvPr/>
        </p:nvSpPr>
        <p:spPr>
          <a:xfrm>
            <a:off x="10138063" y="4918538"/>
            <a:ext cx="1857375" cy="1452589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blurRad="635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6" name="도형 96">
            <a:extLst>
              <a:ext uri="{FF2B5EF4-FFF2-40B4-BE49-F238E27FC236}">
                <a16:creationId xmlns:a16="http://schemas.microsoft.com/office/drawing/2014/main" id="{D87BCC49-019D-885A-4BA8-57B7AB5CAF98}"/>
              </a:ext>
            </a:extLst>
          </p:cNvPr>
          <p:cNvSpPr>
            <a:spLocks/>
          </p:cNvSpPr>
          <p:nvPr/>
        </p:nvSpPr>
        <p:spPr>
          <a:xfrm>
            <a:off x="10138063" y="4928929"/>
            <a:ext cx="1857375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7" name="도형 105">
            <a:extLst>
              <a:ext uri="{FF2B5EF4-FFF2-40B4-BE49-F238E27FC236}">
                <a16:creationId xmlns:a16="http://schemas.microsoft.com/office/drawing/2014/main" id="{09A017C4-048E-06FB-4319-F673FF52CA5F}"/>
              </a:ext>
            </a:extLst>
          </p:cNvPr>
          <p:cNvSpPr>
            <a:spLocks/>
          </p:cNvSpPr>
          <p:nvPr/>
        </p:nvSpPr>
        <p:spPr>
          <a:xfrm>
            <a:off x="10821269" y="5006861"/>
            <a:ext cx="345498" cy="34549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8" name="그림 106" descr="C:/Users/Kim dong gwan/AppData/Roaming/PolarisOffice/ETemp/17048_16254952/fImage81219504827.png">
            <a:extLst>
              <a:ext uri="{FF2B5EF4-FFF2-40B4-BE49-F238E27FC236}">
                <a16:creationId xmlns:a16="http://schemas.microsoft.com/office/drawing/2014/main" id="{362EDECB-AB3E-91BB-9778-40A23AA77C7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1" r="-2571"/>
          <a:stretch>
            <a:fillRect/>
          </a:stretch>
        </p:blipFill>
        <p:spPr>
          <a:xfrm>
            <a:off x="10904281" y="5101198"/>
            <a:ext cx="159829" cy="173228"/>
          </a:xfrm>
          <a:prstGeom prst="rect">
            <a:avLst/>
          </a:prstGeom>
          <a:noFill/>
        </p:spPr>
      </p:pic>
      <p:sp>
        <p:nvSpPr>
          <p:cNvPr id="20" name="텍스트 상자 107">
            <a:extLst>
              <a:ext uri="{FF2B5EF4-FFF2-40B4-BE49-F238E27FC236}">
                <a16:creationId xmlns:a16="http://schemas.microsoft.com/office/drawing/2014/main" id="{72E93F09-B068-B2D5-47EA-4D038036D719}"/>
              </a:ext>
            </a:extLst>
          </p:cNvPr>
          <p:cNvSpPr txBox="1">
            <a:spLocks/>
          </p:cNvSpPr>
          <p:nvPr/>
        </p:nvSpPr>
        <p:spPr>
          <a:xfrm>
            <a:off x="10138063" y="5403681"/>
            <a:ext cx="185737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③ 교육 관련 업종</a:t>
            </a:r>
          </a:p>
        </p:txBody>
      </p:sp>
      <p:sp>
        <p:nvSpPr>
          <p:cNvPr id="21" name="텍스트 상자 108">
            <a:extLst>
              <a:ext uri="{FF2B5EF4-FFF2-40B4-BE49-F238E27FC236}">
                <a16:creationId xmlns:a16="http://schemas.microsoft.com/office/drawing/2014/main" id="{001656CA-A7A2-AC10-4AA0-0D34B621BA4C}"/>
              </a:ext>
            </a:extLst>
          </p:cNvPr>
          <p:cNvSpPr txBox="1">
            <a:spLocks/>
          </p:cNvSpPr>
          <p:nvPr/>
        </p:nvSpPr>
        <p:spPr>
          <a:xfrm>
            <a:off x="10174895" y="5726667"/>
            <a:ext cx="1820543" cy="342896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독서실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·</a:t>
            </a:r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프리미엄 </a:t>
            </a:r>
            <a:r>
              <a:rPr lang="ko-KR" altLang="en-US" sz="1100" dirty="0" err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스터디카페</a:t>
            </a:r>
            <a:endParaRPr lang="ko-KR" altLang="en-US" sz="1100" dirty="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algn="ctr"/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초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·</a:t>
            </a:r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중</a:t>
            </a:r>
            <a:r>
              <a:rPr lang="en-US" altLang="ko-KR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·</a:t>
            </a:r>
            <a:r>
              <a:rPr lang="ko-KR" altLang="en-US" sz="1100" dirty="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고 학군 밀집 지역</a:t>
            </a:r>
          </a:p>
        </p:txBody>
      </p:sp>
      <p:sp>
        <p:nvSpPr>
          <p:cNvPr id="25" name="도형 109">
            <a:extLst>
              <a:ext uri="{FF2B5EF4-FFF2-40B4-BE49-F238E27FC236}">
                <a16:creationId xmlns:a16="http://schemas.microsoft.com/office/drawing/2014/main" id="{033CF194-5FB7-2BC5-1B25-73D797A40D4E}"/>
              </a:ext>
            </a:extLst>
          </p:cNvPr>
          <p:cNvSpPr>
            <a:spLocks/>
          </p:cNvSpPr>
          <p:nvPr/>
        </p:nvSpPr>
        <p:spPr>
          <a:xfrm>
            <a:off x="8964046" y="5027641"/>
            <a:ext cx="323215" cy="32321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75" name="그림 110" descr="C:/Users/Kim dong gwan/AppData/Roaming/PolarisOffice/ETemp/17048_16254952/fImage77219545436.png">
            <a:extLst>
              <a:ext uri="{FF2B5EF4-FFF2-40B4-BE49-F238E27FC236}">
                <a16:creationId xmlns:a16="http://schemas.microsoft.com/office/drawing/2014/main" id="{1C48EEB3-03CD-2489-CD7F-D98BD43F5AC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395" y="5100478"/>
            <a:ext cx="162055" cy="162055"/>
          </a:xfrm>
          <a:prstGeom prst="rect">
            <a:avLst/>
          </a:prstGeom>
          <a:noFill/>
        </p:spPr>
      </p:pic>
      <p:sp>
        <p:nvSpPr>
          <p:cNvPr id="76" name="도형 117">
            <a:extLst>
              <a:ext uri="{FF2B5EF4-FFF2-40B4-BE49-F238E27FC236}">
                <a16:creationId xmlns:a16="http://schemas.microsoft.com/office/drawing/2014/main" id="{453FDBA0-87D7-71C3-772F-F0E7E707001C}"/>
              </a:ext>
            </a:extLst>
          </p:cNvPr>
          <p:cNvSpPr>
            <a:spLocks/>
          </p:cNvSpPr>
          <p:nvPr/>
        </p:nvSpPr>
        <p:spPr>
          <a:xfrm>
            <a:off x="10814782" y="5002300"/>
            <a:ext cx="345094" cy="34509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77" name="그림 118" descr="C:/Users/Kim dong gwan/AppData/Roaming/PolarisOffice/ETemp/17048_16254952/fImage52419624604.png">
            <a:extLst>
              <a:ext uri="{FF2B5EF4-FFF2-40B4-BE49-F238E27FC236}">
                <a16:creationId xmlns:a16="http://schemas.microsoft.com/office/drawing/2014/main" id="{36004FCA-9CE0-2F1E-7F96-E153FFCAF08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1" r="-1911"/>
          <a:stretch>
            <a:fillRect/>
          </a:stretch>
        </p:blipFill>
        <p:spPr>
          <a:xfrm>
            <a:off x="10893580" y="5086680"/>
            <a:ext cx="201703" cy="173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2946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>
            <a:spLocks/>
          </p:cNvSpPr>
          <p:nvPr/>
        </p:nvSpPr>
        <p:spPr>
          <a:xfrm>
            <a:off x="571500" y="1571625"/>
            <a:ext cx="11106785" cy="972820"/>
          </a:xfrm>
          <a:prstGeom prst="roundRect">
            <a:avLst>
              <a:gd name="adj" fmla="val 18953"/>
            </a:avLst>
          </a:prstGeom>
          <a:solidFill>
            <a:srgbClr val="F4F7FF"/>
          </a:solidFill>
          <a:ln cap="flat" cmpd="sng">
            <a:prstDash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571625"/>
            <a:ext cx="57785" cy="857885"/>
          </a:xfrm>
          <a:prstGeom prst="roundRect">
            <a:avLst>
              <a:gd name="adj" fmla="val 282188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3048000"/>
            <a:ext cx="5257800" cy="1543685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5380990"/>
            <a:ext cx="5257800" cy="1144270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3048000"/>
            <a:ext cx="5380990" cy="116205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762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86500" y="3048000"/>
            <a:ext cx="38100" cy="1162050"/>
          </a:xfrm>
          <a:prstGeom prst="roundRect">
            <a:avLst>
              <a:gd name="adj" fmla="val 23419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8990" y="1714500"/>
            <a:ext cx="781050" cy="266700"/>
          </a:xfrm>
          <a:prstGeom prst="roundRect">
            <a:avLst>
              <a:gd name="adj" fmla="val 97847"/>
            </a:avLst>
          </a:prstGeom>
          <a:solidFill>
            <a:srgbClr val="FFFFFF"/>
          </a:solidFill>
          <a:ln w="12700">
            <a:solidFill>
              <a:srgbClr val="D1D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상권 심층분석 : 염창동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173355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206위 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118위</a:t>
            </a: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(h=4)</a:t>
            </a:r>
            <a:r>
              <a:rPr 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88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08990" y="2048510"/>
            <a:ext cx="1064895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유동·등록인구가 많은 주거 기반 골목상권으로, 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개·폐업 모두 적은 </a:t>
            </a:r>
            <a:r>
              <a:rPr lang="en-US" sz="12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안정기</a:t>
            </a: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</a:t>
            </a: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r>
              <a:rPr lang="en-US" sz="1200" b="1" dirty="0" err="1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년층</a:t>
            </a:r>
            <a:r>
              <a:rPr 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</a:t>
            </a:r>
            <a:r>
              <a:rPr 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r>
              <a:rPr lang="ko-KR" alt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활발</a:t>
            </a:r>
            <a:r>
              <a:rPr lang="en-US" sz="12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</a:t>
            </a: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주중 직장인 생활 소비 중심의 안정적 </a:t>
            </a:r>
            <a:r>
              <a:rPr lang="en-US" sz="120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구조를</a:t>
            </a: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</a:t>
            </a:r>
            <a:r>
              <a:rPr lang="ko-KR" alt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</a:t>
            </a: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</a:t>
            </a:r>
            <a:r>
              <a:rPr lang="en-US" altLang="ko-KR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700020"/>
            <a:ext cx="190500" cy="1905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7885" y="266700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변동 추이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71500" y="3048000"/>
            <a:ext cx="5238750" cy="304800"/>
          </a:xfrm>
          <a:prstGeom prst="rect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 txBox="1"/>
          <p:nvPr/>
        </p:nvSpPr>
        <p:spPr>
          <a:xfrm>
            <a:off x="518160" y="3103245"/>
            <a:ext cx="144018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851660" y="3103245"/>
            <a:ext cx="144018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Y점수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186430" y="3103245"/>
            <a:ext cx="138874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472940" y="3103245"/>
            <a:ext cx="138874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71500" y="3348355"/>
            <a:ext cx="523875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571500" y="358711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533400" y="3375660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(2025Q3)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866900" y="337121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+0.0234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3200400" y="337121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206위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486275" y="337121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71500" y="3593465"/>
            <a:ext cx="5238750" cy="2476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571500" y="383222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533400" y="362013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 (2025Q4)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866900" y="361569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+0.1972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3200400" y="361569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146위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4486275" y="362013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60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71500" y="3837940"/>
            <a:ext cx="523875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3"/>
          <p:cNvSpPr/>
          <p:nvPr/>
        </p:nvSpPr>
        <p:spPr>
          <a:xfrm>
            <a:off x="571500" y="4076700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4"/>
          <p:cNvSpPr txBox="1"/>
          <p:nvPr/>
        </p:nvSpPr>
        <p:spPr>
          <a:xfrm>
            <a:off x="533400" y="386524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h=2 (2026Q1)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866900" y="38608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+0.1687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3200400" y="386080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149위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4486275" y="386524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57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571500" y="4083050"/>
            <a:ext cx="5238750" cy="2476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9"/>
          <p:cNvSpPr/>
          <p:nvPr/>
        </p:nvSpPr>
        <p:spPr>
          <a:xfrm>
            <a:off x="571500" y="432117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 txBox="1"/>
          <p:nvPr/>
        </p:nvSpPr>
        <p:spPr>
          <a:xfrm>
            <a:off x="533400" y="411035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h=3 (2026Q2)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1866900" y="410464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+0.2130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3200400" y="410464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135위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4486275" y="411035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71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571500" y="4328160"/>
            <a:ext cx="5238750" cy="247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5"/>
          <p:cNvSpPr txBox="1"/>
          <p:nvPr/>
        </p:nvSpPr>
        <p:spPr>
          <a:xfrm>
            <a:off x="533400" y="4358640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h=4 (2026Q3)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1866900" y="435419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+0.2757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3200400" y="4349750"/>
            <a:ext cx="1362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118위</a:t>
            </a:r>
            <a:endParaRPr lang="en-US" sz="1100" dirty="0"/>
          </a:p>
        </p:txBody>
      </p:sp>
      <p:sp>
        <p:nvSpPr>
          <p:cNvPr id="62" name="Text 58"/>
          <p:cNvSpPr txBox="1"/>
          <p:nvPr/>
        </p:nvSpPr>
        <p:spPr>
          <a:xfrm>
            <a:off x="4486275" y="435419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88</a:t>
            </a:r>
            <a:endParaRPr lang="en-US" sz="1000" dirty="0"/>
          </a:p>
        </p:txBody>
      </p:sp>
      <p:pic>
        <p:nvPicPr>
          <p:cNvPr id="63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5033645"/>
            <a:ext cx="190500" cy="190500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57885" y="5000625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변화 </a:t>
            </a: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(과거 대비 현재)</a:t>
            </a:r>
            <a:endParaRPr lang="en-US" sz="1500" dirty="0"/>
          </a:p>
        </p:txBody>
      </p:sp>
      <p:sp>
        <p:nvSpPr>
          <p:cNvPr id="65" name="Shape 60"/>
          <p:cNvSpPr/>
          <p:nvPr/>
        </p:nvSpPr>
        <p:spPr>
          <a:xfrm>
            <a:off x="571500" y="5380990"/>
            <a:ext cx="5238750" cy="1905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1"/>
          <p:cNvSpPr/>
          <p:nvPr/>
        </p:nvSpPr>
        <p:spPr>
          <a:xfrm>
            <a:off x="571500" y="5562600"/>
            <a:ext cx="5238750" cy="8890"/>
          </a:xfrm>
          <a:prstGeom prst="rect">
            <a:avLst/>
          </a:prstGeom>
          <a:solidFill>
            <a:srgbClr val="D1DEFF"/>
          </a:solidFill>
          <a:ln w="12700">
            <a:solidFill>
              <a:srgbClr val="D1D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2"/>
          <p:cNvSpPr txBox="1"/>
          <p:nvPr/>
        </p:nvSpPr>
        <p:spPr>
          <a:xfrm>
            <a:off x="506730" y="538099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endParaRPr lang="en-US" sz="900" dirty="0"/>
          </a:p>
        </p:txBody>
      </p:sp>
      <p:sp>
        <p:nvSpPr>
          <p:cNvPr id="68" name="Text 63"/>
          <p:cNvSpPr txBox="1"/>
          <p:nvPr/>
        </p:nvSpPr>
        <p:spPr>
          <a:xfrm>
            <a:off x="2103120" y="5380990"/>
            <a:ext cx="2366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추이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4324350" y="538099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71500" y="579183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6"/>
          <p:cNvSpPr txBox="1"/>
          <p:nvPr/>
        </p:nvSpPr>
        <p:spPr>
          <a:xfrm>
            <a:off x="506730" y="559181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 대비 수익성</a:t>
            </a:r>
            <a:endParaRPr lang="en-US" sz="900" dirty="0"/>
          </a:p>
        </p:txBody>
      </p:sp>
      <p:sp>
        <p:nvSpPr>
          <p:cNvPr id="72" name="Text 67"/>
          <p:cNvSpPr txBox="1"/>
          <p:nvPr/>
        </p:nvSpPr>
        <p:spPr>
          <a:xfrm>
            <a:off x="2128520" y="5591810"/>
            <a:ext cx="2315210" cy="18161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완만한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Text 68"/>
          <p:cNvSpPr txBox="1"/>
          <p:nvPr/>
        </p:nvSpPr>
        <p:spPr>
          <a:xfrm>
            <a:off x="4324350" y="55918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수익 구조 안정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571500" y="603094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0"/>
          <p:cNvSpPr txBox="1"/>
          <p:nvPr/>
        </p:nvSpPr>
        <p:spPr>
          <a:xfrm>
            <a:off x="506730" y="584143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추정매출액</a:t>
            </a:r>
            <a:endParaRPr lang="en-US" sz="900" dirty="0"/>
          </a:p>
        </p:txBody>
      </p:sp>
      <p:sp>
        <p:nvSpPr>
          <p:cNvPr id="76" name="Text 71"/>
          <p:cNvSpPr txBox="1"/>
          <p:nvPr/>
        </p:nvSpPr>
        <p:spPr>
          <a:xfrm>
            <a:off x="2146935" y="5841430"/>
            <a:ext cx="2279015" cy="18161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7" name="Text 72"/>
          <p:cNvSpPr txBox="1"/>
          <p:nvPr/>
        </p:nvSpPr>
        <p:spPr>
          <a:xfrm>
            <a:off x="4324350" y="584143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성장세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571500" y="605985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7"/>
          <p:cNvSpPr/>
          <p:nvPr/>
        </p:nvSpPr>
        <p:spPr>
          <a:xfrm>
            <a:off x="571500" y="628845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8"/>
          <p:cNvSpPr txBox="1"/>
          <p:nvPr/>
        </p:nvSpPr>
        <p:spPr>
          <a:xfrm>
            <a:off x="506730" y="608843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 점포 수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2146935" y="6088430"/>
            <a:ext cx="2279015" cy="18161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신규 점포 유입 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5" name="Text 80"/>
          <p:cNvSpPr txBox="1"/>
          <p:nvPr/>
        </p:nvSpPr>
        <p:spPr>
          <a:xfrm>
            <a:off x="4324350" y="608843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유입 지속</a:t>
            </a:r>
            <a:endParaRPr lang="en-US" sz="900" dirty="0"/>
          </a:p>
        </p:txBody>
      </p:sp>
      <p:sp>
        <p:nvSpPr>
          <p:cNvPr id="86" name="Text 81"/>
          <p:cNvSpPr txBox="1"/>
          <p:nvPr/>
        </p:nvSpPr>
        <p:spPr>
          <a:xfrm>
            <a:off x="533400" y="6317030"/>
            <a:ext cx="16960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임대시세</a:t>
            </a:r>
            <a:endParaRPr lang="en-US" sz="900" dirty="0"/>
          </a:p>
        </p:txBody>
      </p:sp>
      <p:sp>
        <p:nvSpPr>
          <p:cNvPr id="87" name="Text 82"/>
          <p:cNvSpPr txBox="1"/>
          <p:nvPr/>
        </p:nvSpPr>
        <p:spPr>
          <a:xfrm>
            <a:off x="2128520" y="6317030"/>
            <a:ext cx="2315210" cy="18161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완만한 상승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8" name="Text 83"/>
          <p:cNvSpPr txBox="1"/>
          <p:nvPr/>
        </p:nvSpPr>
        <p:spPr>
          <a:xfrm>
            <a:off x="4324350" y="631703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대비 수익성 유지</a:t>
            </a:r>
            <a:endParaRPr lang="en-US" sz="900" dirty="0"/>
          </a:p>
        </p:txBody>
      </p:sp>
      <p:pic>
        <p:nvPicPr>
          <p:cNvPr id="89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2700020"/>
            <a:ext cx="237490" cy="190500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6572885" y="266700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패턴 특징</a:t>
            </a:r>
            <a:endParaRPr lang="en-US" sz="1500" dirty="0"/>
          </a:p>
        </p:txBody>
      </p:sp>
      <p:sp>
        <p:nvSpPr>
          <p:cNvPr id="91" name="Text 85"/>
          <p:cNvSpPr txBox="1"/>
          <p:nvPr/>
        </p:nvSpPr>
        <p:spPr>
          <a:xfrm>
            <a:off x="6667500" y="3191510"/>
            <a:ext cx="4877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30·40·50·60대 이상 매출 지속 증가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(중장년 주도)</a:t>
            </a:r>
            <a:endParaRPr lang="en-US" sz="1100" dirty="0"/>
          </a:p>
        </p:txBody>
      </p:sp>
      <p:sp>
        <p:nvSpPr>
          <p:cNvPr id="92" name="Text 86"/>
          <p:cNvSpPr txBox="1"/>
          <p:nvPr/>
        </p:nvSpPr>
        <p:spPr>
          <a:xfrm>
            <a:off x="6667500" y="34766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주중 매출 비중이 타 상권 대비 높음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(직장인 생활 소비)</a:t>
            </a:r>
            <a:endParaRPr lang="en-US" sz="1100" dirty="0"/>
          </a:p>
        </p:txBody>
      </p:sp>
      <p:sp>
        <p:nvSpPr>
          <p:cNvPr id="93" name="Text 87"/>
          <p:cNvSpPr txBox="1"/>
          <p:nvPr/>
        </p:nvSpPr>
        <p:spPr>
          <a:xfrm>
            <a:off x="6667500" y="376301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염창역 2번출구 · 염창무학아파트 골목상권 및 한강공원 접근성</a:t>
            </a:r>
            <a:endParaRPr lang="en-US" sz="1100" dirty="0"/>
          </a:p>
        </p:txBody>
      </p:sp>
      <p:pic>
        <p:nvPicPr>
          <p:cNvPr id="94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0" y="4509770"/>
            <a:ext cx="142875" cy="190500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6572885" y="4476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입점 및 마케팅 제안</a:t>
            </a:r>
            <a:endParaRPr lang="en-US" sz="1500" dirty="0"/>
          </a:p>
        </p:txBody>
      </p:sp>
      <p:sp>
        <p:nvSpPr>
          <p:cNvPr id="113" name="텍스트 상자 75"/>
          <p:cNvSpPr txBox="1">
            <a:spLocks/>
          </p:cNvSpPr>
          <p:nvPr/>
        </p:nvSpPr>
        <p:spPr>
          <a:xfrm>
            <a:off x="771525" y="1743075"/>
            <a:ext cx="83883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주거 생활 밀착</a:t>
            </a:r>
            <a:endParaRPr lang="ko-KR" altLang="en-US" sz="8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4" name="텍스트 상자 83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5" name="도형 84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6" name="텍스트 상자 85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A637A-3E02-92BA-7D96-F9468C958F61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23</a:t>
            </a:r>
            <a:endParaRPr lang="ko-KR" altLang="en-US" sz="1000" dirty="0"/>
          </a:p>
        </p:txBody>
      </p:sp>
      <p:sp>
        <p:nvSpPr>
          <p:cNvPr id="3" name="도형 95">
            <a:extLst>
              <a:ext uri="{FF2B5EF4-FFF2-40B4-BE49-F238E27FC236}">
                <a16:creationId xmlns:a16="http://schemas.microsoft.com/office/drawing/2014/main" id="{8C2693B5-7294-2F44-16E3-6EC4BF5E22C2}"/>
              </a:ext>
            </a:extLst>
          </p:cNvPr>
          <p:cNvSpPr>
            <a:spLocks/>
          </p:cNvSpPr>
          <p:nvPr/>
        </p:nvSpPr>
        <p:spPr>
          <a:xfrm>
            <a:off x="6182590" y="4931122"/>
            <a:ext cx="1857375" cy="1452589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blurRad="635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96">
            <a:extLst>
              <a:ext uri="{FF2B5EF4-FFF2-40B4-BE49-F238E27FC236}">
                <a16:creationId xmlns:a16="http://schemas.microsoft.com/office/drawing/2014/main" id="{895F8181-5DDA-D53D-A98A-07A95366CD69}"/>
              </a:ext>
            </a:extLst>
          </p:cNvPr>
          <p:cNvSpPr>
            <a:spLocks/>
          </p:cNvSpPr>
          <p:nvPr/>
        </p:nvSpPr>
        <p:spPr>
          <a:xfrm>
            <a:off x="6182590" y="4941513"/>
            <a:ext cx="1857375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7" name="도형 105">
            <a:extLst>
              <a:ext uri="{FF2B5EF4-FFF2-40B4-BE49-F238E27FC236}">
                <a16:creationId xmlns:a16="http://schemas.microsoft.com/office/drawing/2014/main" id="{D7F51F23-B846-6374-BA9B-9C323BEC274A}"/>
              </a:ext>
            </a:extLst>
          </p:cNvPr>
          <p:cNvSpPr>
            <a:spLocks/>
          </p:cNvSpPr>
          <p:nvPr/>
        </p:nvSpPr>
        <p:spPr>
          <a:xfrm>
            <a:off x="6865796" y="5019445"/>
            <a:ext cx="345498" cy="34549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0" name="텍스트 상자 107">
            <a:extLst>
              <a:ext uri="{FF2B5EF4-FFF2-40B4-BE49-F238E27FC236}">
                <a16:creationId xmlns:a16="http://schemas.microsoft.com/office/drawing/2014/main" id="{7A7C7422-5B0B-D250-D61C-FE14B8F7691E}"/>
              </a:ext>
            </a:extLst>
          </p:cNvPr>
          <p:cNvSpPr txBox="1">
            <a:spLocks/>
          </p:cNvSpPr>
          <p:nvPr/>
        </p:nvSpPr>
        <p:spPr>
          <a:xfrm>
            <a:off x="6182590" y="5416265"/>
            <a:ext cx="185737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① </a:t>
            </a:r>
            <a:r>
              <a:rPr lang="en-US" altLang="ko-KR" sz="105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</a:t>
            </a:r>
            <a:r>
              <a:rPr lang="en-US" altLang="ko-KR" sz="10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</a:t>
            </a:r>
            <a:r>
              <a:rPr lang="en-US" altLang="ko-KR" sz="10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</a:t>
            </a:r>
            <a:endParaRPr lang="ko-KR" altLang="en-US" sz="1050" b="1" dirty="0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1" name="텍스트 상자 108">
            <a:extLst>
              <a:ext uri="{FF2B5EF4-FFF2-40B4-BE49-F238E27FC236}">
                <a16:creationId xmlns:a16="http://schemas.microsoft.com/office/drawing/2014/main" id="{EE3FD6D4-F286-465D-C185-16A8277777D7}"/>
              </a:ext>
            </a:extLst>
          </p:cNvPr>
          <p:cNvSpPr txBox="1">
            <a:spLocks/>
          </p:cNvSpPr>
          <p:nvPr/>
        </p:nvSpPr>
        <p:spPr>
          <a:xfrm>
            <a:off x="6219422" y="5739251"/>
            <a:ext cx="1820543" cy="342896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투썸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할리스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</a:t>
            </a:r>
            <a:endParaRPr lang="en-US" altLang="ko-KR" sz="1100" dirty="0"/>
          </a:p>
          <a:p>
            <a:pPr algn="ctr"/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40·50대 </a:t>
            </a:r>
            <a:r>
              <a:rPr lang="ko-KR" alt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중년층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집중</a:t>
            </a:r>
            <a:endParaRPr lang="en-US" altLang="ko-KR" sz="1100" dirty="0"/>
          </a:p>
        </p:txBody>
      </p:sp>
      <p:sp>
        <p:nvSpPr>
          <p:cNvPr id="23" name="도형 95">
            <a:extLst>
              <a:ext uri="{FF2B5EF4-FFF2-40B4-BE49-F238E27FC236}">
                <a16:creationId xmlns:a16="http://schemas.microsoft.com/office/drawing/2014/main" id="{C8507E36-B630-803B-B603-223DC3AC1A3C}"/>
              </a:ext>
            </a:extLst>
          </p:cNvPr>
          <p:cNvSpPr>
            <a:spLocks/>
          </p:cNvSpPr>
          <p:nvPr/>
        </p:nvSpPr>
        <p:spPr>
          <a:xfrm>
            <a:off x="8167574" y="4926562"/>
            <a:ext cx="1857375" cy="1452589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blurRad="63500" dist="38100" dir="16200000" algn="bl" rotWithShape="0">
              <a:srgbClr val="000000">
                <a:alpha val="1960"/>
              </a:srgbClr>
            </a:outerShdw>
          </a:effectLst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5" name="도형 96">
            <a:extLst>
              <a:ext uri="{FF2B5EF4-FFF2-40B4-BE49-F238E27FC236}">
                <a16:creationId xmlns:a16="http://schemas.microsoft.com/office/drawing/2014/main" id="{6A31534C-0295-254C-F4FA-17E8E11E5283}"/>
              </a:ext>
            </a:extLst>
          </p:cNvPr>
          <p:cNvSpPr>
            <a:spLocks/>
          </p:cNvSpPr>
          <p:nvPr/>
        </p:nvSpPr>
        <p:spPr>
          <a:xfrm>
            <a:off x="8167574" y="4936953"/>
            <a:ext cx="1857375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9" name="텍스트 상자 107">
            <a:extLst>
              <a:ext uri="{FF2B5EF4-FFF2-40B4-BE49-F238E27FC236}">
                <a16:creationId xmlns:a16="http://schemas.microsoft.com/office/drawing/2014/main" id="{2EFBA840-D60D-D849-2986-CF7A57042A92}"/>
              </a:ext>
            </a:extLst>
          </p:cNvPr>
          <p:cNvSpPr txBox="1">
            <a:spLocks/>
          </p:cNvSpPr>
          <p:nvPr/>
        </p:nvSpPr>
        <p:spPr>
          <a:xfrm>
            <a:off x="8167574" y="5411705"/>
            <a:ext cx="1857375" cy="18161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②</a:t>
            </a:r>
            <a:r>
              <a:rPr sz="1050" b="1" dirty="0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 </a:t>
            </a:r>
            <a:r>
              <a:rPr lang="en-US" altLang="ko-KR" sz="105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생활형</a:t>
            </a:r>
            <a:r>
              <a:rPr lang="en-US" altLang="ko-KR" sz="10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b="1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마트</a:t>
            </a:r>
            <a:endParaRPr lang="ko-KR" altLang="en-US" sz="1050" b="1" dirty="0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0" name="텍스트 상자 108">
            <a:extLst>
              <a:ext uri="{FF2B5EF4-FFF2-40B4-BE49-F238E27FC236}">
                <a16:creationId xmlns:a16="http://schemas.microsoft.com/office/drawing/2014/main" id="{4B71006E-D75B-A534-6EC5-1B52F3758574}"/>
              </a:ext>
            </a:extLst>
          </p:cNvPr>
          <p:cNvSpPr txBox="1">
            <a:spLocks/>
          </p:cNvSpPr>
          <p:nvPr/>
        </p:nvSpPr>
        <p:spPr>
          <a:xfrm>
            <a:off x="8204406" y="5734691"/>
            <a:ext cx="1820543" cy="342896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anchor="ctr">
            <a:noAutofit/>
          </a:bodyPr>
          <a:lstStyle/>
          <a:p>
            <a:pPr algn="ctr"/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노브랜드·롯데슈퍼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</a:t>
            </a:r>
            <a:endParaRPr lang="en-US" altLang="ko-KR" sz="1100" dirty="0"/>
          </a:p>
          <a:p>
            <a:pPr algn="ctr"/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편의점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多, </a:t>
            </a:r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저가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마트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</a:t>
            </a:r>
            <a:r>
              <a:rPr lang="en-US" altLang="ko-KR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</a:t>
            </a:r>
            <a:endParaRPr lang="en-US" altLang="ko-KR" sz="1100" dirty="0"/>
          </a:p>
        </p:txBody>
      </p:sp>
      <p:sp>
        <p:nvSpPr>
          <p:cNvPr id="117" name="도형 109">
            <a:extLst>
              <a:ext uri="{FF2B5EF4-FFF2-40B4-BE49-F238E27FC236}">
                <a16:creationId xmlns:a16="http://schemas.microsoft.com/office/drawing/2014/main" id="{9CE0DB0B-058E-6034-FEDA-C6CC2A5B04AC}"/>
              </a:ext>
            </a:extLst>
          </p:cNvPr>
          <p:cNvSpPr>
            <a:spLocks/>
          </p:cNvSpPr>
          <p:nvPr/>
        </p:nvSpPr>
        <p:spPr>
          <a:xfrm>
            <a:off x="8964046" y="5027641"/>
            <a:ext cx="323215" cy="32321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18" name="그림 110" descr="C:/Users/Kim dong gwan/AppData/Roaming/PolarisOffice/ETemp/17048_16254952/fImage77219545436.png">
            <a:extLst>
              <a:ext uri="{FF2B5EF4-FFF2-40B4-BE49-F238E27FC236}">
                <a16:creationId xmlns:a16="http://schemas.microsoft.com/office/drawing/2014/main" id="{DD29FA16-79BE-AC34-2B35-DFFDB8E4E8F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433" y="5100478"/>
            <a:ext cx="162055" cy="162055"/>
          </a:xfrm>
          <a:prstGeom prst="rect">
            <a:avLst/>
          </a:prstGeom>
          <a:noFill/>
        </p:spPr>
      </p:pic>
      <p:pic>
        <p:nvPicPr>
          <p:cNvPr id="121" name="Image 7">
            <a:extLst>
              <a:ext uri="{FF2B5EF4-FFF2-40B4-BE49-F238E27FC236}">
                <a16:creationId xmlns:a16="http://schemas.microsoft.com/office/drawing/2014/main" id="{CCB7614E-AA00-B261-DAC3-A96934B1EF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9024787" y="5108113"/>
            <a:ext cx="217643" cy="1865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1619250"/>
            <a:ext cx="11087100" cy="895350"/>
          </a:xfrm>
          <a:prstGeom prst="roundRect">
            <a:avLst>
              <a:gd name="adj" fmla="val 17386"/>
            </a:avLst>
          </a:prstGeom>
          <a:solidFill>
            <a:srgbClr val="FFF5F5"/>
          </a:solidFill>
          <a:ln w="254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571500" y="2762250"/>
            <a:ext cx="5353050" cy="3676650"/>
          </a:xfrm>
          <a:prstGeom prst="rect">
            <a:avLst/>
          </a:prstGeom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2762250"/>
            <a:ext cx="5353050" cy="3676650"/>
          </a:xfrm>
          <a:prstGeom prst="rect">
            <a:avLst/>
          </a:prstGeom>
        </p:spPr>
      </p:pic>
      <p:pic>
        <p:nvPicPr>
          <p:cNvPr id="8" name="Image 2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580390" y="2809875"/>
            <a:ext cx="5315585" cy="5715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57375" y="2971800"/>
            <a:ext cx="762000" cy="247650"/>
          </a:xfrm>
          <a:prstGeom prst="roundRect">
            <a:avLst>
              <a:gd name="adj" fmla="val 369004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476750" y="3505200"/>
            <a:ext cx="1143000" cy="419100"/>
          </a:xfrm>
          <a:prstGeom prst="roundRect">
            <a:avLst>
              <a:gd name="adj" fmla="val 59547"/>
            </a:avLst>
          </a:prstGeom>
          <a:solidFill>
            <a:srgbClr val="D9404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857885" y="4191000"/>
            <a:ext cx="4762500" cy="889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57885" y="44577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857885" y="49530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857885" y="54483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885" y="59436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6295390" y="2809875"/>
            <a:ext cx="5315585" cy="5715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715885" y="2971800"/>
            <a:ext cx="762000" cy="247650"/>
          </a:xfrm>
          <a:prstGeom prst="roundRect">
            <a:avLst>
              <a:gd name="adj" fmla="val 369004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10191750" y="3505200"/>
            <a:ext cx="1143000" cy="419100"/>
          </a:xfrm>
          <a:prstGeom prst="roundRect">
            <a:avLst>
              <a:gd name="adj" fmla="val 59547"/>
            </a:avLst>
          </a:prstGeom>
          <a:solidFill>
            <a:srgbClr val="D9404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6572885" y="4191000"/>
            <a:ext cx="4762500" cy="889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572885" y="44577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6572885" y="49530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6572885" y="54483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6572885" y="59436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주의 행정동 분석</a:t>
            </a:r>
            <a:endParaRPr lang="en-US" sz="3000" dirty="0"/>
          </a:p>
        </p:txBody>
      </p:sp>
      <p:pic>
        <p:nvPicPr>
          <p:cNvPr id="27" name="Image 6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510" y="1886585"/>
            <a:ext cx="304800" cy="3048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29385" y="1790700"/>
            <a:ext cx="49530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하락 주의 행정동: 총 29개</a:t>
            </a:r>
            <a:endParaRPr lang="en-US" sz="1600" dirty="0"/>
          </a:p>
        </p:txBody>
      </p:sp>
      <p:sp>
        <p:nvSpPr>
          <p:cNvPr id="29" name="Text 20"/>
          <p:cNvSpPr txBox="1">
            <a:spLocks/>
          </p:cNvSpPr>
          <p:nvPr/>
        </p:nvSpPr>
        <p:spPr>
          <a:xfrm>
            <a:off x="1229688" y="2115185"/>
            <a:ext cx="10037401" cy="30480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클러스터별</a:t>
            </a:r>
            <a:r>
              <a:rPr lang="en-US" sz="12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분포</a:t>
            </a:r>
            <a:r>
              <a:rPr lang="en-US" sz="1200" b="1" dirty="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: </a:t>
            </a:r>
            <a:r>
              <a:rPr lang="en-US" sz="1200" b="1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상업 및 업무 상권</a:t>
            </a:r>
            <a:r>
              <a:rPr lang="en-US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(Cluster0) 6개</a:t>
            </a:r>
            <a:r>
              <a:rPr lang="ko-KR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/ 유동집중 주거 배후지상권</a:t>
            </a:r>
            <a:r>
              <a:rPr lang="en-US" sz="1200" b="1" dirty="0">
                <a:solidFill>
                  <a:srgbClr val="DDDDDD"/>
                </a:solidFill>
                <a:latin typeface="Noto Sans KR" charset="0"/>
                <a:ea typeface="Noto Sans KR" charset="0"/>
                <a:cs typeface="Noto Sans KR" charset="0"/>
              </a:rPr>
              <a:t>|</a:t>
            </a:r>
            <a:r>
              <a:rPr lang="en-US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(Cluster1) </a:t>
            </a:r>
            <a:r>
              <a:rPr lang="ko-KR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4개 / 주거 생활 밀착 상권</a:t>
            </a:r>
            <a:r>
              <a:rPr lang="en-US" sz="1200" b="1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(Cluster2) 19개</a:t>
            </a:r>
            <a:endParaRPr lang="ko-KR" altLang="en-US" sz="1200" b="1" dirty="0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857885" y="2915285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청구동</a:t>
            </a:r>
            <a:endParaRPr lang="en-US" sz="2100" dirty="0"/>
          </a:p>
        </p:txBody>
      </p:sp>
      <p:sp>
        <p:nvSpPr>
          <p:cNvPr id="31" name="Text 22"/>
          <p:cNvSpPr txBox="1">
            <a:spLocks/>
          </p:cNvSpPr>
          <p:nvPr/>
        </p:nvSpPr>
        <p:spPr>
          <a:xfrm>
            <a:off x="1819910" y="3000375"/>
            <a:ext cx="838835" cy="19177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주거 생활 밀착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857885" y="3571875"/>
            <a:ext cx="34480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</a:t>
            </a: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231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</a:t>
            </a:r>
            <a:r>
              <a:rPr lang="en-US" sz="13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</a:t>
            </a: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342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</a:t>
            </a:r>
            <a:r>
              <a:rPr lang="en-US" sz="10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 기준)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438650" y="3581400"/>
            <a:ext cx="12198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111</a:t>
            </a:r>
            <a:endParaRPr lang="en-US" sz="1600" dirty="0"/>
          </a:p>
        </p:txBody>
      </p:sp>
      <p:pic>
        <p:nvPicPr>
          <p:cNvPr id="34" name="Image 7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933450" y="4580890"/>
            <a:ext cx="172085" cy="152400"/>
          </a:xfrm>
          <a:prstGeom prst="rect">
            <a:avLst/>
          </a:prstGeom>
        </p:spPr>
      </p:pic>
      <p:sp>
        <p:nvSpPr>
          <p:cNvPr id="35" name="Text 25"/>
          <p:cNvSpPr txBox="1">
            <a:spLocks/>
          </p:cNvSpPr>
          <p:nvPr/>
        </p:nvSpPr>
        <p:spPr>
          <a:xfrm>
            <a:off x="1285875" y="4495800"/>
            <a:ext cx="4782820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h=1(320) → h=2(334) → h=3(348) → h=4(342)</a:t>
            </a:r>
            <a:r>
              <a:rPr lang="en-US" sz="1200" b="1" dirty="0" err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지속</a:t>
            </a:r>
            <a:r>
              <a:rPr lang="en-US" sz="1200" b="1" dirty="0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200" b="1" dirty="0" err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하락</a:t>
            </a:r>
            <a:endParaRPr lang="ko-KR" altLang="en-US" sz="1200" b="1" dirty="0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6" name="Image 8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3450" y="5076825"/>
            <a:ext cx="152400" cy="1524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285875" y="4991100"/>
            <a:ext cx="4401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Y점수 </a:t>
            </a: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악화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(-0.073 → h=4 -0.487)</a:t>
            </a:r>
            <a:endParaRPr lang="en-US" sz="1200" dirty="0"/>
          </a:p>
        </p:txBody>
      </p:sp>
      <p:pic>
        <p:nvPicPr>
          <p:cNvPr id="38" name="Image 9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933450" y="5572125"/>
            <a:ext cx="190500" cy="1524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285875" y="5486400"/>
            <a:ext cx="4477385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클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러스터 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평균 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대비 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전 지표(매출, 개업률 등) </a:t>
            </a:r>
            <a:r>
              <a:rPr lang="en-US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크게 하회</a:t>
            </a:r>
            <a:endParaRPr lang="ko-KR" altLang="en-US" sz="1200" b="1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40" name="Image 10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933450" y="6066790"/>
            <a:ext cx="190500" cy="1524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285875" y="598170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상권 약화 신호 뚜렷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6572885" y="2915285"/>
            <a:ext cx="12344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화곡2동</a:t>
            </a:r>
            <a:endParaRPr lang="en-US" sz="2100" dirty="0"/>
          </a:p>
        </p:txBody>
      </p:sp>
      <p:sp>
        <p:nvSpPr>
          <p:cNvPr id="43" name="Text 30"/>
          <p:cNvSpPr txBox="1"/>
          <p:nvPr/>
        </p:nvSpPr>
        <p:spPr>
          <a:xfrm>
            <a:off x="7677150" y="3000375"/>
            <a:ext cx="838835" cy="19177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주거 생활 밀착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Text 31"/>
          <p:cNvSpPr txBox="1"/>
          <p:nvPr/>
        </p:nvSpPr>
        <p:spPr>
          <a:xfrm>
            <a:off x="6572885" y="3571875"/>
            <a:ext cx="34480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</a:t>
            </a: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215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</a:t>
            </a:r>
            <a:r>
              <a:rPr lang="en-US" sz="13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</a:t>
            </a: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269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</a:t>
            </a:r>
            <a:r>
              <a:rPr lang="en-US" sz="10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 기준)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10153650" y="3581400"/>
            <a:ext cx="12198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54</a:t>
            </a:r>
            <a:endParaRPr lang="en-US" sz="1600" dirty="0"/>
          </a:p>
        </p:txBody>
      </p:sp>
      <p:pic>
        <p:nvPicPr>
          <p:cNvPr id="46" name="Image 11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648450" y="4580890"/>
            <a:ext cx="172085" cy="1524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000875" y="4495800"/>
            <a:ext cx="5448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h=1(229) → h=2(257) → h=3(271) → h=4(269)</a:t>
            </a: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완만하지만 지속 하락</a:t>
            </a:r>
            <a:endParaRPr lang="en-US" sz="1200" dirty="0"/>
          </a:p>
        </p:txBody>
      </p:sp>
      <p:pic>
        <p:nvPicPr>
          <p:cNvPr id="48" name="Image 12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48450" y="5076825"/>
            <a:ext cx="152400" cy="15240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000875" y="4991100"/>
            <a:ext cx="4877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Y점수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</a:t>
            </a: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악화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(-0.002 → h=4 -0.211)</a:t>
            </a:r>
            <a:endParaRPr lang="en-US" sz="1200" dirty="0"/>
          </a:p>
        </p:txBody>
      </p:sp>
      <p:pic>
        <p:nvPicPr>
          <p:cNvPr id="50" name="Image 13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648450" y="5572125"/>
            <a:ext cx="190500" cy="15240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000875" y="5486400"/>
            <a:ext cx="4953635" cy="22923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유동인구는 늘었지만 </a:t>
            </a:r>
            <a:r>
              <a:rPr lang="ko-KR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매출 성장</a:t>
            </a: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이 없고</a:t>
            </a:r>
            <a:r>
              <a:rPr lang="ko-KR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 등록인구 꾸준히 감소 중</a:t>
            </a:r>
            <a:r>
              <a:t> </a:t>
            </a:r>
            <a:endParaRPr lang="ko-KR" altLang="en-US" sz="1200" b="1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52" name="Image 14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6648450" y="6066790"/>
            <a:ext cx="133350" cy="1524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7000875" y="59817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선제적 주의 및 리스크 관리 필요</a:t>
            </a:r>
            <a:endParaRPr lang="en-US" sz="1200" dirty="0"/>
          </a:p>
        </p:txBody>
      </p:sp>
      <p:sp>
        <p:nvSpPr>
          <p:cNvPr id="55" name="텍스트 상자 86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6" name="도형 87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7" name="텍스트 상자 88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5CE84A-2340-ACC9-A4CB-47DF48997579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24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상자 142"/>
          <p:cNvSpPr txBox="1">
            <a:spLocks/>
          </p:cNvSpPr>
          <p:nvPr/>
        </p:nvSpPr>
        <p:spPr>
          <a:xfrm>
            <a:off x="571500" y="952500"/>
            <a:ext cx="7925435" cy="457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시연 영상</a:t>
            </a:r>
            <a:r>
              <a:rPr lang="en-US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: 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6" name="텍스트 상자 231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7" name="도형 232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8" name="텍스트 상자 233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9" name="도형 234"/>
          <p:cNvSpPr>
            <a:spLocks/>
          </p:cNvSpPr>
          <p:nvPr/>
        </p:nvSpPr>
        <p:spPr>
          <a:xfrm>
            <a:off x="688340" y="1714500"/>
            <a:ext cx="11033760" cy="78740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5A11C-EBB7-8DDA-CFC4-91BB39E4880C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25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1619250"/>
            <a:ext cx="5257800" cy="4686300"/>
          </a:xfrm>
          <a:prstGeom prst="roundRect">
            <a:avLst>
              <a:gd name="adj" fmla="val 952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81750" y="1619250"/>
            <a:ext cx="5257800" cy="4686300"/>
          </a:xfrm>
          <a:prstGeom prst="roundRect">
            <a:avLst>
              <a:gd name="adj" fmla="val 952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580390" y="1628775"/>
            <a:ext cx="5219700" cy="619125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391910" y="1628775"/>
            <a:ext cx="5219700" cy="619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8990" y="24765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08990" y="24765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08990" y="367665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08990" y="367665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08990" y="48768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08990" y="48768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620510" y="24765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620510" y="24765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620510" y="367665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620510" y="367665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620510" y="48768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620510" y="48768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1000125" y="27432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1000125" y="3943985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00125" y="51435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810375" y="27432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810375" y="3943985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6810375" y="51435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액션 도출</a:t>
            </a:r>
            <a:endParaRPr lang="en-US" sz="3000" dirty="0"/>
          </a:p>
        </p:txBody>
      </p:sp>
      <p:pic>
        <p:nvPicPr>
          <p:cNvPr id="30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2650" y="3819525"/>
            <a:ext cx="266700" cy="266700"/>
          </a:xfrm>
          <a:prstGeom prst="rect">
            <a:avLst/>
          </a:prstGeom>
        </p:spPr>
      </p:pic>
      <p:pic>
        <p:nvPicPr>
          <p:cNvPr id="31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885" y="180975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90625" y="1790700"/>
            <a:ext cx="30486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 요약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62025" y="28575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666875" y="2695575"/>
            <a:ext cx="3791585" cy="5822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alt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해당 모델에서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상권</a:t>
            </a:r>
            <a:r>
              <a:rPr 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활력</a:t>
            </a:r>
            <a:r>
              <a:rPr 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예측은</a:t>
            </a:r>
            <a:r>
              <a:rPr 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단기</a:t>
            </a:r>
            <a:r>
              <a:rPr 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등락보다</a:t>
            </a:r>
            <a:endParaRPr lang="ko-KR" altLang="en-US" sz="13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구조적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지표</a:t>
            </a:r>
            <a:r>
              <a:rPr lang="en-US" sz="1300" b="1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에 </a:t>
            </a:r>
            <a:r>
              <a:rPr lang="en-US" sz="1300" b="1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좌우됨</a:t>
            </a:r>
            <a:endParaRPr lang="ko-KR" altLang="en-US" sz="1300" b="1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962025" y="4058285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1666875" y="3895090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기반 h=1~4 예측에서</a:t>
            </a:r>
            <a:endParaRPr lang="en-US" sz="13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Spearman ≈ 0.95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높은 일관성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962025" y="52578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666875" y="5095875"/>
            <a:ext cx="3790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숨겨진 </a:t>
            </a:r>
            <a:r>
              <a:rPr lang="en-US" sz="15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</a:t>
            </a: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발굴 및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</a:t>
            </a: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주의 </a:t>
            </a:r>
            <a:r>
              <a:rPr lang="en-US" sz="1500" b="1" dirty="0" err="1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</a:t>
            </a: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경보</a:t>
            </a:r>
            <a:endParaRPr lang="en-US" sz="1300" dirty="0"/>
          </a:p>
        </p:txBody>
      </p:sp>
      <p:pic>
        <p:nvPicPr>
          <p:cNvPr id="39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7500" y="1809750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00875" y="1790700"/>
            <a:ext cx="30486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방안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6772275" y="28575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7477125" y="2695575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발굴된 유망 상권 리스트를</a:t>
            </a:r>
            <a:endParaRPr lang="en-US" sz="13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점포 입지 선별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우선 검토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6772275" y="4058285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7477125" y="3895090"/>
            <a:ext cx="3791585" cy="582295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유망 및 하락 상권 분류를 통한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마케팅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및 영업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예산 차등 배분</a:t>
            </a: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및 집중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6772275" y="52578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477125" y="5095875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분기별 </a:t>
            </a: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모니터링</a:t>
            </a: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추적 및 즉각적 액션 트리거</a:t>
            </a:r>
            <a:endParaRPr lang="en-US" sz="1300" dirty="0"/>
          </a:p>
        </p:txBody>
      </p:sp>
      <p:sp>
        <p:nvSpPr>
          <p:cNvPr id="48" name="텍스트 상자 89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도형 90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0" name="텍스트 상자 91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4981D-02CA-7022-A22F-8FAD165D63E0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26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952500" y="1809750"/>
            <a:ext cx="10306050" cy="36861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5715000"/>
            <a:ext cx="10306050" cy="629285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962025" y="1866900"/>
            <a:ext cx="10267950" cy="1143000"/>
          </a:xfrm>
          <a:prstGeom prst="rect">
            <a:avLst/>
          </a:prstGeom>
        </p:spPr>
      </p:pic>
      <p:pic>
        <p:nvPicPr>
          <p:cNvPr id="8" name="Image 2"/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2476500" y="5924550"/>
            <a:ext cx="19050" cy="17208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429385" y="2152650"/>
            <a:ext cx="571500" cy="5715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429385" y="3009900"/>
            <a:ext cx="9334500" cy="889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429385" y="3390900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1429385" y="4058285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429385" y="4724400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한계점 및 향후 과제</a:t>
            </a:r>
            <a:endParaRPr lang="en-US" sz="3000" dirty="0"/>
          </a:p>
        </p:txBody>
      </p:sp>
      <p:pic>
        <p:nvPicPr>
          <p:cNvPr id="17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71625" y="2294890"/>
            <a:ext cx="286385" cy="286385"/>
          </a:xfrm>
          <a:prstGeom prst="rect">
            <a:avLst/>
          </a:prstGeom>
        </p:spPr>
      </p:pic>
      <p:sp>
        <p:nvSpPr>
          <p:cNvPr id="18" name="Text 11"/>
          <p:cNvSpPr txBox="1">
            <a:spLocks/>
          </p:cNvSpPr>
          <p:nvPr/>
        </p:nvSpPr>
        <p:spPr>
          <a:xfrm>
            <a:off x="2238375" y="2238375"/>
            <a:ext cx="8987155" cy="4394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외국인</a:t>
            </a:r>
            <a:r>
              <a:rPr lang="en-US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카드소비</a:t>
            </a:r>
            <a:r>
              <a:rPr lang="en-US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데이터</a:t>
            </a:r>
            <a:r>
              <a:rPr lang="en-US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미반영</a:t>
            </a:r>
            <a:r>
              <a:rPr lang="ko-KR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/ 외</a:t>
            </a:r>
            <a:r>
              <a:rPr lang="ko-KR" altLang="en-US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생</a:t>
            </a:r>
            <a:r>
              <a:rPr lang="ko-KR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변수 </a:t>
            </a:r>
            <a:r>
              <a:rPr lang="ko-KR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미반영</a:t>
            </a:r>
            <a:r>
              <a:rPr lang="ko-KR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/ </a:t>
            </a:r>
            <a:r>
              <a:rPr lang="ko-KR" sz="1800" b="1" spc="-30" dirty="0" err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Z-score</a:t>
            </a:r>
            <a:r>
              <a:rPr lang="ko-KR" sz="1800" b="1" spc="-30" dirty="0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기반 점수 구성</a:t>
            </a:r>
            <a:endParaRPr lang="ko-KR" altLang="en-US" sz="1800" b="1" dirty="0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504950" y="3514725"/>
            <a:ext cx="133350" cy="152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905000" y="3409950"/>
            <a:ext cx="8764270" cy="28702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한계점1.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현재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구축된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상권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활력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예측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모델은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내국인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소비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데이터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를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중심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으로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학습됨</a:t>
            </a:r>
            <a:r>
              <a:rPr lang="ko-KR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endParaRPr lang="ko-KR" altLang="en-US" sz="1500" dirty="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1" name="Image 6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04950" y="4181475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 txBox="1">
            <a:spLocks/>
          </p:cNvSpPr>
          <p:nvPr/>
        </p:nvSpPr>
        <p:spPr>
          <a:xfrm>
            <a:off x="1905000" y="4076700"/>
            <a:ext cx="9427210" cy="2870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dirty="0" err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</a:t>
            </a:r>
            <a:r>
              <a:rPr lang="en-US" sz="1500" dirty="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 2.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코로나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·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정책변화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·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금리인상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등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외생변수</a:t>
            </a:r>
            <a:r>
              <a:rPr lang="en-US" sz="1500" b="1" dirty="0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en-US" sz="1500" b="1" dirty="0" err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미반영</a:t>
            </a:r>
            <a:r>
              <a:rPr lang="ko-KR" sz="1500" b="0" dirty="0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으로 외부 충격 발생 시 예측 신뢰도 저하 가능</a:t>
            </a:r>
            <a:endParaRPr lang="ko-KR" altLang="en-US" sz="1500" b="0" dirty="0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3" name="Image 7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1504950" y="4837834"/>
            <a:ext cx="172085" cy="1524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905000" y="4744085"/>
            <a:ext cx="8764270" cy="287020"/>
          </a:xfrm>
          <a:prstGeom prst="rect">
            <a:avLst/>
          </a:prstGeom>
          <a:noFill/>
          <a:ln/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 3. Z-score 기반 </a:t>
            </a: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점수 산출로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매출, 인구, 점포 수 등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절대적 성장 예측 불가</a:t>
            </a:r>
            <a:endParaRPr lang="ko-KR" altLang="en-US" sz="15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5" name="Image 8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1238250" y="5905500"/>
            <a:ext cx="172085" cy="2286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524000" y="5895975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과제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2667000" y="5895975"/>
            <a:ext cx="8975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외국인 결제 데이터 통합 · 외생변수 모델링 · 절대적 매출 예측 모델 개발을 통한 </a:t>
            </a:r>
            <a:r>
              <a:rPr lang="en-US" sz="13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정확도 및 활용성 고도화 필요</a:t>
            </a:r>
            <a:endParaRPr lang="en-US" sz="1300" dirty="0"/>
          </a:p>
        </p:txBody>
      </p:sp>
      <p:sp>
        <p:nvSpPr>
          <p:cNvPr id="29" name="텍스트 상자 92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도형 93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1" name="텍스트 상자 94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82167-0D87-E773-65EB-997A349FF025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27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C:/Users/Kim dong gwan/AppData/Roaming/PolarisOffice/ETemp/17048_16254952/image-23-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" r="-4"/>
          <a:stretch>
            <a:fillRect/>
          </a:stretch>
        </p:blipFill>
        <p:spPr>
          <a:xfrm>
            <a:off x="952500" y="1809750"/>
            <a:ext cx="10306685" cy="4757305"/>
          </a:xfrm>
          <a:prstGeom prst="rect">
            <a:avLst/>
          </a:prstGeom>
          <a:noFill/>
        </p:spPr>
      </p:pic>
      <p:sp>
        <p:nvSpPr>
          <p:cNvPr id="16" name="Rect 0"/>
          <p:cNvSpPr txBox="1">
            <a:spLocks/>
          </p:cNvSpPr>
          <p:nvPr/>
        </p:nvSpPr>
        <p:spPr>
          <a:xfrm>
            <a:off x="571500" y="952500"/>
            <a:ext cx="7925435" cy="4578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참고 문헌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>
            <a:off x="1276350" y="504825"/>
            <a:ext cx="2058035" cy="229235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결과 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>
            <a:off x="723900" y="513715"/>
            <a:ext cx="495935" cy="172720"/>
          </a:xfrm>
          <a:prstGeom prst="rect">
            <a:avLst/>
          </a:prstGeom>
          <a:noFill/>
          <a:ln cap="flat" cmpd="sng"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6B675-4DD6-82DE-B460-0F2EEAA8C7D4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28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C3B15-17A3-CD8F-8384-E621A2D55E06}"/>
              </a:ext>
            </a:extLst>
          </p:cNvPr>
          <p:cNvSpPr txBox="1"/>
          <p:nvPr/>
        </p:nvSpPr>
        <p:spPr>
          <a:xfrm>
            <a:off x="1181735" y="2182091"/>
            <a:ext cx="97183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Bontempi, G., Ben </a:t>
            </a:r>
            <a:r>
              <a:rPr lang="en-US" altLang="ko-KR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Taieb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S., &amp; Le Borgne, Y. A. (2012). Machine learning strategies for time series forecasting. In </a:t>
            </a:r>
            <a:r>
              <a:rPr lang="en-US" altLang="ko-KR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European big data management and analytics summer school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 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(pp. 62-77). Berlin, Heidelberg: Springer Berlin Heidelberg.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Lundberg, S. M., &amp; Lee, S. I. (2017). A unified approach to interpreting model predictions. Advances in neural information processing systems, 30.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en-US" altLang="ko-KR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Reckien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D., &amp; Martinez-Fernandez, C. (2011). Why do cities shrink?. </a:t>
            </a:r>
            <a:r>
              <a:rPr lang="en-US" altLang="ko-KR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European planning studies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 </a:t>
            </a:r>
            <a:r>
              <a:rPr lang="en-US" altLang="ko-KR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19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(8), 1375-1397.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강민경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(2022). </a:t>
            </a:r>
            <a:r>
              <a:rPr lang="ko-KR" altLang="en-US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서울시 상권변화 유형도출 및 예측모델을 활용한 변화예측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 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(Doctoral dissertation,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한양대학교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김기찬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정민주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&amp;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김현우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(2025).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상권 활력 및 업종 다양성 지수를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활용한서울시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골목상권의 특성 및 동태적 변화 분석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 </a:t>
            </a:r>
            <a:r>
              <a:rPr lang="ko-KR" altLang="en-US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국토연구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 </a:t>
            </a:r>
            <a:r>
              <a:rPr lang="en-US" altLang="ko-KR" sz="1400" i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125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19-39.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서울시 상권분석 서비스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hlinkClick r:id="rId4"/>
              </a:rPr>
              <a:t>https://golmok.seoul.go.kr/main.do</a:t>
            </a:r>
            <a:endParaRPr lang="ko-KR" altLang="en-US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이영주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임은선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(2025).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국토 모니터링 활용 확대를 위한 국토변화모니터링 지수 개발 연구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국토연구원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정은애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(2019).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상권주기에 따른 소상공인 및 자영업 정책방향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KOSBI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중소기업포커스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19-07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호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서울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중소기업연구원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429385" y="-1429385"/>
            <a:ext cx="3810000" cy="3810000"/>
          </a:xfrm>
          <a:prstGeom prst="ellipse">
            <a:avLst/>
          </a:prstGeom>
          <a:solidFill>
            <a:srgbClr val="F4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0" y="4286885"/>
            <a:ext cx="3810000" cy="3810000"/>
          </a:xfrm>
          <a:prstGeom prst="ellipse">
            <a:avLst/>
          </a:prstGeom>
          <a:solidFill>
            <a:srgbClr val="1A35B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619750" y="6143625"/>
            <a:ext cx="952500" cy="3810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 t="-16" b="-16"/>
          <a:stretch/>
        </p:blipFill>
        <p:spPr>
          <a:xfrm>
            <a:off x="5810250" y="1809750"/>
            <a:ext cx="714375" cy="571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-95250" y="2476500"/>
            <a:ext cx="12382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0" b="1" kern="0" spc="375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10500" dirty="0"/>
          </a:p>
        </p:txBody>
      </p:sp>
      <p:sp>
        <p:nvSpPr>
          <p:cNvPr id="11" name="Text 7"/>
          <p:cNvSpPr txBox="1"/>
          <p:nvPr/>
        </p:nvSpPr>
        <p:spPr>
          <a:xfrm>
            <a:off x="-152400" y="5524500"/>
            <a:ext cx="12496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2F1A3-EB06-7C09-B17B-029CC93B5752}"/>
              </a:ext>
            </a:extLst>
          </p:cNvPr>
          <p:cNvSpPr txBox="1"/>
          <p:nvPr/>
        </p:nvSpPr>
        <p:spPr>
          <a:xfrm>
            <a:off x="0" y="656705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29</a:t>
            </a:r>
            <a:endParaRPr lang="ko-KR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Pages>26</Pages>
  <Words>3921</Words>
  <Characters>0</Characters>
  <Application>Microsoft Office PowerPoint</Application>
  <DocSecurity>0</DocSecurity>
  <PresentationFormat>와이드스크린</PresentationFormat>
  <Lines>0</Lines>
  <Paragraphs>1116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Noto Sans KR</vt:lpstr>
      <vt:lpstr>Pretendard</vt:lpstr>
      <vt:lpstr>Pretendard SemiBold</vt:lpstr>
      <vt:lpstr>맑은 고딕</vt:lpstr>
      <vt:lpstr>Arial</vt:lpstr>
      <vt:lpstr>Calibri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동관 김</cp:lastModifiedBy>
  <cp:revision>30</cp:revision>
  <dcterms:modified xsi:type="dcterms:W3CDTF">2026-03-11T12:36:09Z</dcterms:modified>
  <cp:version>10.105.298.56155</cp:version>
</cp:coreProperties>
</file>