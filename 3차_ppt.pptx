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701" r:id="rId5"/>
    <p:sldMasterId id="2147483702" r:id="rId7"/>
    <p:sldMasterId id="2147483703" r:id="rId9"/>
  </p:sldMasterIdLst>
  <p:notesMasterIdLst>
    <p:notesMasterId r:id="rId11"/>
  </p:notesMasterIdLst>
  <p:sldIdLst>
    <p:sldId id="256" r:id="rId13"/>
    <p:sldId id="257" r:id="rId15"/>
    <p:sldId id="258" r:id="rId17"/>
    <p:sldId id="259" r:id="rId19"/>
    <p:sldId id="260" r:id="rId21"/>
    <p:sldId id="261" r:id="rId23"/>
    <p:sldId id="262" r:id="rId25"/>
    <p:sldId id="263" r:id="rId27"/>
    <p:sldId id="264" r:id="rId29"/>
    <p:sldId id="265" r:id="rId31"/>
    <p:sldId id="266" r:id="rId33"/>
    <p:sldId id="267" r:id="rId35"/>
    <p:sldId id="268" r:id="rId37"/>
    <p:sldId id="271" r:id="rId39"/>
    <p:sldId id="281" r:id="rId40"/>
    <p:sldId id="270" r:id="rId42"/>
    <p:sldId id="272" r:id="rId43"/>
    <p:sldId id="280" r:id="rId45"/>
    <p:sldId id="282" r:id="rId47"/>
    <p:sldId id="275" r:id="rId49"/>
    <p:sldId id="276" r:id="rId51"/>
    <p:sldId id="283" r:id="rId53"/>
    <p:sldId id="277" r:id="rId54"/>
    <p:sldId id="278" r:id="rId56"/>
    <p:sldId id="284" r:id="rId57"/>
    <p:sldId id="279" r:id="rId59"/>
  </p:sldIdLst>
  <p:notesMasterIdLst/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5" Type="http://schemas.openxmlformats.org/officeDocument/2006/relationships/slideMaster" Target="slideMasters/slideMaster1.xml"></Relationship><Relationship Id="rId6" Type="http://schemas.openxmlformats.org/officeDocument/2006/relationships/theme" Target="theme/theme1.xml"></Relationship><Relationship Id="rId7" Type="http://schemas.openxmlformats.org/officeDocument/2006/relationships/slideMaster" Target="slideMasters/slideMaster2.xml"></Relationship><Relationship Id="rId9" Type="http://schemas.openxmlformats.org/officeDocument/2006/relationships/slideMaster" Target="slideMasters/slideMaster3.xml"></Relationship><Relationship Id="rId11" Type="http://schemas.openxmlformats.org/officeDocument/2006/relationships/notesMaster" Target="notesMasters/notesMaster1.xml"></Relationship><Relationship Id="rId13" Type="http://schemas.openxmlformats.org/officeDocument/2006/relationships/slide" Target="slides/slide1.xml"></Relationship><Relationship Id="rId15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9" Type="http://schemas.openxmlformats.org/officeDocument/2006/relationships/slide" Target="slides/slide4.xml"></Relationship><Relationship Id="rId21" Type="http://schemas.openxmlformats.org/officeDocument/2006/relationships/slide" Target="slides/slide5.xml"></Relationship><Relationship Id="rId23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7" Type="http://schemas.openxmlformats.org/officeDocument/2006/relationships/slide" Target="slides/slide8.xml"></Relationship><Relationship Id="rId29" Type="http://schemas.openxmlformats.org/officeDocument/2006/relationships/slide" Target="slides/slide9.xml"></Relationship><Relationship Id="rId31" Type="http://schemas.openxmlformats.org/officeDocument/2006/relationships/slide" Target="slides/slide10.xml"></Relationship><Relationship Id="rId33" Type="http://schemas.openxmlformats.org/officeDocument/2006/relationships/slide" Target="slides/slide11.xml"></Relationship><Relationship Id="rId35" Type="http://schemas.openxmlformats.org/officeDocument/2006/relationships/slide" Target="slides/slide12.xml"></Relationship><Relationship Id="rId37" Type="http://schemas.openxmlformats.org/officeDocument/2006/relationships/slide" Target="slides/slide13.xml"></Relationship><Relationship Id="rId39" Type="http://schemas.openxmlformats.org/officeDocument/2006/relationships/slide" Target="slides/slide14.xml"></Relationship><Relationship Id="rId40" Type="http://schemas.openxmlformats.org/officeDocument/2006/relationships/slide" Target="slides/slide15.xml"></Relationship><Relationship Id="rId42" Type="http://schemas.openxmlformats.org/officeDocument/2006/relationships/slide" Target="slides/slide16.xml"></Relationship><Relationship Id="rId43" Type="http://schemas.openxmlformats.org/officeDocument/2006/relationships/slide" Target="slides/slide17.xml"></Relationship><Relationship Id="rId45" Type="http://schemas.openxmlformats.org/officeDocument/2006/relationships/slide" Target="slides/slide18.xml"></Relationship><Relationship Id="rId47" Type="http://schemas.openxmlformats.org/officeDocument/2006/relationships/slide" Target="slides/slide19.xml"></Relationship><Relationship Id="rId49" Type="http://schemas.openxmlformats.org/officeDocument/2006/relationships/slide" Target="slides/slide20.xml"></Relationship><Relationship Id="rId51" Type="http://schemas.openxmlformats.org/officeDocument/2006/relationships/slide" Target="slides/slide21.xml"></Relationship><Relationship Id="rId53" Type="http://schemas.openxmlformats.org/officeDocument/2006/relationships/slide" Target="slides/slide22.xml"></Relationship><Relationship Id="rId54" Type="http://schemas.openxmlformats.org/officeDocument/2006/relationships/slide" Target="slides/slide23.xml"></Relationship><Relationship Id="rId56" Type="http://schemas.openxmlformats.org/officeDocument/2006/relationships/slide" Target="slides/slide24.xml"></Relationship><Relationship Id="rId57" Type="http://schemas.openxmlformats.org/officeDocument/2006/relationships/slide" Target="slides/slide25.xml"></Relationship><Relationship Id="rId59" Type="http://schemas.openxmlformats.org/officeDocument/2006/relationships/slide" Target="slides/slide26.xml"></Relationship><Relationship Id="rId64" Type="http://schemas.openxmlformats.org/officeDocument/2006/relationships/viewProps" Target="viewProps.xml"></Relationship><Relationship Id="rId65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4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1.xml"></Relationship></Relationships>
</file>

<file path=ppt/notesSlides/_rels/notesSlide1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6.xml"></Relationship></Relationships>
</file>

<file path=ppt/notesSlides/_rels/notesSlide1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7.xml"></Relationship></Relationships>
</file>

<file path=ppt/notesSlides/_rels/notesSlide18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8.xml"></Relationship></Relationships>
</file>

<file path=ppt/notesSlides/_rels/notesSlide19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9.xml"></Relationship></Relationships>
</file>

<file path=ppt/notesSlides/_rels/notesSlide2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0.xml"></Relationship></Relationships>
</file>

<file path=ppt/notesSlides/_rels/notesSlide2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1.xml"></Relationship></Relationships>
</file>

<file path=ppt/notesSlides/_rels/notesSlide2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3.xml"></Relationship></Relationships>
</file>

<file path=ppt/notesSlides/_rels/notesSlide2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4.xml"></Relationship></Relationships>
</file>

<file path=ppt/notesSlides/_rels/notesSlide25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5.xml"></Relationship></Relationships>
</file>

<file path=ppt/notesSlides/_rels/notesSlide2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6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13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17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20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23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image" Target="../media/image-1-1.jpeg"></Relationship><Relationship Id="rId2" Type="http://schemas.openxmlformats.org/officeDocument/2006/relationships/image" Target="../media/image-1-2.png"></Relationship><Relationship Id="rId4" Type="http://schemas.openxmlformats.org/officeDocument/2006/relationships/notesSlide" Target="../notesSlides/notesSlide1.xml"></Relationship><Relationship Id="rId5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image" Target="../media/image-2-1.png"></Relationship><Relationship Id="rId2" Type="http://schemas.openxmlformats.org/officeDocument/2006/relationships/image" Target="../media/image-2-2.png"></Relationship><Relationship Id="rId3" Type="http://schemas.openxmlformats.org/officeDocument/2006/relationships/image" Target="../media/image-2-3.png"></Relationship><Relationship Id="rId4" Type="http://schemas.openxmlformats.org/officeDocument/2006/relationships/image" Target="../media/image-2-4.png"></Relationship><Relationship Id="rId5" Type="http://schemas.openxmlformats.org/officeDocument/2006/relationships/image" Target="../media/image-2-5.png"></Relationship><Relationship Id="rId6" Type="http://schemas.openxmlformats.org/officeDocument/2006/relationships/image" Target="../media/image-2-6.png"></Relationship><Relationship Id="rId8" Type="http://schemas.openxmlformats.org/officeDocument/2006/relationships/notesSlide" Target="../notesSlides/notesSlide2.xml"></Relationship><Relationship Id="rId9" Type="http://schemas.openxmlformats.org/officeDocument/2006/relationships/slideLayout" Target="../slideLayouts/slideLayout1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image" Target="../media/image-3-1.png"></Relationship><Relationship Id="rId2" Type="http://schemas.openxmlformats.org/officeDocument/2006/relationships/image" Target="../media/image-3-2.png"></Relationship><Relationship Id="rId3" Type="http://schemas.openxmlformats.org/officeDocument/2006/relationships/image" Target="../media/image-3-3.png"></Relationship><Relationship Id="rId5" Type="http://schemas.openxmlformats.org/officeDocument/2006/relationships/notesSlide" Target="../notesSlides/notesSlide3.xml"></Relationship><Relationship Id="rId6" Type="http://schemas.openxmlformats.org/officeDocument/2006/relationships/slideLayout" Target="../slideLayouts/slideLayout1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image" Target="../media/image-4-1.png"></Relationship><Relationship Id="rId2" Type="http://schemas.openxmlformats.org/officeDocument/2006/relationships/image" Target="../media/image-4-2.png"></Relationship><Relationship Id="rId3" Type="http://schemas.openxmlformats.org/officeDocument/2006/relationships/image" Target="../media/image-4-3.png"></Relationship><Relationship Id="rId4" Type="http://schemas.openxmlformats.org/officeDocument/2006/relationships/image" Target="../media/image-4-4.png"></Relationship><Relationship Id="rId5" Type="http://schemas.openxmlformats.org/officeDocument/2006/relationships/image" Target="../media/image-4-5.png"></Relationship><Relationship Id="rId6" Type="http://schemas.openxmlformats.org/officeDocument/2006/relationships/image" Target="../media/image-4-6.png"></Relationship><Relationship Id="rId7" Type="http://schemas.openxmlformats.org/officeDocument/2006/relationships/image" Target="../media/image-4-7.png"></Relationship><Relationship Id="rId8" Type="http://schemas.openxmlformats.org/officeDocument/2006/relationships/image" Target="../media/image-4-8.png"></Relationship><Relationship Id="rId9" Type="http://schemas.openxmlformats.org/officeDocument/2006/relationships/image" Target="../media/image-4-9.png"></Relationship><Relationship Id="rId10" Type="http://schemas.openxmlformats.org/officeDocument/2006/relationships/image" Target="../media/image-4-10.png"></Relationship><Relationship Id="rId12" Type="http://schemas.openxmlformats.org/officeDocument/2006/relationships/notesSlide" Target="../notesSlides/notesSlide4.xml"></Relationship><Relationship Id="rId13" Type="http://schemas.openxmlformats.org/officeDocument/2006/relationships/slideLayout" Target="../slideLayouts/slideLayout1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image" Target="../media/image-5-1.png"></Relationship><Relationship Id="rId2" Type="http://schemas.openxmlformats.org/officeDocument/2006/relationships/image" Target="../media/image-5-2.png"></Relationship><Relationship Id="rId3" Type="http://schemas.openxmlformats.org/officeDocument/2006/relationships/image" Target="../media/image-5-3.png"></Relationship><Relationship Id="rId4" Type="http://schemas.openxmlformats.org/officeDocument/2006/relationships/image" Target="../media/image-5-4.png"></Relationship><Relationship Id="rId5" Type="http://schemas.openxmlformats.org/officeDocument/2006/relationships/image" Target="../media/image-5-5.png"></Relationship><Relationship Id="rId6" Type="http://schemas.openxmlformats.org/officeDocument/2006/relationships/image" Target="../media/image-5-6.png"></Relationship><Relationship Id="rId7" Type="http://schemas.openxmlformats.org/officeDocument/2006/relationships/image" Target="../media/image-5-7.png"></Relationship><Relationship Id="rId8" Type="http://schemas.openxmlformats.org/officeDocument/2006/relationships/image" Target="../media/image-5-8.png"></Relationship><Relationship Id="rId9" Type="http://schemas.openxmlformats.org/officeDocument/2006/relationships/image" Target="../media/image-5-9.png"></Relationship><Relationship Id="rId10" Type="http://schemas.openxmlformats.org/officeDocument/2006/relationships/image" Target="../media/image-5-10.png"></Relationship><Relationship Id="rId11" Type="http://schemas.openxmlformats.org/officeDocument/2006/relationships/image" Target="../media/image-5-11.png"></Relationship><Relationship Id="rId12" Type="http://schemas.openxmlformats.org/officeDocument/2006/relationships/image" Target="../media/image-5-12.png"></Relationship><Relationship Id="rId13" Type="http://schemas.openxmlformats.org/officeDocument/2006/relationships/image" Target="../media/image-5-13.png"></Relationship><Relationship Id="rId14" Type="http://schemas.openxmlformats.org/officeDocument/2006/relationships/image" Target="../media/image-5-14.png"></Relationship><Relationship Id="rId15" Type="http://schemas.openxmlformats.org/officeDocument/2006/relationships/image" Target="../media/image-5-15.png"></Relationship><Relationship Id="rId16" Type="http://schemas.openxmlformats.org/officeDocument/2006/relationships/image" Target="../media/image-5-16.png"></Relationship><Relationship Id="rId17" Type="http://schemas.openxmlformats.org/officeDocument/2006/relationships/image" Target="../media/image-5-17.png"></Relationship><Relationship Id="rId18" Type="http://schemas.openxmlformats.org/officeDocument/2006/relationships/image" Target="../media/image-5-18.png"></Relationship><Relationship Id="rId20" Type="http://schemas.openxmlformats.org/officeDocument/2006/relationships/notesSlide" Target="../notesSlides/notesSlide5.xml"></Relationship><Relationship Id="rId21" Type="http://schemas.openxmlformats.org/officeDocument/2006/relationships/slideLayout" Target="../slideLayouts/slideLayout1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image" Target="../media/image-6-1.png"></Relationship><Relationship Id="rId2" Type="http://schemas.openxmlformats.org/officeDocument/2006/relationships/image" Target="../media/image-6-2.png"></Relationship><Relationship Id="rId3" Type="http://schemas.openxmlformats.org/officeDocument/2006/relationships/image" Target="../media/image-6-3.png"></Relationship><Relationship Id="rId4" Type="http://schemas.openxmlformats.org/officeDocument/2006/relationships/image" Target="../media/image-6-4.png"></Relationship><Relationship Id="rId5" Type="http://schemas.openxmlformats.org/officeDocument/2006/relationships/image" Target="../media/image-6-5.png"></Relationship><Relationship Id="rId6" Type="http://schemas.openxmlformats.org/officeDocument/2006/relationships/image" Target="../media/image-6-6.png"></Relationship><Relationship Id="rId7" Type="http://schemas.openxmlformats.org/officeDocument/2006/relationships/image" Target="../media/image-6-7.png"></Relationship><Relationship Id="rId8" Type="http://schemas.openxmlformats.org/officeDocument/2006/relationships/image" Target="../media/image-6-8.png"></Relationship><Relationship Id="rId9" Type="http://schemas.openxmlformats.org/officeDocument/2006/relationships/image" Target="../media/image-6-9.png"></Relationship><Relationship Id="rId10" Type="http://schemas.openxmlformats.org/officeDocument/2006/relationships/image" Target="../media/image-6-10.png"></Relationship><Relationship Id="rId11" Type="http://schemas.openxmlformats.org/officeDocument/2006/relationships/image" Target="../media/image-6-11.png"></Relationship><Relationship Id="rId13" Type="http://schemas.openxmlformats.org/officeDocument/2006/relationships/notesSlide" Target="../notesSlides/notesSlide6.xml"></Relationship><Relationship Id="rId14" Type="http://schemas.openxmlformats.org/officeDocument/2006/relationships/slideLayout" Target="../slideLayouts/slideLayout1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image" Target="../media/image-7-1.png"></Relationship><Relationship Id="rId2" Type="http://schemas.openxmlformats.org/officeDocument/2006/relationships/image" Target="../media/image-7-2.png"></Relationship><Relationship Id="rId3" Type="http://schemas.openxmlformats.org/officeDocument/2006/relationships/image" Target="../media/image-7-3.png"></Relationship><Relationship Id="rId4" Type="http://schemas.openxmlformats.org/officeDocument/2006/relationships/image" Target="../media/image-7-4.png"></Relationship><Relationship Id="rId5" Type="http://schemas.openxmlformats.org/officeDocument/2006/relationships/image" Target="../media/image-7-5.png"></Relationship><Relationship Id="rId6" Type="http://schemas.openxmlformats.org/officeDocument/2006/relationships/image" Target="../media/image-7-6.png"></Relationship><Relationship Id="rId7" Type="http://schemas.openxmlformats.org/officeDocument/2006/relationships/image" Target="../media/image-7-7.png"></Relationship><Relationship Id="rId8" Type="http://schemas.openxmlformats.org/officeDocument/2006/relationships/image" Target="../media/image-7-8.png"></Relationship><Relationship Id="rId9" Type="http://schemas.openxmlformats.org/officeDocument/2006/relationships/image" Target="../media/image-7-9.png"></Relationship><Relationship Id="rId10" Type="http://schemas.openxmlformats.org/officeDocument/2006/relationships/image" Target="../media/image-7-10.png"></Relationship><Relationship Id="rId11" Type="http://schemas.openxmlformats.org/officeDocument/2006/relationships/image" Target="../media/image-7-11.png"></Relationship><Relationship Id="rId12" Type="http://schemas.openxmlformats.org/officeDocument/2006/relationships/image" Target="../media/image-7-12.png"></Relationship><Relationship Id="rId13" Type="http://schemas.openxmlformats.org/officeDocument/2006/relationships/image" Target="../media/image-7-13.png"></Relationship><Relationship Id="rId14" Type="http://schemas.openxmlformats.org/officeDocument/2006/relationships/image" Target="../media/image-7-14.png"></Relationship><Relationship Id="rId16" Type="http://schemas.openxmlformats.org/officeDocument/2006/relationships/notesSlide" Target="../notesSlides/notesSlide7.xml"></Relationship><Relationship Id="rId17" Type="http://schemas.openxmlformats.org/officeDocument/2006/relationships/slideLayout" Target="../slideLayouts/slideLayout1.xml"></Relationship></Relationships>
</file>

<file path=ppt/slides/_rels/slide8.xml.rels><?xml version="1.0" encoding="UTF-8"?>
<Relationships xmlns="http://schemas.openxmlformats.org/package/2006/relationships"><Relationship Id="rId4" Type="http://schemas.openxmlformats.org/officeDocument/2006/relationships/image" Target="../media/image-8-4.png"></Relationship><Relationship Id="rId5" Type="http://schemas.openxmlformats.org/officeDocument/2006/relationships/image" Target="../media/image-8-5.png"></Relationship><Relationship Id="rId6" Type="http://schemas.openxmlformats.org/officeDocument/2006/relationships/image" Target="../media/image-8-6.png"></Relationship><Relationship Id="rId7" Type="http://schemas.openxmlformats.org/officeDocument/2006/relationships/image" Target="../media/image-8-7.png"></Relationship><Relationship Id="rId11" Type="http://schemas.openxmlformats.org/officeDocument/2006/relationships/image" Target="../media/image-8-11.png"></Relationship><Relationship Id="rId12" Type="http://schemas.openxmlformats.org/officeDocument/2006/relationships/image" Target="../media/image-8-12.png"></Relationship><Relationship Id="rId13" Type="http://schemas.openxmlformats.org/officeDocument/2006/relationships/image" Target="../media/image-8-13.png"></Relationship><Relationship Id="rId15" Type="http://schemas.openxmlformats.org/officeDocument/2006/relationships/notesSlide" Target="../notesSlides/notesSlide8.xml"></Relationship><Relationship Id="rId16" Type="http://schemas.openxmlformats.org/officeDocument/2006/relationships/slideLayout" Target="../slideLayouts/slideLayout1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image" Target="../media/image-9-1.png"></Relationship><Relationship Id="rId2" Type="http://schemas.openxmlformats.org/officeDocument/2006/relationships/image" Target="../media/image-9-2.png"></Relationship><Relationship Id="rId3" Type="http://schemas.openxmlformats.org/officeDocument/2006/relationships/image" Target="../media/image-9-3.png"></Relationship><Relationship Id="rId4" Type="http://schemas.openxmlformats.org/officeDocument/2006/relationships/image" Target="../media/image-9-4.png"></Relationship><Relationship Id="rId5" Type="http://schemas.openxmlformats.org/officeDocument/2006/relationships/image" Target="../media/image-9-5.png"></Relationship><Relationship Id="rId6" Type="http://schemas.openxmlformats.org/officeDocument/2006/relationships/image" Target="../media/image-9-6.png"></Relationship><Relationship Id="rId7" Type="http://schemas.openxmlformats.org/officeDocument/2006/relationships/image" Target="../media/image-9-7.png"></Relationship><Relationship Id="rId8" Type="http://schemas.openxmlformats.org/officeDocument/2006/relationships/image" Target="../media/image-9-8.png"></Relationship><Relationship Id="rId9" Type="http://schemas.openxmlformats.org/officeDocument/2006/relationships/image" Target="../media/image-9-9.png"></Relationship><Relationship Id="rId10" Type="http://schemas.openxmlformats.org/officeDocument/2006/relationships/image" Target="../media/image-9-10.png"></Relationship><Relationship Id="rId11" Type="http://schemas.openxmlformats.org/officeDocument/2006/relationships/image" Target="../media/image-9-11.png"></Relationship><Relationship Id="rId12" Type="http://schemas.openxmlformats.org/officeDocument/2006/relationships/image" Target="../media/image-9-12.png"></Relationship><Relationship Id="rId14" Type="http://schemas.openxmlformats.org/officeDocument/2006/relationships/notesSlide" Target="../notesSlides/notesSlide9.xml"></Relationship><Relationship Id="rId15" Type="http://schemas.openxmlformats.org/officeDocument/2006/relationships/slideLayout" Target="../slideLayouts/slideLayout1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image" Target="../media/image-10-1.png"></Relationship><Relationship Id="rId2" Type="http://schemas.openxmlformats.org/officeDocument/2006/relationships/image" Target="../media/image-10-2.png"></Relationship><Relationship Id="rId3" Type="http://schemas.openxmlformats.org/officeDocument/2006/relationships/image" Target="../media/image-10-3.png"></Relationship><Relationship Id="rId4" Type="http://schemas.openxmlformats.org/officeDocument/2006/relationships/image" Target="../media/image-10-4.png"></Relationship><Relationship Id="rId5" Type="http://schemas.openxmlformats.org/officeDocument/2006/relationships/image" Target="../media/image-10-5.png"></Relationship><Relationship Id="rId6" Type="http://schemas.openxmlformats.org/officeDocument/2006/relationships/image" Target="../media/image-10-6.png"></Relationship><Relationship Id="rId7" Type="http://schemas.openxmlformats.org/officeDocument/2006/relationships/image" Target="../media/image-10-7.png"></Relationship><Relationship Id="rId8" Type="http://schemas.openxmlformats.org/officeDocument/2006/relationships/image" Target="../media/image-10-8.png"></Relationship><Relationship Id="rId9" Type="http://schemas.openxmlformats.org/officeDocument/2006/relationships/image" Target="../media/image-10-9.png"></Relationship><Relationship Id="rId10" Type="http://schemas.openxmlformats.org/officeDocument/2006/relationships/image" Target="../media/image-10-10.png"></Relationship><Relationship Id="rId11" Type="http://schemas.openxmlformats.org/officeDocument/2006/relationships/image" Target="../media/image-10-11.png"></Relationship><Relationship Id="rId12" Type="http://schemas.openxmlformats.org/officeDocument/2006/relationships/image" Target="../media/image-10-12.png"></Relationship><Relationship Id="rId13" Type="http://schemas.openxmlformats.org/officeDocument/2006/relationships/image" Target="../media/image-10-13.png"></Relationship><Relationship Id="rId14" Type="http://schemas.openxmlformats.org/officeDocument/2006/relationships/image" Target="../media/image-10-14.png"></Relationship><Relationship Id="rId15" Type="http://schemas.openxmlformats.org/officeDocument/2006/relationships/image" Target="../media/image-10-15.png"></Relationship><Relationship Id="rId16" Type="http://schemas.openxmlformats.org/officeDocument/2006/relationships/image" Target="../media/image-10-16.png"></Relationship><Relationship Id="rId17" Type="http://schemas.openxmlformats.org/officeDocument/2006/relationships/image" Target="../media/image-10-17.png"></Relationship><Relationship Id="rId18" Type="http://schemas.openxmlformats.org/officeDocument/2006/relationships/image" Target="../media/image-10-18.png"></Relationship><Relationship Id="rId19" Type="http://schemas.openxmlformats.org/officeDocument/2006/relationships/image" Target="../media/image-10-19.png"></Relationship><Relationship Id="rId20" Type="http://schemas.openxmlformats.org/officeDocument/2006/relationships/image" Target="../media/image-10-20.png"></Relationship><Relationship Id="rId21" Type="http://schemas.openxmlformats.org/officeDocument/2006/relationships/image" Target="../media/image-10-21.png"></Relationship><Relationship Id="rId22" Type="http://schemas.openxmlformats.org/officeDocument/2006/relationships/image" Target="../media/image-10-22.png"></Relationship><Relationship Id="rId23" Type="http://schemas.openxmlformats.org/officeDocument/2006/relationships/image" Target="../media/image-10-23.png"></Relationship><Relationship Id="rId25" Type="http://schemas.openxmlformats.org/officeDocument/2006/relationships/notesSlide" Target="../notesSlides/notesSlide10.xml"></Relationship><Relationship Id="rId26" Type="http://schemas.openxmlformats.org/officeDocument/2006/relationships/slideLayout" Target="../slideLayouts/slideLayout1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image" Target="../media/image-11-1.png"></Relationship><Relationship Id="rId2" Type="http://schemas.openxmlformats.org/officeDocument/2006/relationships/image" Target="../media/image-11-2.png"></Relationship><Relationship Id="rId3" Type="http://schemas.openxmlformats.org/officeDocument/2006/relationships/image" Target="../media/image-11-3.png"></Relationship><Relationship Id="rId4" Type="http://schemas.openxmlformats.org/officeDocument/2006/relationships/image" Target="../media/image-11-4.png"></Relationship><Relationship Id="rId6" Type="http://schemas.openxmlformats.org/officeDocument/2006/relationships/notesSlide" Target="../notesSlides/notesSlide11.xml"></Relationship><Relationship Id="rId7" Type="http://schemas.openxmlformats.org/officeDocument/2006/relationships/image" Target="../media/fImage5453157041.png"></Relationship><Relationship Id="rId8" Type="http://schemas.openxmlformats.org/officeDocument/2006/relationships/slideLayout" Target="../slideLayouts/slideLayout1.xm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image" Target="../media/image-12-1.png"></Relationship><Relationship Id="rId2" Type="http://schemas.openxmlformats.org/officeDocument/2006/relationships/image" Target="../media/image-12-2.png"></Relationship><Relationship Id="rId3" Type="http://schemas.openxmlformats.org/officeDocument/2006/relationships/image" Target="../media/image-12-3.png"></Relationship><Relationship Id="rId4" Type="http://schemas.openxmlformats.org/officeDocument/2006/relationships/image" Target="../media/image-12-4.png"></Relationship><Relationship Id="rId5" Type="http://schemas.openxmlformats.org/officeDocument/2006/relationships/image" Target="../media/image-12-5.png"></Relationship><Relationship Id="rId6" Type="http://schemas.openxmlformats.org/officeDocument/2006/relationships/image" Target="../media/image-12-6.png"></Relationship><Relationship Id="rId7" Type="http://schemas.openxmlformats.org/officeDocument/2006/relationships/image" Target="../media/image-12-7.png"></Relationship><Relationship Id="rId8" Type="http://schemas.openxmlformats.org/officeDocument/2006/relationships/image" Target="../media/image-12-8.png"></Relationship><Relationship Id="rId9" Type="http://schemas.openxmlformats.org/officeDocument/2006/relationships/image" Target="../media/image-12-9.png"></Relationship><Relationship Id="rId10" Type="http://schemas.openxmlformats.org/officeDocument/2006/relationships/image" Target="../media/image-12-10.png"></Relationship><Relationship Id="rId11" Type="http://schemas.openxmlformats.org/officeDocument/2006/relationships/image" Target="../media/image-12-11.png"></Relationship><Relationship Id="rId12" Type="http://schemas.openxmlformats.org/officeDocument/2006/relationships/image" Target="../media/image-12-12.png"></Relationship><Relationship Id="rId13" Type="http://schemas.openxmlformats.org/officeDocument/2006/relationships/image" Target="../media/image-12-13.png"></Relationship><Relationship Id="rId14" Type="http://schemas.openxmlformats.org/officeDocument/2006/relationships/image" Target="../media/image-12-14.png"></Relationship><Relationship Id="rId16" Type="http://schemas.openxmlformats.org/officeDocument/2006/relationships/notesSlide" Target="../notesSlides/notesSlide12.xml"></Relationship><Relationship Id="rId17" Type="http://schemas.openxmlformats.org/officeDocument/2006/relationships/slideLayout" Target="../slideLayouts/slideLayout1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image" Target="../media/image-13-1.png"></Relationship><Relationship Id="rId2" Type="http://schemas.openxmlformats.org/officeDocument/2006/relationships/image" Target="../media/image-13-2.png"></Relationship><Relationship Id="rId3" Type="http://schemas.openxmlformats.org/officeDocument/2006/relationships/image" Target="../media/image-13-3.png"></Relationship><Relationship Id="rId4" Type="http://schemas.openxmlformats.org/officeDocument/2006/relationships/image" Target="../media/image-13-4.png"></Relationship><Relationship Id="rId5" Type="http://schemas.openxmlformats.org/officeDocument/2006/relationships/image" Target="../media/image-13-5.png"></Relationship><Relationship Id="rId6" Type="http://schemas.openxmlformats.org/officeDocument/2006/relationships/image" Target="../media/image-13-6.png"></Relationship><Relationship Id="rId7" Type="http://schemas.openxmlformats.org/officeDocument/2006/relationships/image" Target="../media/image-13-7.png"></Relationship><Relationship Id="rId8" Type="http://schemas.openxmlformats.org/officeDocument/2006/relationships/image" Target="../media/image-13-8.png"></Relationship><Relationship Id="rId9" Type="http://schemas.openxmlformats.org/officeDocument/2006/relationships/image" Target="../media/image-13-9.png"></Relationship><Relationship Id="rId10" Type="http://schemas.openxmlformats.org/officeDocument/2006/relationships/image" Target="../media/image-13-10.png"></Relationship><Relationship Id="rId11" Type="http://schemas.openxmlformats.org/officeDocument/2006/relationships/image" Target="../media/image-13-11.png"></Relationship><Relationship Id="rId13" Type="http://schemas.openxmlformats.org/officeDocument/2006/relationships/notesSlide" Target="../notesSlides/notesSlide13.xml"></Relationship><Relationship Id="rId14" Type="http://schemas.openxmlformats.org/officeDocument/2006/relationships/slideLayout" Target="../slideLayouts/slideLayout1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image" Target="../media/image-16-1.png"></Relationship><Relationship Id="rId2" Type="http://schemas.openxmlformats.org/officeDocument/2006/relationships/image" Target="../media/image-16-2.png"></Relationship><Relationship Id="rId3" Type="http://schemas.openxmlformats.org/officeDocument/2006/relationships/image" Target="../media/image-16-3.png"></Relationship><Relationship Id="rId4" Type="http://schemas.openxmlformats.org/officeDocument/2006/relationships/image" Target="../media/image-16-4.png"></Relationship><Relationship Id="rId5" Type="http://schemas.openxmlformats.org/officeDocument/2006/relationships/image" Target="../media/image-16-5.png"></Relationship><Relationship Id="rId6" Type="http://schemas.openxmlformats.org/officeDocument/2006/relationships/image" Target="../media/image-16-6.png"></Relationship><Relationship Id="rId7" Type="http://schemas.openxmlformats.org/officeDocument/2006/relationships/image" Target="../media/image-16-7.png"></Relationship><Relationship Id="rId8" Type="http://schemas.openxmlformats.org/officeDocument/2006/relationships/image" Target="../media/image-16-8.png"></Relationship><Relationship Id="rId9" Type="http://schemas.openxmlformats.org/officeDocument/2006/relationships/image" Target="../media/image-16-9.png"></Relationship><Relationship Id="rId11" Type="http://schemas.openxmlformats.org/officeDocument/2006/relationships/notesSlide" Target="../notesSlides/notesSlide14.xml"></Relationship><Relationship Id="rId12" Type="http://schemas.openxmlformats.org/officeDocument/2006/relationships/slideLayout" Target="../slideLayouts/slideLayout1.xm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image" Target="../media/fImage31717388467.png"></Relationship><Relationship Id="rId3" Type="http://schemas.openxmlformats.org/officeDocument/2006/relationships/image" Target="../media/fImage31617396334.png"></Relationship><Relationship Id="rId4" Type="http://schemas.openxmlformats.org/officeDocument/2006/relationships/image" Target="../media/fImage31617406500.png"></Relationship><Relationship Id="rId5" Type="http://schemas.openxmlformats.org/officeDocument/2006/relationships/image" Target="../media/fImage31617419169.png"></Relationship><Relationship Id="rId6" Type="http://schemas.openxmlformats.org/officeDocument/2006/relationships/image" Target="../media/fImage139117455724.png"></Relationship><Relationship Id="rId7" Type="http://schemas.openxmlformats.org/officeDocument/2006/relationships/image" Target="../media/fImage46217481478.png"></Relationship><Relationship Id="rId8" Type="http://schemas.openxmlformats.org/officeDocument/2006/relationships/image" Target="../media/fImage46217509358.png"></Relationship><Relationship Id="rId9" Type="http://schemas.openxmlformats.org/officeDocument/2006/relationships/image" Target="../media/fImage46217526962.png"></Relationship><Relationship Id="rId10" Type="http://schemas.openxmlformats.org/officeDocument/2006/relationships/image" Target="../media/fImage46717544464.png"></Relationship><Relationship Id="rId11" Type="http://schemas.openxmlformats.org/officeDocument/2006/relationships/image" Target="../media/fImage76517565705.png"></Relationship><Relationship Id="rId12" Type="http://schemas.openxmlformats.org/officeDocument/2006/relationships/image" Target="../media/fImage110917838145.png"></Relationship><Relationship Id="rId13" Type="http://schemas.openxmlformats.org/officeDocument/2006/relationships/notesSlide" Target="../notesSlides/notesSlide15.xml"></Relationship></Relationships>
</file>

<file path=ppt/slides/_rels/slide16.xml.rels><?xml version="1.0" encoding="UTF-8"?>
<Relationships xmlns="http://schemas.openxmlformats.org/package/2006/relationships"><Relationship Id="rId5" Type="http://schemas.openxmlformats.org/officeDocument/2006/relationships/image" Target="../media/image-15-5.png"></Relationship><Relationship Id="rId6" Type="http://schemas.openxmlformats.org/officeDocument/2006/relationships/image" Target="../media/image-15-6.png"></Relationship><Relationship Id="rId7" Type="http://schemas.openxmlformats.org/officeDocument/2006/relationships/image" Target="../media/image-15-7.png"></Relationship><Relationship Id="rId8" Type="http://schemas.openxmlformats.org/officeDocument/2006/relationships/image" Target="../media/image-15-8.png"></Relationship><Relationship Id="rId10" Type="http://schemas.openxmlformats.org/officeDocument/2006/relationships/notesSlide" Target="../notesSlides/notesSlide16.xml"></Relationship><Relationship Id="rId11" Type="http://schemas.openxmlformats.org/officeDocument/2006/relationships/image" Target="../media/fImage113251158841.png"></Relationship><Relationship Id="rId12" Type="http://schemas.openxmlformats.org/officeDocument/2006/relationships/slideLayout" Target="../slideLayouts/slideLayout1.xml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image" Target="../media/image-17-1.png"></Relationship><Relationship Id="rId2" Type="http://schemas.openxmlformats.org/officeDocument/2006/relationships/image" Target="../media/image-17-2.png"></Relationship><Relationship Id="rId4" Type="http://schemas.openxmlformats.org/officeDocument/2006/relationships/notesSlide" Target="../notesSlides/notesSlide17.xml"></Relationship><Relationship Id="rId5" Type="http://schemas.openxmlformats.org/officeDocument/2006/relationships/slideLayout" Target="../slideLayouts/slideLayout1.xml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0616083281.png"></Relationship><Relationship Id="rId3" Type="http://schemas.openxmlformats.org/officeDocument/2006/relationships/image" Target="../media/fImage20616116827.png"></Relationship><Relationship Id="rId4" Type="http://schemas.openxmlformats.org/officeDocument/2006/relationships/image" Target="../media/fImage81616169961.png"></Relationship><Relationship Id="rId5" Type="http://schemas.openxmlformats.org/officeDocument/2006/relationships/image" Target="../media/fImage9491620491.png"></Relationship><Relationship Id="rId6" Type="http://schemas.openxmlformats.org/officeDocument/2006/relationships/image" Target="../media/fImage124216242995.png"></Relationship><Relationship Id="rId7" Type="http://schemas.openxmlformats.org/officeDocument/2006/relationships/notesSlide" Target="../notesSlides/notesSlide18.xml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image-20-2.png"></Relationship><Relationship Id="rId3" Type="http://schemas.openxmlformats.org/officeDocument/2006/relationships/image" Target="../media/image-20-3.png"></Relationship><Relationship Id="rId4" Type="http://schemas.openxmlformats.org/officeDocument/2006/relationships/image" Target="../media/image-20-4.png"></Relationship><Relationship Id="rId5" Type="http://schemas.openxmlformats.org/officeDocument/2006/relationships/image" Target="../media/fImage118819471942.png"></Relationship><Relationship Id="rId6" Type="http://schemas.openxmlformats.org/officeDocument/2006/relationships/image" Target="../media/fImage81219504827.png"></Relationship><Relationship Id="rId7" Type="http://schemas.openxmlformats.org/officeDocument/2006/relationships/image" Target="../media/fImage77219545436.png"></Relationship><Relationship Id="rId8" Type="http://schemas.openxmlformats.org/officeDocument/2006/relationships/image" Target="../media/fImage67419582391.png"></Relationship><Relationship Id="rId9" Type="http://schemas.openxmlformats.org/officeDocument/2006/relationships/image" Target="../media/fImage52419624604.png"></Relationship><Relationship Id="rId10" Type="http://schemas.openxmlformats.org/officeDocument/2006/relationships/notesSlide" Target="../notesSlides/notesSlide19.xml"></Relationship></Relationships>
</file>

<file path=ppt/slides/_rels/slide20.xml.rels><?xml version="1.0" encoding="UTF-8"?>
<Relationships xmlns="http://schemas.openxmlformats.org/package/2006/relationships"><Relationship Id="rId2" Type="http://schemas.openxmlformats.org/officeDocument/2006/relationships/image" Target="../media/image-20-2.png"></Relationship><Relationship Id="rId3" Type="http://schemas.openxmlformats.org/officeDocument/2006/relationships/image" Target="../media/image-20-3.png"></Relationship><Relationship Id="rId4" Type="http://schemas.openxmlformats.org/officeDocument/2006/relationships/image" Target="../media/image-20-4.png"></Relationship><Relationship Id="rId5" Type="http://schemas.openxmlformats.org/officeDocument/2006/relationships/image" Target="../media/image-20-5.png"></Relationship><Relationship Id="rId6" Type="http://schemas.openxmlformats.org/officeDocument/2006/relationships/image" Target="../media/image-20-6.png"></Relationship><Relationship Id="rId7" Type="http://schemas.openxmlformats.org/officeDocument/2006/relationships/image" Target="../media/image-20-7.png"></Relationship><Relationship Id="rId8" Type="http://schemas.openxmlformats.org/officeDocument/2006/relationships/image" Target="../media/image-20-8.png"></Relationship><Relationship Id="rId9" Type="http://schemas.openxmlformats.org/officeDocument/2006/relationships/image" Target="../media/image-20-9.png"></Relationship><Relationship Id="rId11" Type="http://schemas.openxmlformats.org/officeDocument/2006/relationships/notesSlide" Target="../notesSlides/notesSlide20.xml"></Relationship><Relationship Id="rId12" Type="http://schemas.openxmlformats.org/officeDocument/2006/relationships/slideLayout" Target="../slideLayouts/slideLayout1.xml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image" Target="../media/image-21-1.png"></Relationship><Relationship Id="rId2" Type="http://schemas.openxmlformats.org/officeDocument/2006/relationships/image" Target="../media/image-21-2.png"></Relationship><Relationship Id="rId3" Type="http://schemas.openxmlformats.org/officeDocument/2006/relationships/image" Target="../media/image-21-3.png"></Relationship><Relationship Id="rId4" Type="http://schemas.openxmlformats.org/officeDocument/2006/relationships/image" Target="../media/image-21-4.png"></Relationship><Relationship Id="rId5" Type="http://schemas.openxmlformats.org/officeDocument/2006/relationships/image" Target="../media/image-21-5.png"></Relationship><Relationship Id="rId6" Type="http://schemas.openxmlformats.org/officeDocument/2006/relationships/image" Target="../media/image-21-6.png"></Relationship><Relationship Id="rId7" Type="http://schemas.openxmlformats.org/officeDocument/2006/relationships/image" Target="../media/image-21-7.png"></Relationship><Relationship Id="rId8" Type="http://schemas.openxmlformats.org/officeDocument/2006/relationships/image" Target="../media/image-21-8.png"></Relationship><Relationship Id="rId9" Type="http://schemas.openxmlformats.org/officeDocument/2006/relationships/image" Target="../media/image-21-9.png"></Relationship><Relationship Id="rId10" Type="http://schemas.openxmlformats.org/officeDocument/2006/relationships/image" Target="../media/image-21-10.png"></Relationship><Relationship Id="rId11" Type="http://schemas.openxmlformats.org/officeDocument/2006/relationships/image" Target="../media/image-21-11.png"></Relationship><Relationship Id="rId12" Type="http://schemas.openxmlformats.org/officeDocument/2006/relationships/image" Target="../media/image-21-12.png"></Relationship><Relationship Id="rId13" Type="http://schemas.openxmlformats.org/officeDocument/2006/relationships/image" Target="../media/image-21-13.png"></Relationship><Relationship Id="rId14" Type="http://schemas.openxmlformats.org/officeDocument/2006/relationships/image" Target="../media/image-21-14.png"></Relationship><Relationship Id="rId15" Type="http://schemas.openxmlformats.org/officeDocument/2006/relationships/image" Target="../media/image-21-15.png"></Relationship><Relationship Id="rId17" Type="http://schemas.openxmlformats.org/officeDocument/2006/relationships/notesSlide" Target="../notesSlides/notesSlide21.xml"></Relationship><Relationship Id="rId18" Type="http://schemas.openxmlformats.org/officeDocument/2006/relationships/slideLayout" Target="../slideLayouts/slideLayout1.xml"></Relationship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image" Target="../media/image-22-1.png"></Relationship><Relationship Id="rId2" Type="http://schemas.openxmlformats.org/officeDocument/2006/relationships/image" Target="../media/image-22-2.png"></Relationship><Relationship Id="rId3" Type="http://schemas.openxmlformats.org/officeDocument/2006/relationships/image" Target="../media/image-22-3.png"></Relationship><Relationship Id="rId4" Type="http://schemas.openxmlformats.org/officeDocument/2006/relationships/image" Target="../media/image-22-4.png"></Relationship><Relationship Id="rId5" Type="http://schemas.openxmlformats.org/officeDocument/2006/relationships/image" Target="../media/image-22-5.png"></Relationship><Relationship Id="rId7" Type="http://schemas.openxmlformats.org/officeDocument/2006/relationships/notesSlide" Target="../notesSlides/notesSlide23.xml"></Relationship><Relationship Id="rId8" Type="http://schemas.openxmlformats.org/officeDocument/2006/relationships/slideLayout" Target="../slideLayouts/slideLayout1.xml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image" Target="../media/image-23-1.png"></Relationship><Relationship Id="rId2" Type="http://schemas.openxmlformats.org/officeDocument/2006/relationships/image" Target="../media/image-23-2.png"></Relationship><Relationship Id="rId3" Type="http://schemas.openxmlformats.org/officeDocument/2006/relationships/image" Target="../media/image-23-3.png"></Relationship><Relationship Id="rId4" Type="http://schemas.openxmlformats.org/officeDocument/2006/relationships/image" Target="../media/image-23-4.png"></Relationship><Relationship Id="rId5" Type="http://schemas.openxmlformats.org/officeDocument/2006/relationships/image" Target="../media/image-23-5.png"></Relationship><Relationship Id="rId6" Type="http://schemas.openxmlformats.org/officeDocument/2006/relationships/image" Target="../media/image-23-6.png"></Relationship><Relationship Id="rId7" Type="http://schemas.openxmlformats.org/officeDocument/2006/relationships/image" Target="../media/image-23-7.png"></Relationship><Relationship Id="rId8" Type="http://schemas.openxmlformats.org/officeDocument/2006/relationships/image" Target="../media/image-23-8.png"></Relationship><Relationship Id="rId9" Type="http://schemas.openxmlformats.org/officeDocument/2006/relationships/image" Target="../media/image-23-9.png"></Relationship><Relationship Id="rId11" Type="http://schemas.openxmlformats.org/officeDocument/2006/relationships/notesSlide" Target="../notesSlides/notesSlide24.xml"></Relationship><Relationship Id="rId12" Type="http://schemas.openxmlformats.org/officeDocument/2006/relationships/slideLayout" Target="../slideLayouts/slideLayout1.xm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image-23-1.png"></Relationship><Relationship Id="rId3" Type="http://schemas.openxmlformats.org/officeDocument/2006/relationships/notesSlide" Target="../notesSlides/notesSlide25.xml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image" Target="../media/image-24-1.png"></Relationship><Relationship Id="rId2" Type="http://schemas.openxmlformats.org/officeDocument/2006/relationships/image" Target="../media/image-24-2.png"></Relationship><Relationship Id="rId4" Type="http://schemas.openxmlformats.org/officeDocument/2006/relationships/notesSlide" Target="../notesSlides/notesSlide26.xml"></Relationship><Relationship Id="rId5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1">
            <a:alphaModFix amt="85000"/>
          </a:blip>
          <a:srcRect l="26298" r="26298" t="0" b="0"/>
          <a:stretch/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1A35B5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2000" y="2476500"/>
            <a:ext cx="7911465" cy="648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상권 미래 활력 예측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732155" y="3341370"/>
            <a:ext cx="628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 기반 유망 행정동 발굴 및 인사이트 도출</a:t>
            </a:r>
            <a:endParaRPr lang="en-US" sz="1800" dirty="0"/>
          </a:p>
        </p:txBody>
      </p:sp>
      <p:pic>
        <p:nvPicPr>
          <p:cNvPr id="8" name="Image 1"/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762000" y="2095500"/>
            <a:ext cx="571500" cy="5778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2155" y="5676900"/>
            <a:ext cx="61722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블록버스터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1"/>
          <a:srcRect l="-404" r="-404" t="0" b="0"/>
          <a:stretch/>
        </p:blipFill>
        <p:spPr>
          <a:xfrm>
            <a:off x="762000" y="1524000"/>
            <a:ext cx="5143500" cy="285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180975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/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2000" y="3048000"/>
            <a:ext cx="5143500" cy="889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2000" y="333375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/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762000" y="4572000"/>
            <a:ext cx="5143500" cy="889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2000" y="4858385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3"/>
          <p:cNvPicPr>
            <a:picLocks noChangeAspect="1"/>
          </p:cNvPicPr>
          <p:nvPr/>
        </p:nvPicPr>
        <p:blipFill>
          <a:blip r:embed="rId4"/>
          <a:srcRect l="-404" r="-404" t="0" b="0"/>
          <a:stretch/>
        </p:blipFill>
        <p:spPr>
          <a:xfrm>
            <a:off x="6286500" y="1524000"/>
            <a:ext cx="5143500" cy="2857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286500" y="180975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4"/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6286500" y="3048000"/>
            <a:ext cx="5143500" cy="889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6286500" y="333375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5"/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6286500" y="4572000"/>
            <a:ext cx="5143500" cy="889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6286500" y="4858385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8"/>
          <p:cNvSpPr txBox="1"/>
          <p:nvPr/>
        </p:nvSpPr>
        <p:spPr>
          <a:xfrm>
            <a:off x="762000" y="571500"/>
            <a:ext cx="411480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3300" dirty="0"/>
          </a:p>
        </p:txBody>
      </p:sp>
      <p:sp>
        <p:nvSpPr>
          <p:cNvPr id="17" name="Text 9"/>
          <p:cNvSpPr txBox="1"/>
          <p:nvPr/>
        </p:nvSpPr>
        <p:spPr>
          <a:xfrm>
            <a:off x="781050" y="1104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8" name="Text 10"/>
          <p:cNvSpPr txBox="1"/>
          <p:nvPr/>
        </p:nvSpPr>
        <p:spPr>
          <a:xfrm>
            <a:off x="723900" y="1809750"/>
            <a:ext cx="534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1409700" y="1886585"/>
            <a:ext cx="45720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기획</a:t>
            </a:r>
            <a:endParaRPr lang="en-US" sz="1800" dirty="0"/>
          </a:p>
        </p:txBody>
      </p:sp>
      <p:sp>
        <p:nvSpPr>
          <p:cNvPr id="20" name="Text 12"/>
          <p:cNvSpPr txBox="1"/>
          <p:nvPr/>
        </p:nvSpPr>
        <p:spPr>
          <a:xfrm>
            <a:off x="1409700" y="2266950"/>
            <a:ext cx="53206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활용장비 및 개발일정 · 팀 구성 및 역할 · 문제 정의 &amp; 기획 의도</a:t>
            </a:r>
            <a:endParaRPr lang="en-US" sz="1200" dirty="0"/>
          </a:p>
        </p:txBody>
      </p:sp>
      <p:sp>
        <p:nvSpPr>
          <p:cNvPr id="21" name="Text 13"/>
          <p:cNvSpPr txBox="1"/>
          <p:nvPr/>
        </p:nvSpPr>
        <p:spPr>
          <a:xfrm>
            <a:off x="723900" y="3333750"/>
            <a:ext cx="534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1409700" y="3409950"/>
            <a:ext cx="45720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&amp; 전처리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1409700" y="379095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개요 · 전처리 흐름 · 타겟변수 정의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723900" y="4858385"/>
            <a:ext cx="534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409700" y="4933950"/>
            <a:ext cx="45720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 분석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409700" y="5315585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클러스터링 방법론 &amp; 결과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6248400" y="1809750"/>
            <a:ext cx="534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6934200" y="1886585"/>
            <a:ext cx="45720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 예측 모델 선정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6934200" y="226695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선정 근거 · 성능 비교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6248400" y="3333750"/>
            <a:ext cx="534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6934200" y="3409950"/>
            <a:ext cx="45720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학습/평가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6934200" y="3790950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최종 모델 선정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SHAP 변수 중요도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248400" y="4858385"/>
            <a:ext cx="534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6934200" y="4933950"/>
            <a:ext cx="45720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및 시사점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6934200" y="5315585"/>
            <a:ext cx="4458335" cy="52451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주요 행정동 소개 및 심층 분석 · 결론 및 액션 도출 · 한계점 · 시연영상 · 참고문헌</a:t>
            </a:r>
            <a:endParaRPr lang="ko-KR" altLang="en-US" sz="12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476250"/>
            <a:ext cx="419100" cy="266700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809750"/>
            <a:ext cx="5734050" cy="4334510"/>
          </a:xfrm>
          <a:prstGeom prst="roundRect">
            <a:avLst>
              <a:gd name="adj" fmla="val 74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809750"/>
            <a:ext cx="5734050" cy="38100"/>
          </a:xfrm>
          <a:prstGeom prst="roundRect">
            <a:avLst>
              <a:gd name="adj" fmla="val 83725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1"/>
          <a:srcRect l="-2089" r="-2089" t="0" b="0"/>
          <a:stretch/>
        </p:blipFill>
        <p:spPr>
          <a:xfrm>
            <a:off x="1143000" y="2572385"/>
            <a:ext cx="4953000" cy="88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0" y="1809750"/>
            <a:ext cx="4572000" cy="4286885"/>
          </a:xfrm>
          <a:prstGeom prst="roundRect">
            <a:avLst>
              <a:gd name="adj" fmla="val 1517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/>
          <p:cNvPicPr>
            <a:picLocks noChangeAspect="1"/>
          </p:cNvPicPr>
          <p:nvPr/>
        </p:nvPicPr>
        <p:blipFill>
          <a:blip r:embed="rId2"/>
          <a:srcRect l="-2078" r="-2078" t="0" b="0"/>
          <a:stretch/>
        </p:blipFill>
        <p:spPr>
          <a:xfrm>
            <a:off x="7334250" y="4095750"/>
            <a:ext cx="3619500" cy="8890"/>
          </a:xfrm>
          <a:prstGeom prst="rect">
            <a:avLst/>
          </a:prstGeom>
        </p:spPr>
      </p:pic>
      <p:sp>
        <p:nvSpPr>
          <p:cNvPr id="10" name="Text 6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01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1276350" y="504825"/>
            <a:ext cx="2057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기획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620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활용장비 및 개발일정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2190750"/>
            <a:ext cx="14401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667000" y="2190750"/>
            <a:ext cx="3620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2857500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개발환경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667000" y="2876550"/>
            <a:ext cx="3543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Code · Jupyter Notebook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3429000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언어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2667000" y="3448050"/>
            <a:ext cx="3543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" y="4000500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처리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2667000" y="4019550"/>
            <a:ext cx="3543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pandas · numpy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" y="4572000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모델링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2667000" y="4591050"/>
            <a:ext cx="3505835" cy="51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scikit-learn · CatBoost · LightGBM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· Optuna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143000" y="5429885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시각화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2667000" y="5448300"/>
            <a:ext cx="3543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matplotlib.pyplot</a:t>
            </a:r>
            <a:endParaRPr lang="en-US" sz="1300" dirty="0"/>
          </a:p>
        </p:txBody>
      </p:sp>
      <p:pic>
        <p:nvPicPr>
          <p:cNvPr id="25" name="Image 2"/>
          <p:cNvPicPr>
            <a:picLocks noChangeAspect="1"/>
          </p:cNvPicPr>
          <p:nvPr/>
        </p:nvPicPr>
        <p:blipFill>
          <a:blip r:embed="rId3"/>
          <a:srcRect l="-881" r="-881" t="0" b="0"/>
          <a:stretch/>
        </p:blipFill>
        <p:spPr>
          <a:xfrm>
            <a:off x="7334250" y="2247900"/>
            <a:ext cx="237490" cy="2667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715885" y="2229485"/>
            <a:ext cx="304863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일정 요약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7334250" y="2952750"/>
            <a:ext cx="3810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진행 기간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7334250" y="3238500"/>
            <a:ext cx="3924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spc="-37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2026.02 ~ 2026.03</a:t>
            </a:r>
            <a:endParaRPr lang="en-US" sz="2500" dirty="0"/>
          </a:p>
        </p:txBody>
      </p:sp>
      <p:sp>
        <p:nvSpPr>
          <p:cNvPr id="29" name="Text 24"/>
          <p:cNvSpPr txBox="1"/>
          <p:nvPr/>
        </p:nvSpPr>
        <p:spPr>
          <a:xfrm>
            <a:off x="7334250" y="3666490"/>
            <a:ext cx="37344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(약 1개월)</a:t>
            </a:r>
            <a:endParaRPr lang="en-US" sz="1300" dirty="0"/>
          </a:p>
        </p:txBody>
      </p:sp>
      <p:sp>
        <p:nvSpPr>
          <p:cNvPr id="30" name="Text 25"/>
          <p:cNvSpPr txBox="1">
            <a:spLocks/>
          </p:cNvSpPr>
          <p:nvPr/>
        </p:nvSpPr>
        <p:spPr>
          <a:xfrm rot="0">
            <a:off x="7334250" y="4185920"/>
            <a:ext cx="38106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300" b="1">
                <a:solidFill>
                  <a:srgbClr val="1A35B5"/>
                </a:solidFill>
                <a:latin typeface="Pretendard" charset="0"/>
                <a:ea typeface="Pretendard" charset="0"/>
                <a:cs typeface="Pretendard" charset="0"/>
              </a:rPr>
              <a:t>상세 타임라인</a:t>
            </a:r>
            <a:endParaRPr lang="ko-KR" altLang="en-US" sz="1300" b="1">
              <a:solidFill>
                <a:srgbClr val="1A35B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1" name="Shape 26"/>
          <p:cNvSpPr>
            <a:spLocks/>
          </p:cNvSpPr>
          <p:nvPr/>
        </p:nvSpPr>
        <p:spPr>
          <a:xfrm rot="0">
            <a:off x="7334250" y="4623435"/>
            <a:ext cx="48260" cy="48260"/>
          </a:xfrm>
          <a:prstGeom prst="ellipse"/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2" name="Text 27"/>
          <p:cNvSpPr txBox="1">
            <a:spLocks/>
          </p:cNvSpPr>
          <p:nvPr/>
        </p:nvSpPr>
        <p:spPr>
          <a:xfrm rot="0">
            <a:off x="7477125" y="4566285"/>
            <a:ext cx="1410335" cy="1631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2월 6일 ~ 2월 10일</a:t>
            </a:r>
            <a:endParaRPr lang="ko-KR" altLang="en-US" sz="900" b="1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3" name="Text 28"/>
          <p:cNvSpPr txBox="1">
            <a:spLocks/>
          </p:cNvSpPr>
          <p:nvPr/>
        </p:nvSpPr>
        <p:spPr>
          <a:xfrm rot="0">
            <a:off x="8906510" y="4566285"/>
            <a:ext cx="2418080" cy="1631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222222"/>
                </a:solidFill>
                <a:latin typeface="Pretendard" charset="0"/>
                <a:ea typeface="Pretendard" charset="0"/>
                <a:cs typeface="Pretendard" charset="0"/>
              </a:rPr>
              <a:t>주제 선정</a:t>
            </a:r>
            <a:endParaRPr lang="ko-KR" altLang="en-US" sz="900" b="1">
              <a:solidFill>
                <a:srgbClr val="222222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4" name="Shape 29"/>
          <p:cNvSpPr>
            <a:spLocks/>
          </p:cNvSpPr>
          <p:nvPr/>
        </p:nvSpPr>
        <p:spPr>
          <a:xfrm rot="0">
            <a:off x="7334250" y="4859655"/>
            <a:ext cx="48260" cy="48260"/>
          </a:xfrm>
          <a:prstGeom prst="ellipse"/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5" name="Text 30"/>
          <p:cNvSpPr txBox="1">
            <a:spLocks/>
          </p:cNvSpPr>
          <p:nvPr/>
        </p:nvSpPr>
        <p:spPr>
          <a:xfrm rot="0">
            <a:off x="7477125" y="4801870"/>
            <a:ext cx="1410335" cy="1631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2월 11일 ~ 2월 15일</a:t>
            </a:r>
            <a:endParaRPr lang="ko-KR" altLang="en-US" sz="900" b="1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6" name="Text 31"/>
          <p:cNvSpPr txBox="1">
            <a:spLocks/>
          </p:cNvSpPr>
          <p:nvPr/>
        </p:nvSpPr>
        <p:spPr>
          <a:xfrm rot="0">
            <a:off x="8906510" y="4801870"/>
            <a:ext cx="2418080" cy="1631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222222"/>
                </a:solidFill>
                <a:latin typeface="Pretendard" charset="0"/>
                <a:ea typeface="Pretendard" charset="0"/>
                <a:cs typeface="Pretendard" charset="0"/>
              </a:rPr>
              <a:t>데이터 수집 및 병합</a:t>
            </a:r>
            <a:endParaRPr lang="ko-KR" altLang="en-US" sz="900" b="1">
              <a:solidFill>
                <a:srgbClr val="222222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7" name="Shape 32"/>
          <p:cNvSpPr>
            <a:spLocks/>
          </p:cNvSpPr>
          <p:nvPr/>
        </p:nvSpPr>
        <p:spPr>
          <a:xfrm rot="0">
            <a:off x="7334250" y="5095875"/>
            <a:ext cx="48260" cy="48260"/>
          </a:xfrm>
          <a:prstGeom prst="ellipse"/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8" name="Text 33"/>
          <p:cNvSpPr txBox="1">
            <a:spLocks/>
          </p:cNvSpPr>
          <p:nvPr/>
        </p:nvSpPr>
        <p:spPr>
          <a:xfrm rot="0">
            <a:off x="7477125" y="5038725"/>
            <a:ext cx="1410335" cy="1631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2월 16일 ~ 2월 23일</a:t>
            </a:r>
            <a:endParaRPr lang="ko-KR" altLang="en-US" sz="900" b="1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9" name="Text 34"/>
          <p:cNvSpPr txBox="1">
            <a:spLocks/>
          </p:cNvSpPr>
          <p:nvPr/>
        </p:nvSpPr>
        <p:spPr>
          <a:xfrm rot="0">
            <a:off x="8906510" y="5038725"/>
            <a:ext cx="2418080" cy="1631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222222"/>
                </a:solidFill>
                <a:latin typeface="Pretendard" charset="0"/>
                <a:ea typeface="Pretendard" charset="0"/>
                <a:cs typeface="Pretendard" charset="0"/>
              </a:rPr>
              <a:t>데이터 전처리</a:t>
            </a:r>
            <a:endParaRPr lang="ko-KR" altLang="en-US" sz="900" b="1">
              <a:solidFill>
                <a:srgbClr val="222222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0" name="Shape 35"/>
          <p:cNvSpPr>
            <a:spLocks/>
          </p:cNvSpPr>
          <p:nvPr/>
        </p:nvSpPr>
        <p:spPr>
          <a:xfrm rot="0">
            <a:off x="7334250" y="5332095"/>
            <a:ext cx="48260" cy="48260"/>
          </a:xfrm>
          <a:prstGeom prst="ellipse"/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1" name="Text 36"/>
          <p:cNvSpPr txBox="1">
            <a:spLocks/>
          </p:cNvSpPr>
          <p:nvPr/>
        </p:nvSpPr>
        <p:spPr>
          <a:xfrm rot="0">
            <a:off x="7477125" y="5274945"/>
            <a:ext cx="1410335" cy="1631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2월 24일 ~ 2월 27일</a:t>
            </a:r>
            <a:endParaRPr lang="ko-KR" altLang="en-US" sz="900" b="1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2" name="Text 37"/>
          <p:cNvSpPr txBox="1">
            <a:spLocks/>
          </p:cNvSpPr>
          <p:nvPr/>
        </p:nvSpPr>
        <p:spPr>
          <a:xfrm rot="0">
            <a:off x="8906510" y="5274945"/>
            <a:ext cx="2418080" cy="1631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222222"/>
                </a:solidFill>
                <a:latin typeface="Pretendard" charset="0"/>
                <a:ea typeface="Pretendard" charset="0"/>
                <a:cs typeface="Pretendard" charset="0"/>
              </a:rPr>
              <a:t>행정동 클러스터링</a:t>
            </a:r>
            <a:endParaRPr lang="ko-KR" altLang="en-US" sz="900" b="1">
              <a:solidFill>
                <a:srgbClr val="222222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3" name="Shape 38"/>
          <p:cNvSpPr>
            <a:spLocks/>
          </p:cNvSpPr>
          <p:nvPr/>
        </p:nvSpPr>
        <p:spPr>
          <a:xfrm rot="0">
            <a:off x="7334250" y="5568315"/>
            <a:ext cx="48260" cy="48260"/>
          </a:xfrm>
          <a:prstGeom prst="ellipse"/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4" name="Text 39"/>
          <p:cNvSpPr txBox="1">
            <a:spLocks/>
          </p:cNvSpPr>
          <p:nvPr/>
        </p:nvSpPr>
        <p:spPr>
          <a:xfrm rot="0">
            <a:off x="7477125" y="5510530"/>
            <a:ext cx="1410335" cy="1631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2월 28일 ~ 3월 8일</a:t>
            </a:r>
            <a:endParaRPr lang="ko-KR" altLang="en-US" sz="900" b="1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5" name="Text 40"/>
          <p:cNvSpPr txBox="1">
            <a:spLocks/>
          </p:cNvSpPr>
          <p:nvPr/>
        </p:nvSpPr>
        <p:spPr>
          <a:xfrm rot="0">
            <a:off x="8906510" y="5510530"/>
            <a:ext cx="2418080" cy="1631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222222"/>
                </a:solidFill>
                <a:latin typeface="Pretendard" charset="0"/>
                <a:ea typeface="Pretendard" charset="0"/>
                <a:cs typeface="Pretendard" charset="0"/>
              </a:rPr>
              <a:t>모델 학습 / 선정 / 예측</a:t>
            </a:r>
            <a:endParaRPr lang="ko-KR" altLang="en-US" sz="900" b="1">
              <a:solidFill>
                <a:srgbClr val="222222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6" name="Shape 41"/>
          <p:cNvSpPr>
            <a:spLocks/>
          </p:cNvSpPr>
          <p:nvPr/>
        </p:nvSpPr>
        <p:spPr>
          <a:xfrm rot="0">
            <a:off x="7334250" y="5804535"/>
            <a:ext cx="48260" cy="48260"/>
          </a:xfrm>
          <a:prstGeom prst="ellipse"/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7" name="Text 42"/>
          <p:cNvSpPr txBox="1">
            <a:spLocks/>
          </p:cNvSpPr>
          <p:nvPr/>
        </p:nvSpPr>
        <p:spPr>
          <a:xfrm rot="0">
            <a:off x="7477125" y="5747385"/>
            <a:ext cx="1410335" cy="1631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3월 9일 ~ 3월 11일</a:t>
            </a:r>
            <a:endParaRPr lang="ko-KR" altLang="en-US" sz="900" b="1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8" name="Text 43"/>
          <p:cNvSpPr txBox="1">
            <a:spLocks/>
          </p:cNvSpPr>
          <p:nvPr/>
        </p:nvSpPr>
        <p:spPr>
          <a:xfrm rot="0">
            <a:off x="8906510" y="5747385"/>
            <a:ext cx="2328545" cy="1631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222222"/>
                </a:solidFill>
                <a:latin typeface="Pretendard" charset="0"/>
                <a:ea typeface="Pretendard" charset="0"/>
                <a:cs typeface="Pretendard" charset="0"/>
              </a:rPr>
              <a:t>결론 도출 및 PPT 제작</a:t>
            </a:r>
            <a:endParaRPr lang="ko-KR" altLang="en-US" sz="900" b="1">
              <a:solidFill>
                <a:srgbClr val="222222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2095500"/>
            <a:ext cx="2076450" cy="32861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2095500"/>
            <a:ext cx="2076450" cy="38100"/>
          </a:xfrm>
          <a:prstGeom prst="roundRect">
            <a:avLst>
              <a:gd name="adj" fmla="val 262122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19400" y="2095500"/>
            <a:ext cx="2076450" cy="32861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9400" y="2095500"/>
            <a:ext cx="2076450" cy="38100"/>
          </a:xfrm>
          <a:prstGeom prst="roundRect">
            <a:avLst>
              <a:gd name="adj" fmla="val 262122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67300" y="2095500"/>
            <a:ext cx="2076450" cy="32861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67300" y="2095500"/>
            <a:ext cx="2076450" cy="38100"/>
          </a:xfrm>
          <a:prstGeom prst="roundRect">
            <a:avLst>
              <a:gd name="adj" fmla="val 262122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2095500"/>
            <a:ext cx="2076450" cy="32861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2095500"/>
            <a:ext cx="2076450" cy="38100"/>
          </a:xfrm>
          <a:prstGeom prst="roundRect">
            <a:avLst>
              <a:gd name="adj" fmla="val 262122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63100" y="2095500"/>
            <a:ext cx="2076450" cy="32861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63100" y="2095500"/>
            <a:ext cx="2076450" cy="38100"/>
          </a:xfrm>
          <a:prstGeom prst="roundRect">
            <a:avLst>
              <a:gd name="adj" fmla="val 262122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2476500"/>
            <a:ext cx="685800" cy="68580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0"/>
          <p:cNvPicPr>
            <a:picLocks noChangeAspect="1"/>
          </p:cNvPicPr>
          <p:nvPr/>
        </p:nvPicPr>
        <p:blipFill>
          <a:blip r:embed="rId1"/>
          <a:srcRect l="-2094" r="-2094" t="0" b="0"/>
          <a:stretch/>
        </p:blipFill>
        <p:spPr>
          <a:xfrm>
            <a:off x="838200" y="3810000"/>
            <a:ext cx="1524000" cy="889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505200" y="2476500"/>
            <a:ext cx="685800" cy="68580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1"/>
          <p:cNvPicPr>
            <a:picLocks noChangeAspect="1"/>
          </p:cNvPicPr>
          <p:nvPr/>
        </p:nvPicPr>
        <p:blipFill>
          <a:blip r:embed="rId2"/>
          <a:srcRect l="-2094" r="-2094" t="0" b="0"/>
          <a:stretch/>
        </p:blipFill>
        <p:spPr>
          <a:xfrm>
            <a:off x="3086100" y="3810000"/>
            <a:ext cx="1524000" cy="889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753100" y="2476500"/>
            <a:ext cx="685800" cy="68580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/>
          <p:cNvPicPr>
            <a:picLocks noChangeAspect="1"/>
          </p:cNvPicPr>
          <p:nvPr/>
        </p:nvPicPr>
        <p:blipFill>
          <a:blip r:embed="rId3"/>
          <a:srcRect l="-2094" r="-2094" t="0" b="0"/>
          <a:stretch/>
        </p:blipFill>
        <p:spPr>
          <a:xfrm>
            <a:off x="5334000" y="3810000"/>
            <a:ext cx="1524000" cy="889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001000" y="2476500"/>
            <a:ext cx="685800" cy="68580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3"/>
          <p:cNvPicPr>
            <a:picLocks noChangeAspect="1"/>
          </p:cNvPicPr>
          <p:nvPr/>
        </p:nvPicPr>
        <p:blipFill>
          <a:blip r:embed="rId4"/>
          <a:srcRect l="-2094" r="-2094" t="0" b="0"/>
          <a:stretch/>
        </p:blipFill>
        <p:spPr>
          <a:xfrm>
            <a:off x="7581900" y="3810000"/>
            <a:ext cx="1524000" cy="889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0248900" y="2476500"/>
            <a:ext cx="685800" cy="68580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4"/>
          <p:cNvPicPr>
            <a:picLocks noChangeAspect="1"/>
          </p:cNvPicPr>
          <p:nvPr/>
        </p:nvPicPr>
        <p:blipFill>
          <a:blip r:embed="rId5"/>
          <a:srcRect l="-2094" r="-2094" t="0" b="0"/>
          <a:stretch/>
        </p:blipFill>
        <p:spPr>
          <a:xfrm>
            <a:off x="9829800" y="3810000"/>
            <a:ext cx="1524000" cy="889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76350" y="504825"/>
            <a:ext cx="2057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기획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620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및 역할</a:t>
            </a:r>
            <a:endParaRPr lang="en-US" sz="3000" dirty="0"/>
          </a:p>
        </p:txBody>
      </p:sp>
      <p:pic>
        <p:nvPicPr>
          <p:cNvPr id="28" name="Image 5"/>
          <p:cNvPicPr>
            <a:picLocks noChangeAspect="1"/>
          </p:cNvPicPr>
          <p:nvPr/>
        </p:nvPicPr>
        <p:blipFill>
          <a:blip r:embed="rId6"/>
          <a:srcRect l="-606" r="-606" t="0" b="0"/>
          <a:stretch/>
        </p:blipFill>
        <p:spPr>
          <a:xfrm>
            <a:off x="1494790" y="2686685"/>
            <a:ext cx="219710" cy="24765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88950" y="3333750"/>
            <a:ext cx="222186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김동관</a:t>
            </a:r>
            <a:endParaRPr lang="en-US" sz="1800" dirty="0"/>
          </a:p>
        </p:txBody>
      </p:sp>
      <p:sp>
        <p:nvSpPr>
          <p:cNvPr id="30" name="Text 22"/>
          <p:cNvSpPr txBox="1"/>
          <p:nvPr/>
        </p:nvSpPr>
        <p:spPr>
          <a:xfrm>
            <a:off x="654050" y="4095750"/>
            <a:ext cx="18929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타겟변수 설계 &amp;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654050" y="4339590"/>
            <a:ext cx="18929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클러스터링 분석</a:t>
            </a:r>
            <a:endParaRPr lang="en-US" sz="1200" dirty="0"/>
          </a:p>
        </p:txBody>
      </p:sp>
      <p:pic>
        <p:nvPicPr>
          <p:cNvPr id="32" name="Image 6"/>
          <p:cNvPicPr>
            <a:picLocks noChangeAspect="1"/>
          </p:cNvPicPr>
          <p:nvPr/>
        </p:nvPicPr>
        <p:blipFill>
          <a:blip r:embed="rId7"/>
          <a:srcRect l="-606" r="-606" t="0" b="0"/>
          <a:stretch/>
        </p:blipFill>
        <p:spPr>
          <a:xfrm>
            <a:off x="3743325" y="2686685"/>
            <a:ext cx="219710" cy="24765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2736850" y="3333750"/>
            <a:ext cx="222186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김진숙</a:t>
            </a:r>
            <a:endParaRPr lang="en-US" sz="1800" dirty="0"/>
          </a:p>
        </p:txBody>
      </p:sp>
      <p:sp>
        <p:nvSpPr>
          <p:cNvPr id="34" name="Text 25"/>
          <p:cNvSpPr txBox="1"/>
          <p:nvPr/>
        </p:nvSpPr>
        <p:spPr>
          <a:xfrm>
            <a:off x="2936875" y="4095750"/>
            <a:ext cx="182308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 &amp;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파생변수 생성</a:t>
            </a:r>
            <a:endParaRPr lang="en-US" sz="1200" dirty="0"/>
          </a:p>
        </p:txBody>
      </p:sp>
      <p:pic>
        <p:nvPicPr>
          <p:cNvPr id="35" name="Image 7"/>
          <p:cNvPicPr>
            <a:picLocks noChangeAspect="1"/>
          </p:cNvPicPr>
          <p:nvPr/>
        </p:nvPicPr>
        <p:blipFill>
          <a:blip r:embed="rId8"/>
          <a:srcRect l="-606" r="-606" t="0" b="0"/>
          <a:stretch/>
        </p:blipFill>
        <p:spPr>
          <a:xfrm>
            <a:off x="5991225" y="2686685"/>
            <a:ext cx="219710" cy="24765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4985385" y="3333750"/>
            <a:ext cx="222186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이수진</a:t>
            </a:r>
            <a:endParaRPr lang="en-US" sz="1800" dirty="0"/>
          </a:p>
        </p:txBody>
      </p:sp>
      <p:sp>
        <p:nvSpPr>
          <p:cNvPr id="37" name="Text 27"/>
          <p:cNvSpPr txBox="1"/>
          <p:nvPr/>
        </p:nvSpPr>
        <p:spPr>
          <a:xfrm>
            <a:off x="5149850" y="4095750"/>
            <a:ext cx="18929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수집 &amp;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5149850" y="4339590"/>
            <a:ext cx="18929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병합</a:t>
            </a:r>
            <a:endParaRPr lang="en-US" sz="1200" dirty="0"/>
          </a:p>
        </p:txBody>
      </p:sp>
      <p:pic>
        <p:nvPicPr>
          <p:cNvPr id="39" name="Image 8"/>
          <p:cNvPicPr>
            <a:picLocks noChangeAspect="1"/>
          </p:cNvPicPr>
          <p:nvPr/>
        </p:nvPicPr>
        <p:blipFill>
          <a:blip r:embed="rId9"/>
          <a:srcRect l="-606" r="-606" t="0" b="0"/>
          <a:stretch/>
        </p:blipFill>
        <p:spPr>
          <a:xfrm>
            <a:off x="8238490" y="2686685"/>
            <a:ext cx="219710" cy="24765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232650" y="3333750"/>
            <a:ext cx="222186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신승원</a:t>
            </a:r>
            <a:endParaRPr lang="en-US" sz="1800" dirty="0"/>
          </a:p>
        </p:txBody>
      </p:sp>
      <p:sp>
        <p:nvSpPr>
          <p:cNvPr id="41" name="Text 30"/>
          <p:cNvSpPr txBox="1"/>
          <p:nvPr/>
        </p:nvSpPr>
        <p:spPr>
          <a:xfrm>
            <a:off x="7335520" y="4095750"/>
            <a:ext cx="2016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분석 &amp; 시각화</a:t>
            </a:r>
            <a:endParaRPr lang="en-US" sz="1200" dirty="0"/>
          </a:p>
        </p:txBody>
      </p:sp>
      <p:sp>
        <p:nvSpPr>
          <p:cNvPr id="42" name="Text 31"/>
          <p:cNvSpPr txBox="1"/>
          <p:nvPr/>
        </p:nvSpPr>
        <p:spPr>
          <a:xfrm>
            <a:off x="7335520" y="4276725"/>
            <a:ext cx="2016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&amp; 발표자료</a:t>
            </a:r>
            <a:endParaRPr lang="en-US" sz="1200" dirty="0"/>
          </a:p>
        </p:txBody>
      </p:sp>
      <p:pic>
        <p:nvPicPr>
          <p:cNvPr id="43" name="Image 9"/>
          <p:cNvPicPr>
            <a:picLocks noChangeAspect="1"/>
          </p:cNvPicPr>
          <p:nvPr/>
        </p:nvPicPr>
        <p:blipFill>
          <a:blip r:embed="rId10"/>
          <a:srcRect l="-606" r="-606" t="0" b="0"/>
          <a:stretch/>
        </p:blipFill>
        <p:spPr>
          <a:xfrm>
            <a:off x="10487025" y="2686685"/>
            <a:ext cx="219710" cy="24765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9480550" y="3333750"/>
            <a:ext cx="222186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윤도경</a:t>
            </a:r>
            <a:endParaRPr lang="en-US" sz="1800" dirty="0"/>
          </a:p>
        </p:txBody>
      </p:sp>
      <p:sp>
        <p:nvSpPr>
          <p:cNvPr id="45" name="Text 33"/>
          <p:cNvSpPr txBox="1"/>
          <p:nvPr/>
        </p:nvSpPr>
        <p:spPr>
          <a:xfrm>
            <a:off x="9645015" y="4095750"/>
            <a:ext cx="1892935" cy="18097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모델 학습 &amp; </a:t>
            </a:r>
            <a:endParaRPr lang="en-US" sz="1200" dirty="0"/>
          </a:p>
        </p:txBody>
      </p:sp>
      <p:sp>
        <p:nvSpPr>
          <p:cNvPr id="46" name="Text 34"/>
          <p:cNvSpPr txBox="1"/>
          <p:nvPr/>
        </p:nvSpPr>
        <p:spPr>
          <a:xfrm>
            <a:off x="9645015" y="4276725"/>
            <a:ext cx="1892935" cy="18097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하이퍼파라미터 튜닝</a:t>
            </a:r>
            <a:endParaRPr lang="en-US" sz="1200" dirty="0"/>
          </a:p>
        </p:txBody>
      </p:sp>
      <p:sp>
        <p:nvSpPr>
          <p:cNvPr id="48" name="도형 1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9" name="텍스트 상자 2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01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714500"/>
            <a:ext cx="4991100" cy="3086100"/>
          </a:xfrm>
          <a:prstGeom prst="roundRect">
            <a:avLst>
              <a:gd name="adj" fmla="val 2195"/>
            </a:avLst>
          </a:prstGeom>
          <a:solidFill>
            <a:srgbClr val="F8F9FA"/>
          </a:solidFill>
          <a:ln w="25400">
            <a:solidFill>
              <a:srgbClr val="EAEA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77000" y="1714500"/>
            <a:ext cx="4991100" cy="3086100"/>
          </a:xfrm>
          <a:prstGeom prst="roundRect">
            <a:avLst>
              <a:gd name="adj" fmla="val 2195"/>
            </a:avLst>
          </a:prstGeom>
          <a:solidFill>
            <a:srgbClr val="E8EEFF"/>
          </a:solidFill>
          <a:ln w="25400">
            <a:solidFill>
              <a:srgbClr val="1A35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5143500"/>
            <a:ext cx="10687685" cy="12573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14300" dist="38100" dir="16200000">
              <a:srgbClr val="000000">
                <a:alpha val="3000"/>
              </a:srgbClr>
            </a:outerShdw>
          </a:effectLst>
        </p:spPr>
      </p:sp>
      <p:pic>
        <p:nvPicPr>
          <p:cNvPr id="8" name="Image 0"/>
          <p:cNvPicPr>
            <a:picLocks noChangeAspect="1"/>
          </p:cNvPicPr>
          <p:nvPr/>
        </p:nvPicPr>
        <p:blipFill>
          <a:blip r:embed="rId1"/>
          <a:srcRect l="0" r="0" t="-396" b="-396"/>
          <a:stretch/>
        </p:blipFill>
        <p:spPr>
          <a:xfrm>
            <a:off x="1047750" y="2428875"/>
            <a:ext cx="4381500" cy="19050"/>
          </a:xfrm>
          <a:prstGeom prst="rect">
            <a:avLst/>
          </a:prstGeom>
        </p:spPr>
      </p:pic>
      <p:pic>
        <p:nvPicPr>
          <p:cNvPr id="9" name="Image 1"/>
          <p:cNvPicPr>
            <a:picLocks noChangeAspect="1"/>
          </p:cNvPicPr>
          <p:nvPr/>
        </p:nvPicPr>
        <p:blipFill>
          <a:blip r:embed="rId2"/>
          <a:srcRect l="0" r="0" t="-396" b="-396"/>
          <a:stretch/>
        </p:blipFill>
        <p:spPr>
          <a:xfrm>
            <a:off x="6762750" y="2428875"/>
            <a:ext cx="4381500" cy="19050"/>
          </a:xfrm>
          <a:prstGeom prst="rect">
            <a:avLst/>
          </a:prstGeom>
        </p:spPr>
      </p:pic>
      <p:pic>
        <p:nvPicPr>
          <p:cNvPr id="10" name="Image 2"/>
          <p:cNvPicPr>
            <a:picLocks noChangeAspect="1"/>
          </p:cNvPicPr>
          <p:nvPr/>
        </p:nvPicPr>
        <p:blipFill>
          <a:blip r:embed="rId3"/>
          <a:srcRect l="0" r="0" t="-195" b="-195"/>
          <a:stretch/>
        </p:blipFill>
        <p:spPr>
          <a:xfrm>
            <a:off x="762000" y="5143500"/>
            <a:ext cx="76200" cy="1238250"/>
          </a:xfrm>
          <a:prstGeom prst="rect">
            <a:avLst/>
          </a:prstGeom>
        </p:spPr>
      </p:pic>
      <p:pic>
        <p:nvPicPr>
          <p:cNvPr id="11" name="Image 3"/>
          <p:cNvPicPr>
            <a:picLocks noChangeAspect="1"/>
          </p:cNvPicPr>
          <p:nvPr/>
        </p:nvPicPr>
        <p:blipFill>
          <a:blip r:embed="rId4"/>
          <a:srcRect l="0" r="0" t="-2061" b="-2061"/>
          <a:stretch/>
        </p:blipFill>
        <p:spPr>
          <a:xfrm>
            <a:off x="4667250" y="5380990"/>
            <a:ext cx="8890" cy="7620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67400" y="3009900"/>
            <a:ext cx="476250" cy="476250"/>
          </a:xfrm>
          <a:prstGeom prst="roundRect">
            <a:avLst>
              <a:gd name="adj" fmla="val 18426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0000"/>
              </a:srgbClr>
            </a:outerShdw>
          </a:effectLst>
        </p:spPr>
      </p:sp>
      <p:sp>
        <p:nvSpPr>
          <p:cNvPr id="14" name="Text 8"/>
          <p:cNvSpPr txBox="1"/>
          <p:nvPr/>
        </p:nvSpPr>
        <p:spPr>
          <a:xfrm>
            <a:off x="1276350" y="50482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기획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7620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&amp; 기획 의도</a:t>
            </a:r>
            <a:endParaRPr lang="en-US" sz="3000" dirty="0"/>
          </a:p>
        </p:txBody>
      </p:sp>
      <p:pic>
        <p:nvPicPr>
          <p:cNvPr id="16" name="Image 4"/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43000" y="201930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466850" y="1981200"/>
            <a:ext cx="4000500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방식의 한계</a:t>
            </a:r>
            <a:endParaRPr lang="en-US" sz="1600" dirty="0"/>
          </a:p>
        </p:txBody>
      </p:sp>
      <p:pic>
        <p:nvPicPr>
          <p:cNvPr id="18" name="Image 5"/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1143000" y="2848610"/>
            <a:ext cx="133350" cy="1524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90650" y="2762250"/>
            <a:ext cx="419163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시점의 단편적 현황만 제공</a:t>
            </a:r>
            <a:endParaRPr lang="en-US" sz="1400" dirty="0"/>
          </a:p>
        </p:txBody>
      </p:sp>
      <p:pic>
        <p:nvPicPr>
          <p:cNvPr id="20" name="Image 6"/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1143000" y="3323590"/>
            <a:ext cx="133350" cy="1524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390650" y="3238500"/>
            <a:ext cx="419163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성장성에 대한 전망 부재</a:t>
            </a:r>
            <a:endParaRPr lang="en-US" sz="1400" dirty="0"/>
          </a:p>
        </p:txBody>
      </p:sp>
      <p:pic>
        <p:nvPicPr>
          <p:cNvPr id="22" name="Image 7"/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1143000" y="3800475"/>
            <a:ext cx="133350" cy="1524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390650" y="3715385"/>
            <a:ext cx="4077335" cy="51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행정동의 구조적 유형 구분 없이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잣대와 기준 적용</a:t>
            </a:r>
            <a:endParaRPr lang="en-US" sz="1400" dirty="0"/>
          </a:p>
        </p:txBody>
      </p:sp>
      <p:pic>
        <p:nvPicPr>
          <p:cNvPr id="24" name="Image 8"/>
          <p:cNvPicPr>
            <a:picLocks noChangeAspect="1"/>
          </p:cNvPicPr>
          <p:nvPr/>
        </p:nvPicPr>
        <p:blipFill>
          <a:blip r:embed="rId9"/>
          <a:srcRect l="-1923" r="-1923" t="0" b="0"/>
          <a:stretch/>
        </p:blipFill>
        <p:spPr>
          <a:xfrm>
            <a:off x="6034405" y="3138170"/>
            <a:ext cx="123190" cy="190500"/>
          </a:xfrm>
          <a:prstGeom prst="rect">
            <a:avLst/>
          </a:prstGeom>
        </p:spPr>
      </p:pic>
      <p:pic>
        <p:nvPicPr>
          <p:cNvPr id="25" name="Image 9"/>
          <p:cNvPicPr>
            <a:picLocks noChangeAspect="1"/>
          </p:cNvPicPr>
          <p:nvPr/>
        </p:nvPicPr>
        <p:blipFill>
          <a:blip r:embed="rId10"/>
          <a:srcRect l="-133" r="-133" t="0" b="0"/>
          <a:stretch/>
        </p:blipFill>
        <p:spPr>
          <a:xfrm>
            <a:off x="6858000" y="2019300"/>
            <a:ext cx="172085" cy="22860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181850" y="1981200"/>
            <a:ext cx="4000500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우리의 접근: 상권 활력 예측 모델</a:t>
            </a:r>
            <a:endParaRPr lang="en-US" sz="1600" dirty="0"/>
          </a:p>
        </p:txBody>
      </p:sp>
      <p:pic>
        <p:nvPicPr>
          <p:cNvPr id="27" name="Image 10"/>
          <p:cNvPicPr>
            <a:picLocks noChangeAspect="1"/>
          </p:cNvPicPr>
          <p:nvPr/>
        </p:nvPicPr>
        <p:blipFill>
          <a:blip r:embed="rId11"/>
          <a:srcRect l="-760" r="-760" t="0" b="0"/>
          <a:stretch/>
        </p:blipFill>
        <p:spPr>
          <a:xfrm>
            <a:off x="6858000" y="2812415"/>
            <a:ext cx="152400" cy="172085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7144385" y="2762250"/>
            <a:ext cx="419163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424개 행정동 × 23분기 시계열 데이터</a:t>
            </a:r>
            <a:endParaRPr lang="en-US" sz="1400" dirty="0"/>
          </a:p>
        </p:txBody>
      </p:sp>
      <p:pic>
        <p:nvPicPr>
          <p:cNvPr id="29" name="Image 11"/>
          <p:cNvPicPr>
            <a:picLocks noChangeAspect="1"/>
          </p:cNvPicPr>
          <p:nvPr/>
        </p:nvPicPr>
        <p:blipFill>
          <a:blip r:embed="rId12"/>
          <a:srcRect l="-760" r="-760" t="0" b="0"/>
          <a:stretch/>
        </p:blipFill>
        <p:spPr>
          <a:xfrm>
            <a:off x="6858000" y="3288030"/>
            <a:ext cx="152400" cy="172085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7144385" y="3238500"/>
            <a:ext cx="4114800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h=1~4 (최대 1년 후) 상권 활력 선행 예측</a:t>
            </a:r>
            <a:endParaRPr lang="en-US" sz="1400" dirty="0"/>
          </a:p>
        </p:txBody>
      </p:sp>
      <p:pic>
        <p:nvPicPr>
          <p:cNvPr id="31" name="Image 12"/>
          <p:cNvPicPr>
            <a:picLocks noChangeAspect="1"/>
          </p:cNvPicPr>
          <p:nvPr/>
        </p:nvPicPr>
        <p:blipFill>
          <a:blip r:embed="rId13"/>
          <a:srcRect l="-760" r="-760" t="0" b="0"/>
          <a:stretch/>
        </p:blipFill>
        <p:spPr>
          <a:xfrm>
            <a:off x="6858000" y="3764280"/>
            <a:ext cx="152400" cy="172085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7144385" y="3715385"/>
            <a:ext cx="419163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 기반 3개 클러스터로 상권 유형 분류</a:t>
            </a:r>
            <a:endParaRPr lang="en-US" sz="1400" dirty="0"/>
          </a:p>
        </p:txBody>
      </p:sp>
      <p:pic>
        <p:nvPicPr>
          <p:cNvPr id="33" name="Image 13"/>
          <p:cNvPicPr>
            <a:picLocks noChangeAspect="1"/>
          </p:cNvPicPr>
          <p:nvPr/>
        </p:nvPicPr>
        <p:blipFill>
          <a:blip r:embed="rId14"/>
          <a:srcRect l="-760" r="-760" t="0" b="0"/>
          <a:stretch/>
        </p:blipFill>
        <p:spPr>
          <a:xfrm>
            <a:off x="6858000" y="4241165"/>
            <a:ext cx="152400" cy="172085"/>
          </a:xfrm>
          <a:prstGeom prst="rect">
            <a:avLst/>
          </a:prstGeom>
        </p:spPr>
      </p:pic>
      <p:sp>
        <p:nvSpPr>
          <p:cNvPr id="34" name="Text 18"/>
          <p:cNvSpPr txBox="1"/>
          <p:nvPr/>
        </p:nvSpPr>
        <p:spPr>
          <a:xfrm>
            <a:off x="7144385" y="4191000"/>
            <a:ext cx="419163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 + 시계열 교차검증(CV) 적용</a:t>
            </a:r>
            <a:endParaRPr lang="en-US" sz="1400" dirty="0"/>
          </a:p>
        </p:txBody>
      </p:sp>
      <p:pic>
        <p:nvPicPr>
          <p:cNvPr id="35" name="Image 14"/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047750" y="5400675"/>
            <a:ext cx="209550" cy="209550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1371600" y="5380990"/>
            <a:ext cx="304863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배경</a:t>
            </a:r>
            <a:endParaRPr lang="en-US" sz="1500" dirty="0"/>
          </a:p>
        </p:txBody>
      </p:sp>
      <p:sp>
        <p:nvSpPr>
          <p:cNvPr id="37" name="Text 20"/>
          <p:cNvSpPr txBox="1"/>
          <p:nvPr/>
        </p:nvSpPr>
        <p:spPr>
          <a:xfrm>
            <a:off x="1047750" y="5810250"/>
            <a:ext cx="3505835" cy="48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저평가된 상권의 미래 성장력을 선제적으로 발굴하여 비즈니스 가치 창출</a:t>
            </a:r>
            <a:endParaRPr lang="en-US" sz="1200" dirty="0"/>
          </a:p>
        </p:txBody>
      </p:sp>
      <p:pic>
        <p:nvPicPr>
          <p:cNvPr id="38" name="Image 15"/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4953000" y="5400675"/>
            <a:ext cx="209550" cy="209550"/>
          </a:xfrm>
          <a:prstGeom prst="rect">
            <a:avLst/>
          </a:prstGeom>
        </p:spPr>
      </p:pic>
      <p:sp>
        <p:nvSpPr>
          <p:cNvPr id="39" name="Text 21"/>
          <p:cNvSpPr txBox="1"/>
          <p:nvPr/>
        </p:nvSpPr>
        <p:spPr>
          <a:xfrm>
            <a:off x="5276850" y="5380990"/>
            <a:ext cx="304863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활용 방안</a:t>
            </a:r>
            <a:endParaRPr lang="en-US" sz="1500" dirty="0"/>
          </a:p>
        </p:txBody>
      </p:sp>
      <p:pic>
        <p:nvPicPr>
          <p:cNvPr id="40" name="Image 16"/>
          <p:cNvPicPr>
            <a:picLocks noChangeAspect="1"/>
          </p:cNvPicPr>
          <p:nvPr/>
        </p:nvPicPr>
        <p:blipFill>
          <a:blip r:embed="rId17"/>
          <a:srcRect l="0" r="0" t="-301" b="-301"/>
          <a:stretch/>
        </p:blipFill>
        <p:spPr>
          <a:xfrm>
            <a:off x="4953000" y="5838190"/>
            <a:ext cx="76200" cy="152400"/>
          </a:xfrm>
          <a:prstGeom prst="rect">
            <a:avLst/>
          </a:prstGeom>
        </p:spPr>
      </p:pic>
      <p:sp>
        <p:nvSpPr>
          <p:cNvPr id="41" name="Text 22"/>
          <p:cNvSpPr txBox="1"/>
          <p:nvPr/>
        </p:nvSpPr>
        <p:spPr>
          <a:xfrm>
            <a:off x="5181600" y="5772785"/>
            <a:ext cx="6191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프랜차이즈·유통 기업의 신규 점포 입지 선정 및 확장 전략 수립</a:t>
            </a:r>
            <a:endParaRPr lang="en-US" sz="1200" dirty="0"/>
          </a:p>
        </p:txBody>
      </p:sp>
      <p:pic>
        <p:nvPicPr>
          <p:cNvPr id="42" name="Image 17"/>
          <p:cNvPicPr>
            <a:picLocks noChangeAspect="1"/>
          </p:cNvPicPr>
          <p:nvPr/>
        </p:nvPicPr>
        <p:blipFill>
          <a:blip r:embed="rId18"/>
          <a:srcRect l="0" r="0" t="-301" b="-301"/>
          <a:stretch/>
        </p:blipFill>
        <p:spPr>
          <a:xfrm>
            <a:off x="4953000" y="6124575"/>
            <a:ext cx="76200" cy="152400"/>
          </a:xfrm>
          <a:prstGeom prst="rect">
            <a:avLst/>
          </a:prstGeom>
        </p:spPr>
      </p:pic>
      <p:sp>
        <p:nvSpPr>
          <p:cNvPr id="43" name="Text 23"/>
          <p:cNvSpPr txBox="1"/>
          <p:nvPr/>
        </p:nvSpPr>
        <p:spPr>
          <a:xfrm>
            <a:off x="5181600" y="6057900"/>
            <a:ext cx="6191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유망 상권에 대한 마케팅 예산 집중 배분 및 저평가 상권 선제 진입</a:t>
            </a:r>
            <a:endParaRPr lang="en-US" sz="1200" dirty="0"/>
          </a:p>
        </p:txBody>
      </p:sp>
      <p:sp>
        <p:nvSpPr>
          <p:cNvPr id="45" name="도형 3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6" name="텍스트 상자 4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01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619250"/>
            <a:ext cx="3333750" cy="1524000"/>
          </a:xfrm>
          <a:prstGeom prst="roundRect">
            <a:avLst>
              <a:gd name="adj" fmla="val 8998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29125" y="1619250"/>
            <a:ext cx="3333750" cy="1524000"/>
          </a:xfrm>
          <a:prstGeom prst="roundRect">
            <a:avLst>
              <a:gd name="adj" fmla="val 8998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6250" y="1619250"/>
            <a:ext cx="3333750" cy="1524000"/>
          </a:xfrm>
          <a:prstGeom prst="roundRect">
            <a:avLst>
              <a:gd name="adj" fmla="val 8998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3333750"/>
            <a:ext cx="10687685" cy="2428875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14300" dist="38100" dir="16200000">
              <a:srgbClr val="000000">
                <a:alpha val="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2000" y="3333750"/>
            <a:ext cx="10687685" cy="38100"/>
          </a:xfrm>
          <a:prstGeom prst="roundRect">
            <a:avLst>
              <a:gd name="adj" fmla="val 149392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pic>
        <p:nvPicPr>
          <p:cNvPr id="10" name="Image 0"/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952500" y="3905250"/>
            <a:ext cx="10287000" cy="8890"/>
          </a:xfrm>
          <a:prstGeom prst="rect">
            <a:avLst/>
          </a:prstGeom>
        </p:spPr>
      </p:pic>
      <p:pic>
        <p:nvPicPr>
          <p:cNvPr id="11" name="Image 1"/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52500" y="4476750"/>
            <a:ext cx="10287000" cy="8890"/>
          </a:xfrm>
          <a:prstGeom prst="rect">
            <a:avLst/>
          </a:prstGeom>
        </p:spPr>
      </p:pic>
      <p:pic>
        <p:nvPicPr>
          <p:cNvPr id="12" name="Image 2"/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952500" y="5048250"/>
            <a:ext cx="10287000" cy="8890"/>
          </a:xfrm>
          <a:prstGeom prst="rect">
            <a:avLst/>
          </a:prstGeom>
        </p:spPr>
      </p:pic>
      <p:pic>
        <p:nvPicPr>
          <p:cNvPr id="13" name="Image 3"/>
          <p:cNvPicPr>
            <a:picLocks noChangeAspect="1"/>
          </p:cNvPicPr>
          <p:nvPr/>
        </p:nvPicPr>
        <p:blipFill>
          <a:blip r:embed="rId4"/>
          <a:srcRect l="0" r="0" t="-402" b="-402"/>
          <a:stretch/>
        </p:blipFill>
        <p:spPr>
          <a:xfrm>
            <a:off x="1429385" y="6238875"/>
            <a:ext cx="9334500" cy="381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333500" y="6143625"/>
            <a:ext cx="228600" cy="228600"/>
          </a:xfrm>
          <a:prstGeom prst="ellipse">
            <a:avLst/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3238500" y="6200775"/>
            <a:ext cx="172085" cy="17208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35B5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105400" y="6200775"/>
            <a:ext cx="172085" cy="17208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35B5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972300" y="6200775"/>
            <a:ext cx="172085" cy="17208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35B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839200" y="6200775"/>
            <a:ext cx="172085" cy="17208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35B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0629900" y="6143625"/>
            <a:ext cx="228600" cy="228600"/>
          </a:xfrm>
          <a:prstGeom prst="ellipse">
            <a:avLst/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276350" y="504825"/>
            <a:ext cx="25723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&amp; 전처리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620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개요</a:t>
            </a:r>
            <a:endParaRPr lang="en-US" sz="3000" dirty="0"/>
          </a:p>
        </p:txBody>
      </p:sp>
      <p:pic>
        <p:nvPicPr>
          <p:cNvPr id="23" name="Image 4"/>
          <p:cNvPicPr>
            <a:picLocks noChangeAspect="1"/>
          </p:cNvPicPr>
          <p:nvPr/>
        </p:nvPicPr>
        <p:blipFill>
          <a:blip r:embed="rId5"/>
          <a:srcRect l="-50" r="-50" t="0" b="0"/>
          <a:stretch/>
        </p:blipFill>
        <p:spPr>
          <a:xfrm>
            <a:off x="1047750" y="1905000"/>
            <a:ext cx="342900" cy="3048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47750" y="2333625"/>
            <a:ext cx="2872740" cy="438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7" kern="0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424개 행정동</a:t>
            </a:r>
            <a:endParaRPr lang="en-US" sz="2400" dirty="0"/>
          </a:p>
        </p:txBody>
      </p:sp>
      <p:sp>
        <p:nvSpPr>
          <p:cNvPr id="25" name="Text 18"/>
          <p:cNvSpPr txBox="1"/>
          <p:nvPr/>
        </p:nvSpPr>
        <p:spPr>
          <a:xfrm>
            <a:off x="1047750" y="2743200"/>
            <a:ext cx="29533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(둔촌2동 제외)</a:t>
            </a:r>
            <a:endParaRPr lang="en-US" sz="1200" dirty="0"/>
          </a:p>
        </p:txBody>
      </p:sp>
      <p:pic>
        <p:nvPicPr>
          <p:cNvPr id="26" name="Image 5"/>
          <p:cNvPicPr>
            <a:picLocks noChangeAspect="1"/>
          </p:cNvPicPr>
          <p:nvPr/>
        </p:nvPicPr>
        <p:blipFill>
          <a:blip r:embed="rId6"/>
          <a:srcRect l="-107" r="-107" t="0" b="0"/>
          <a:stretch/>
        </p:blipFill>
        <p:spPr>
          <a:xfrm>
            <a:off x="4714875" y="1905000"/>
            <a:ext cx="266700" cy="3048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714875" y="2333625"/>
            <a:ext cx="2872740" cy="438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7" kern="0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23분기</a:t>
            </a:r>
            <a:endParaRPr lang="en-US" sz="2400" dirty="0"/>
          </a:p>
        </p:txBody>
      </p:sp>
      <p:sp>
        <p:nvSpPr>
          <p:cNvPr id="28" name="Text 20"/>
          <p:cNvSpPr txBox="1"/>
          <p:nvPr/>
        </p:nvSpPr>
        <p:spPr>
          <a:xfrm>
            <a:off x="4714875" y="2743200"/>
            <a:ext cx="28727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(2020Q1 ~ 2025Q3)</a:t>
            </a:r>
            <a:endParaRPr lang="en-US" sz="1200" dirty="0"/>
          </a:p>
        </p:txBody>
      </p:sp>
      <p:pic>
        <p:nvPicPr>
          <p:cNvPr id="29" name="Image 6"/>
          <p:cNvPicPr>
            <a:picLocks noChangeAspect="1"/>
          </p:cNvPicPr>
          <p:nvPr/>
        </p:nvPicPr>
        <p:blipFill>
          <a:blip r:embed="rId7"/>
          <a:srcRect l="-50" r="-50" t="0" b="0"/>
          <a:stretch/>
        </p:blipFill>
        <p:spPr>
          <a:xfrm>
            <a:off x="8382000" y="1905000"/>
            <a:ext cx="342900" cy="3048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382000" y="2333625"/>
            <a:ext cx="2872740" cy="438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7" kern="0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19개 피처</a:t>
            </a:r>
            <a:endParaRPr lang="en-US" sz="2400" dirty="0"/>
          </a:p>
        </p:txBody>
      </p:sp>
      <p:sp>
        <p:nvSpPr>
          <p:cNvPr id="31" name="Text 22"/>
          <p:cNvSpPr txBox="1"/>
          <p:nvPr/>
        </p:nvSpPr>
        <p:spPr>
          <a:xfrm>
            <a:off x="8382000" y="2743200"/>
            <a:ext cx="29533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(상권 활력 예측 독립변수)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1333500" y="3571875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6286500" y="3571875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방법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1333500" y="4095750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열린데이터 광장</a:t>
            </a:r>
            <a:endParaRPr lang="en-US" sz="1500" dirty="0"/>
          </a:p>
        </p:txBody>
      </p:sp>
      <p:pic>
        <p:nvPicPr>
          <p:cNvPr id="35" name="Image 7"/>
          <p:cNvPicPr>
            <a:picLocks noChangeAspect="1"/>
          </p:cNvPicPr>
          <p:nvPr/>
        </p:nvPicPr>
        <p:blipFill>
          <a:blip r:embed="rId8"/>
          <a:srcRect l="-1064" r="-1064" t="0" b="0"/>
          <a:stretch/>
        </p:blipFill>
        <p:spPr>
          <a:xfrm>
            <a:off x="6286500" y="4135755"/>
            <a:ext cx="219710" cy="17208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572885" y="4095750"/>
            <a:ext cx="29718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API 연동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1333500" y="4667250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</a:t>
            </a:r>
            <a:endParaRPr lang="en-US" sz="1500" dirty="0"/>
          </a:p>
        </p:txBody>
      </p:sp>
      <p:pic>
        <p:nvPicPr>
          <p:cNvPr id="38" name="Image 8"/>
          <p:cNvPicPr>
            <a:picLocks noChangeAspect="1"/>
          </p:cNvPicPr>
          <p:nvPr/>
        </p:nvPicPr>
        <p:blipFill>
          <a:blip r:embed="rId9"/>
          <a:srcRect l="-1773" r="-1773" t="0" b="0"/>
          <a:stretch/>
        </p:blipFill>
        <p:spPr>
          <a:xfrm>
            <a:off x="6286500" y="4707255"/>
            <a:ext cx="133350" cy="172085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572885" y="4667250"/>
            <a:ext cx="304863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원시 데이터 파일 다운로드</a:t>
            </a:r>
            <a:endParaRPr lang="en-US" sz="1500" dirty="0"/>
          </a:p>
        </p:txBody>
      </p:sp>
      <p:sp>
        <p:nvSpPr>
          <p:cNvPr id="40" name="Text 29"/>
          <p:cNvSpPr txBox="1"/>
          <p:nvPr/>
        </p:nvSpPr>
        <p:spPr>
          <a:xfrm>
            <a:off x="1333500" y="5238750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상권분석 서비스</a:t>
            </a:r>
            <a:endParaRPr lang="en-US" sz="1500" dirty="0"/>
          </a:p>
        </p:txBody>
      </p:sp>
      <p:pic>
        <p:nvPicPr>
          <p:cNvPr id="41" name="Image 9"/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286500" y="5278755"/>
            <a:ext cx="172085" cy="172085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6572885" y="5238750"/>
            <a:ext cx="29718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크롤링 (Crawling)</a:t>
            </a:r>
            <a:endParaRPr lang="en-US" sz="1500" dirty="0"/>
          </a:p>
        </p:txBody>
      </p:sp>
      <p:sp>
        <p:nvSpPr>
          <p:cNvPr id="43" name="Text 31"/>
          <p:cNvSpPr txBox="1"/>
          <p:nvPr/>
        </p:nvSpPr>
        <p:spPr>
          <a:xfrm>
            <a:off x="762000" y="585787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타임라인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914400" y="6458585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 Q1</a:t>
            </a:r>
            <a:endParaRPr lang="en-US" sz="1300" dirty="0"/>
          </a:p>
        </p:txBody>
      </p:sp>
      <p:sp>
        <p:nvSpPr>
          <p:cNvPr id="45" name="Text 33"/>
          <p:cNvSpPr txBox="1"/>
          <p:nvPr/>
        </p:nvSpPr>
        <p:spPr>
          <a:xfrm>
            <a:off x="2971800" y="6438900"/>
            <a:ext cx="64833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</a:t>
            </a:r>
            <a:endParaRPr lang="en-US" sz="1000" dirty="0"/>
          </a:p>
        </p:txBody>
      </p:sp>
      <p:sp>
        <p:nvSpPr>
          <p:cNvPr id="46" name="Text 34"/>
          <p:cNvSpPr txBox="1"/>
          <p:nvPr/>
        </p:nvSpPr>
        <p:spPr>
          <a:xfrm>
            <a:off x="4838700" y="6438900"/>
            <a:ext cx="64833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</a:t>
            </a:r>
            <a:endParaRPr lang="en-US" sz="1000" dirty="0"/>
          </a:p>
        </p:txBody>
      </p:sp>
      <p:sp>
        <p:nvSpPr>
          <p:cNvPr id="47" name="Text 35"/>
          <p:cNvSpPr txBox="1"/>
          <p:nvPr/>
        </p:nvSpPr>
        <p:spPr>
          <a:xfrm>
            <a:off x="6705600" y="6438900"/>
            <a:ext cx="64833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</a:t>
            </a:r>
            <a:endParaRPr lang="en-US" sz="1000" dirty="0"/>
          </a:p>
        </p:txBody>
      </p:sp>
      <p:sp>
        <p:nvSpPr>
          <p:cNvPr id="48" name="Text 36"/>
          <p:cNvSpPr txBox="1"/>
          <p:nvPr/>
        </p:nvSpPr>
        <p:spPr>
          <a:xfrm>
            <a:off x="8572500" y="6438900"/>
            <a:ext cx="64833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</a:t>
            </a:r>
            <a:endParaRPr lang="en-US" sz="1000" dirty="0"/>
          </a:p>
        </p:txBody>
      </p:sp>
      <p:sp>
        <p:nvSpPr>
          <p:cNvPr id="49" name="Text 37"/>
          <p:cNvSpPr txBox="1"/>
          <p:nvPr/>
        </p:nvSpPr>
        <p:spPr>
          <a:xfrm>
            <a:off x="10210800" y="6458585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Q3</a:t>
            </a:r>
            <a:endParaRPr lang="en-US" sz="1300" dirty="0"/>
          </a:p>
        </p:txBody>
      </p:sp>
      <p:pic>
        <p:nvPicPr>
          <p:cNvPr id="50" name="Image 10"/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943600" y="5905500"/>
            <a:ext cx="228600" cy="228600"/>
          </a:xfrm>
          <a:prstGeom prst="rect">
            <a:avLst/>
          </a:prstGeom>
        </p:spPr>
      </p:pic>
      <p:sp>
        <p:nvSpPr>
          <p:cNvPr id="52" name="도형 7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3" name="텍스트 상자 8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/>
          <p:cNvPicPr>
            <a:picLocks noChangeAspect="1"/>
          </p:cNvPicPr>
          <p:nvPr/>
        </p:nvPicPr>
        <p:blipFill>
          <a:blip r:embed="rId1"/>
          <a:srcRect l="-15" r="-15" t="0" b="0"/>
          <a:stretch/>
        </p:blipFill>
        <p:spPr>
          <a:xfrm>
            <a:off x="237490" y="1905000"/>
            <a:ext cx="2190750" cy="666750"/>
          </a:xfrm>
          <a:prstGeom prst="rect">
            <a:avLst/>
          </a:prstGeom>
        </p:spPr>
      </p:pic>
      <p:pic>
        <p:nvPicPr>
          <p:cNvPr id="6" name="Image 1" descr="C:/Users/Kim dong gwan/AppData/Roaming/PolarisOffice/ETemp/17048_16254952/image-7-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" r="-7"/>
          <a:stretch>
            <a:fillRect/>
          </a:stretch>
        </p:blipFill>
        <p:spPr>
          <a:xfrm rot="0">
            <a:off x="228600" y="2572385"/>
            <a:ext cx="2191385" cy="3521075"/>
          </a:xfrm>
          <a:prstGeom prst="rect"/>
          <a:noFill/>
        </p:spPr>
      </p:pic>
      <p:pic>
        <p:nvPicPr>
          <p:cNvPr id="7" name="Image 2"/>
          <p:cNvPicPr>
            <a:picLocks noChangeAspect="1"/>
          </p:cNvPicPr>
          <p:nvPr/>
        </p:nvPicPr>
        <p:blipFill>
          <a:blip r:embed="rId3"/>
          <a:srcRect l="-15" r="-15" t="0" b="0"/>
          <a:stretch/>
        </p:blipFill>
        <p:spPr>
          <a:xfrm>
            <a:off x="2620010" y="1905000"/>
            <a:ext cx="2190750" cy="666750"/>
          </a:xfrm>
          <a:prstGeom prst="rect">
            <a:avLst/>
          </a:prstGeom>
        </p:spPr>
      </p:pic>
      <p:pic>
        <p:nvPicPr>
          <p:cNvPr id="8" name="Image 3" descr="C:/Users/Kim dong gwan/AppData/Roaming/PolarisOffice/ETemp/17048_16254952/image-7-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" r="-7"/>
          <a:stretch>
            <a:fillRect/>
          </a:stretch>
        </p:blipFill>
        <p:spPr>
          <a:xfrm rot="0">
            <a:off x="2611120" y="2572385"/>
            <a:ext cx="2191385" cy="3521075"/>
          </a:xfrm>
          <a:prstGeom prst="rect"/>
          <a:noFill/>
        </p:spPr>
      </p:pic>
      <p:pic>
        <p:nvPicPr>
          <p:cNvPr id="9" name="Image 4"/>
          <p:cNvPicPr>
            <a:picLocks noChangeAspect="1"/>
          </p:cNvPicPr>
          <p:nvPr/>
        </p:nvPicPr>
        <p:blipFill>
          <a:blip r:embed="rId5"/>
          <a:srcRect l="-15" r="-15" t="0" b="0"/>
          <a:stretch/>
        </p:blipFill>
        <p:spPr>
          <a:xfrm>
            <a:off x="5000625" y="1905000"/>
            <a:ext cx="2190750" cy="666750"/>
          </a:xfrm>
          <a:prstGeom prst="rect">
            <a:avLst/>
          </a:prstGeom>
        </p:spPr>
      </p:pic>
      <p:pic>
        <p:nvPicPr>
          <p:cNvPr id="10" name="Image 5" descr="C:/Users/Kim dong gwan/AppData/Roaming/PolarisOffice/ETemp/17048_16254952/image-7-6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" r="-7"/>
          <a:stretch>
            <a:fillRect/>
          </a:stretch>
        </p:blipFill>
        <p:spPr>
          <a:xfrm rot="0">
            <a:off x="4991735" y="2572385"/>
            <a:ext cx="2191385" cy="3521075"/>
          </a:xfrm>
          <a:prstGeom prst="rect"/>
          <a:noFill/>
        </p:spPr>
      </p:pic>
      <p:pic>
        <p:nvPicPr>
          <p:cNvPr id="11" name="Image 6"/>
          <p:cNvPicPr>
            <a:picLocks noChangeAspect="1"/>
          </p:cNvPicPr>
          <p:nvPr/>
        </p:nvPicPr>
        <p:blipFill>
          <a:blip r:embed="rId7"/>
          <a:srcRect l="-15" r="-15" t="0" b="0"/>
          <a:stretch/>
        </p:blipFill>
        <p:spPr>
          <a:xfrm>
            <a:off x="7381875" y="1905000"/>
            <a:ext cx="2190750" cy="666750"/>
          </a:xfrm>
          <a:prstGeom prst="rect">
            <a:avLst/>
          </a:prstGeom>
        </p:spPr>
      </p:pic>
      <p:pic>
        <p:nvPicPr>
          <p:cNvPr id="12" name="Image 7" descr="C:/Users/Kim dong gwan/AppData/Roaming/PolarisOffice/ETemp/17048_16254952/image-7-8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" r="-7"/>
          <a:stretch>
            <a:fillRect/>
          </a:stretch>
        </p:blipFill>
        <p:spPr>
          <a:xfrm rot="0">
            <a:off x="7381875" y="2572385"/>
            <a:ext cx="2191385" cy="3521075"/>
          </a:xfrm>
          <a:prstGeom prst="rect"/>
          <a:noFill/>
        </p:spPr>
      </p:pic>
      <p:pic>
        <p:nvPicPr>
          <p:cNvPr id="13" name="Image 8"/>
          <p:cNvPicPr>
            <a:picLocks noChangeAspect="1"/>
          </p:cNvPicPr>
          <p:nvPr/>
        </p:nvPicPr>
        <p:blipFill>
          <a:blip r:embed="rId9"/>
          <a:srcRect l="-15" r="-15" t="0" b="0"/>
          <a:stretch/>
        </p:blipFill>
        <p:spPr>
          <a:xfrm>
            <a:off x="9763125" y="1905000"/>
            <a:ext cx="2190750" cy="666750"/>
          </a:xfrm>
          <a:prstGeom prst="rect">
            <a:avLst/>
          </a:prstGeom>
        </p:spPr>
      </p:pic>
      <p:pic>
        <p:nvPicPr>
          <p:cNvPr id="14" name="Image 9" descr="C:/Users/Kim dong gwan/AppData/Roaming/PolarisOffice/ETemp/17048_16254952/image-7-10.png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" r="-7"/>
          <a:stretch>
            <a:fillRect/>
          </a:stretch>
        </p:blipFill>
        <p:spPr>
          <a:xfrm rot="0">
            <a:off x="9763125" y="2572385"/>
            <a:ext cx="2191385" cy="3521075"/>
          </a:xfrm>
          <a:prstGeom prst="rect"/>
          <a:noFill/>
        </p:spPr>
      </p:pic>
      <p:sp>
        <p:nvSpPr>
          <p:cNvPr id="17" name="Text 5"/>
          <p:cNvSpPr txBox="1"/>
          <p:nvPr/>
        </p:nvSpPr>
        <p:spPr>
          <a:xfrm>
            <a:off x="5715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 흐름</a:t>
            </a:r>
            <a:endParaRPr lang="en-US" sz="3000" dirty="0"/>
          </a:p>
        </p:txBody>
      </p:sp>
      <p:sp>
        <p:nvSpPr>
          <p:cNvPr id="18" name="Text 6"/>
          <p:cNvSpPr txBox="1"/>
          <p:nvPr/>
        </p:nvSpPr>
        <p:spPr>
          <a:xfrm>
            <a:off x="200025" y="2019300"/>
            <a:ext cx="2267585" cy="51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BE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01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병합</a:t>
            </a:r>
            <a:endParaRPr lang="en-US" sz="1200" dirty="0"/>
          </a:p>
        </p:txBody>
      </p:sp>
      <p:pic>
        <p:nvPicPr>
          <p:cNvPr id="20" name="Image 10"/>
          <p:cNvPicPr>
            <a:picLocks noChangeAspect="1"/>
          </p:cNvPicPr>
          <p:nvPr/>
        </p:nvPicPr>
        <p:blipFill>
          <a:blip r:embed="rId11"/>
          <a:srcRect l="-21233" r="-21233" t="0" b="0"/>
          <a:stretch/>
        </p:blipFill>
        <p:spPr>
          <a:xfrm>
            <a:off x="2428875" y="3810000"/>
            <a:ext cx="237490" cy="266700"/>
          </a:xfrm>
          <a:prstGeom prst="rect">
            <a:avLst/>
          </a:prstGeom>
        </p:spPr>
      </p:pic>
      <p:sp>
        <p:nvSpPr>
          <p:cNvPr id="21" name="Text 8"/>
          <p:cNvSpPr txBox="1"/>
          <p:nvPr/>
        </p:nvSpPr>
        <p:spPr>
          <a:xfrm>
            <a:off x="2581275" y="2019300"/>
            <a:ext cx="2267585" cy="51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BE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02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결측치 처리</a:t>
            </a:r>
            <a:endParaRPr lang="en-US" sz="1200" dirty="0"/>
          </a:p>
        </p:txBody>
      </p:sp>
      <p:sp>
        <p:nvSpPr>
          <p:cNvPr id="22" name="Text 9"/>
          <p:cNvSpPr txBox="1"/>
          <p:nvPr/>
        </p:nvSpPr>
        <p:spPr>
          <a:xfrm>
            <a:off x="2762250" y="2809875"/>
            <a:ext cx="1981835" cy="274383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</a:t>
            </a:r>
            <a:r>
              <a:rPr lang="en-US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• 추정매출액</a:t>
            </a:r>
            <a:endParaRPr lang="ko-KR" altLang="en-US" sz="11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-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행정동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항동의 경우 </a:t>
            </a: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비례배분 적용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/>
          </a:p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• 임대시세·직장인구</a:t>
            </a:r>
            <a:endParaRPr lang="ko-KR" altLang="en-US" sz="11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- 0으로 대체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결측 여부 더미 추가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/>
          </a:p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• 집객시설</a:t>
            </a:r>
            <a:endParaRPr lang="ko-KR" altLang="en-US" sz="11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- 202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Q4 데이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터로</a:t>
            </a: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025년 데이터 결측치 </a:t>
            </a: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대체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/>
          </a:p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• 둔촌2동</a:t>
            </a:r>
            <a:endParaRPr lang="ko-KR" altLang="en-US" sz="11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-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020Q1 ~ 2024Q4까지의 데이터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가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없어 제외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23" name="Image 11"/>
          <p:cNvPicPr>
            <a:picLocks noChangeAspect="1"/>
          </p:cNvPicPr>
          <p:nvPr/>
        </p:nvPicPr>
        <p:blipFill>
          <a:blip r:embed="rId12"/>
          <a:srcRect l="-21233" r="-21233" t="0" b="0"/>
          <a:stretch/>
        </p:blipFill>
        <p:spPr>
          <a:xfrm>
            <a:off x="4809490" y="3810000"/>
            <a:ext cx="237490" cy="266700"/>
          </a:xfrm>
          <a:prstGeom prst="rect">
            <a:avLst/>
          </a:prstGeom>
        </p:spPr>
      </p:pic>
      <p:sp>
        <p:nvSpPr>
          <p:cNvPr id="24" name="Text 10"/>
          <p:cNvSpPr txBox="1"/>
          <p:nvPr/>
        </p:nvSpPr>
        <p:spPr>
          <a:xfrm>
            <a:off x="4962525" y="2019300"/>
            <a:ext cx="2267585" cy="51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BE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03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파생변수 생성</a:t>
            </a:r>
            <a:endParaRPr lang="en-US" sz="1200" dirty="0"/>
          </a:p>
        </p:txBody>
      </p:sp>
      <p:sp>
        <p:nvSpPr>
          <p:cNvPr id="25" name="Text 11"/>
          <p:cNvSpPr txBox="1">
            <a:spLocks/>
          </p:cNvSpPr>
          <p:nvPr/>
        </p:nvSpPr>
        <p:spPr>
          <a:xfrm rot="0">
            <a:off x="5095875" y="2714625"/>
            <a:ext cx="2077085" cy="300164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</a:t>
            </a:r>
            <a:r>
              <a:rPr lang="en-US" sz="10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• 상권기본지표 도출</a:t>
            </a:r>
            <a:endParaRPr lang="ko-KR" altLang="en-US" sz="10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000">
              <a:latin typeface="Pretendard" charset="0"/>
              <a:ea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• 변화율지표</a:t>
            </a:r>
            <a:endParaRPr lang="ko-KR" altLang="en-US" sz="10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YoY(전년동기대비)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QoQ(전분기대비)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000">
              <a:latin typeface="Pretendard" charset="0"/>
              <a:ea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• 추세지표</a:t>
            </a:r>
            <a:endParaRPr lang="ko-KR" altLang="en-US" sz="10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Rolling 4분기 이동평균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000">
              <a:latin typeface="Pretendard" charset="0"/>
              <a:ea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• 클러스터링 활용 변수 생성</a:t>
            </a:r>
            <a:endParaRPr lang="ko-KR" altLang="en-US" sz="10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 xml:space="preserve"> </a:t>
            </a:r>
            <a:r>
              <a:rPr lang="ko-KR" sz="10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-</a:t>
            </a:r>
            <a:r>
              <a:rPr lang="ko-KR" sz="10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 xml:space="preserve"> </a:t>
            </a:r>
            <a:r>
              <a:rPr lang="en-US" sz="10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등록인구밀도, 직장인구밀도, 유동인구밀도,</a:t>
            </a:r>
            <a:r>
              <a:rPr lang="ko-KR" sz="10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 xml:space="preserve"> </a:t>
            </a:r>
            <a:r>
              <a:rPr lang="en-US" sz="10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 xml:space="preserve">집객시설밀도, 유동/등록비율, 유동/직장비율, 프랜차이즈비율, 직장비율, 유동1인당매출, 등록1인당지출, 전체_임대시세, 상권변동성 </a:t>
            </a:r>
            <a:endParaRPr lang="ko-KR" altLang="en-US" sz="1000" b="1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26" name="Image 12" descr="C:/Users/Kim dong gwan/AppData/Roaming/PolarisOffice/ETemp/17048_16254952/image-7-1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233" r="-21233"/>
          <a:stretch>
            <a:fillRect/>
          </a:stretch>
        </p:blipFill>
        <p:spPr>
          <a:xfrm rot="0">
            <a:off x="7192010" y="3810000"/>
            <a:ext cx="238125" cy="267335"/>
          </a:xfrm>
          <a:prstGeom prst="rect"/>
          <a:noFill/>
        </p:spPr>
      </p:pic>
      <p:sp>
        <p:nvSpPr>
          <p:cNvPr id="27" name="Text 12"/>
          <p:cNvSpPr txBox="1"/>
          <p:nvPr/>
        </p:nvSpPr>
        <p:spPr>
          <a:xfrm>
            <a:off x="7343775" y="2019300"/>
            <a:ext cx="2267585" cy="51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BE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04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왜도 보정</a:t>
            </a:r>
            <a:endParaRPr lang="en-US" sz="1200" dirty="0"/>
          </a:p>
        </p:txBody>
      </p:sp>
      <p:sp>
        <p:nvSpPr>
          <p:cNvPr id="28" name="Text 13"/>
          <p:cNvSpPr txBox="1">
            <a:spLocks/>
          </p:cNvSpPr>
          <p:nvPr/>
        </p:nvSpPr>
        <p:spPr>
          <a:xfrm rot="0">
            <a:off x="7524750" y="2791460"/>
            <a:ext cx="1981835" cy="2515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• 데이터 비대칭성 진단</a:t>
            </a:r>
            <a:endParaRPr lang="ko-KR" altLang="en-US" sz="11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왜도(Skewness) ≥ 1.5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/>
          </a:p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• 보정 방법 적용</a:t>
            </a:r>
            <a:endParaRPr lang="ko-KR" altLang="en-US" sz="11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log(1+x) 변환 수행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정규 분포 근사화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/>
          </a:p>
          <a:p>
            <a:pPr marL="0" indent="0" algn="l">
              <a:buFontTx/>
              <a:buNone/>
            </a:pPr>
            <a:endParaRPr lang="ko-KR" altLang="en-US" sz="1100" b="1"/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1A35B5"/>
                </a:solidFill>
                <a:latin typeface="Pretendard" charset="0"/>
                <a:ea typeface="Pretendard" charset="0"/>
                <a:cs typeface="Pretendard" charset="0"/>
              </a:rPr>
              <a:t>※ 주의사항</a:t>
            </a:r>
            <a:endParaRPr lang="ko-KR" altLang="en-US" sz="1000" b="1">
              <a:solidFill>
                <a:srgbClr val="1A35B5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Pretendard" charset="0"/>
                <a:ea typeface="Pretendard" charset="0"/>
                <a:cs typeface="Pretendard" charset="0"/>
              </a:rPr>
              <a:t>왜도 보정은 모델 학습용 변수에 한정하여 적용됨</a:t>
            </a:r>
            <a:endParaRPr lang="ko-KR" altLang="en-US" sz="900" b="1">
              <a:solidFill>
                <a:srgbClr val="55555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29" name="Image 13" descr="C:/Users/Kim dong gwan/AppData/Roaming/PolarisOffice/ETemp/17048_16254952/image-7-14.png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233" r="-21233"/>
          <a:stretch>
            <a:fillRect/>
          </a:stretch>
        </p:blipFill>
        <p:spPr>
          <a:xfrm rot="0">
            <a:off x="9572625" y="3810000"/>
            <a:ext cx="238125" cy="267335"/>
          </a:xfrm>
          <a:prstGeom prst="rect"/>
          <a:noFill/>
        </p:spPr>
      </p:pic>
      <p:sp>
        <p:nvSpPr>
          <p:cNvPr id="30" name="Text 14"/>
          <p:cNvSpPr txBox="1"/>
          <p:nvPr/>
        </p:nvSpPr>
        <p:spPr>
          <a:xfrm>
            <a:off x="9724390" y="2019300"/>
            <a:ext cx="2267585" cy="51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BE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05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구조</a:t>
            </a:r>
            <a:endParaRPr lang="en-US" sz="1200" dirty="0"/>
          </a:p>
        </p:txBody>
      </p:sp>
      <p:sp>
        <p:nvSpPr>
          <p:cNvPr id="31" name="Text 15"/>
          <p:cNvSpPr txBox="1">
            <a:spLocks/>
          </p:cNvSpPr>
          <p:nvPr/>
        </p:nvSpPr>
        <p:spPr>
          <a:xfrm rot="0">
            <a:off x="9906000" y="3086100"/>
            <a:ext cx="1981835" cy="253428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• 선행 예측 구조 설계</a:t>
            </a:r>
            <a:endParaRPr lang="ko-KR" altLang="en-US" sz="11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200" b="1">
                <a:solidFill>
                  <a:srgbClr val="1A35B5"/>
                </a:solidFill>
                <a:latin typeface="Pretendard" charset="0"/>
                <a:ea typeface="Pretendard" charset="0"/>
                <a:cs typeface="Pretendard" charset="0"/>
              </a:rPr>
              <a:t>Y(t+h) = X(t)</a:t>
            </a:r>
            <a:endParaRPr lang="ko-KR" altLang="en-US" sz="1200" b="1">
              <a:solidFill>
                <a:srgbClr val="1A35B5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/>
          </a:p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• 예측 시계열 (Horizon)</a:t>
            </a:r>
            <a:endParaRPr lang="ko-KR" altLang="en-US" sz="11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h = 1 (1분기 후)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h = 2 (2분기 후)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h = 3 (3분기 후)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 h = 4 (4분기 후)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/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1A35B5"/>
                </a:solidFill>
                <a:latin typeface="Pretendard" charset="0"/>
                <a:ea typeface="Pretendard" charset="0"/>
                <a:cs typeface="Pretendard" charset="0"/>
              </a:rPr>
              <a:t>→ 시계열별 모델 4개 생성</a:t>
            </a:r>
            <a:endParaRPr lang="ko-KR" altLang="en-US" sz="1000" b="1">
              <a:solidFill>
                <a:srgbClr val="1A35B5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1A35B5"/>
                </a:solidFill>
                <a:latin typeface="Pretendard" charset="0"/>
                <a:ea typeface="Pretendard" charset="0"/>
                <a:cs typeface="Pretendard" charset="0"/>
              </a:rPr>
              <a:t>개별 데이터셋 구축</a:t>
            </a:r>
            <a:endParaRPr lang="ko-KR" altLang="en-US" sz="1000" b="1">
              <a:solidFill>
                <a:srgbClr val="1A35B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3" name="텍스트 상자 36"/>
          <p:cNvSpPr txBox="1">
            <a:spLocks/>
          </p:cNvSpPr>
          <p:nvPr/>
        </p:nvSpPr>
        <p:spPr>
          <a:xfrm rot="0">
            <a:off x="1276350" y="504825"/>
            <a:ext cx="2573020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데이터 수집 &amp; 전처리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4" name="도형 37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5" name="텍스트 상자 38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6" name="텍스트 상자 62"/>
          <p:cNvSpPr txBox="1">
            <a:spLocks/>
          </p:cNvSpPr>
          <p:nvPr/>
        </p:nvSpPr>
        <p:spPr>
          <a:xfrm rot="0">
            <a:off x="344805" y="2881630"/>
            <a:ext cx="1981835" cy="27438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</a:t>
            </a:r>
            <a:r>
              <a:rPr lang="en-US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• </a:t>
            </a:r>
            <a:r>
              <a:rPr lang="ko-KR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행정동 </a:t>
            </a:r>
            <a:r>
              <a:rPr lang="ko-KR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병합</a:t>
            </a:r>
            <a:endParaRPr lang="ko-KR" altLang="en-US" sz="11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-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행정동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코드, 연도, 분기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3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개 기준 병합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/>
          </a:p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• </a:t>
            </a:r>
            <a:r>
              <a:rPr lang="ko-KR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서울열린데이터 </a:t>
            </a:r>
            <a:r>
              <a:rPr lang="ko-KR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광장 API</a:t>
            </a:r>
            <a:endParaRPr lang="ko-KR" altLang="en-US" sz="11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-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유동인구, 매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출,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 점포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등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각 행정동 코드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,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 연도, 분기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에 따라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병합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/>
          </a:p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•</a:t>
            </a:r>
            <a:r>
              <a:rPr lang="ko-KR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</a:t>
            </a:r>
            <a:r>
              <a:rPr lang="ko-KR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통계청 데이터 병합</a:t>
            </a:r>
            <a:endParaRPr lang="ko-KR" altLang="en-US" sz="11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-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등록인구,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 직장인구 등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각 행정동 코드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,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 연도, 분기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에 따라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병합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100" b="1"/>
          </a:p>
          <a:p>
            <a:pPr marL="0" indent="0" algn="l">
              <a:buFontTx/>
              <a:buNone/>
            </a:pPr>
            <a:r>
              <a:rPr lang="en-US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 • </a:t>
            </a:r>
            <a:r>
              <a:rPr lang="ko-KR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서울시 </a:t>
            </a:r>
            <a:r>
              <a:rPr lang="ko-KR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상</a:t>
            </a:r>
            <a:r>
              <a:rPr lang="ko-KR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 xml:space="preserve">권분석 </a:t>
            </a:r>
            <a:r>
              <a:rPr lang="ko-KR" sz="1100" b="1">
                <a:solidFill>
                  <a:srgbClr val="333333"/>
                </a:solidFill>
                <a:latin typeface="Pretendard" charset="0"/>
                <a:ea typeface="Pretendard" charset="0"/>
                <a:cs typeface="Pretendard" charset="0"/>
              </a:rPr>
              <a:t>서비스</a:t>
            </a:r>
            <a:endParaRPr lang="ko-KR" altLang="en-US" sz="1100" b="1">
              <a:solidFill>
                <a:srgbClr val="333333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-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임대시세,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 집객시설 등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각 행정동 코드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,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 연도, 분기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 xml:space="preserve">에 따라 </a:t>
            </a:r>
            <a:r>
              <a:rPr lang="ko-KR" sz="1000" b="1">
                <a:solidFill>
                  <a:srgbClr val="666666"/>
                </a:solidFill>
                <a:latin typeface="Pretendard" charset="0"/>
                <a:ea typeface="Pretendard" charset="0"/>
                <a:cs typeface="Pretendard" charset="0"/>
              </a:rPr>
              <a:t>병합</a:t>
            </a:r>
            <a:endParaRPr lang="ko-KR" altLang="en-US" sz="1000" b="1">
              <a:solidFill>
                <a:srgbClr val="666666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2000" y="476250"/>
            <a:ext cx="419100" cy="266700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3500" y="1714500"/>
            <a:ext cx="9563100" cy="990600"/>
          </a:xfrm>
          <a:prstGeom prst="roundRect">
            <a:avLst>
              <a:gd name="adj" fmla="val 21308"/>
            </a:avLst>
          </a:prstGeom>
          <a:solidFill>
            <a:srgbClr val="E8EEFF"/>
          </a:solidFill>
          <a:ln w="25400">
            <a:solidFill>
              <a:srgbClr val="1A35B5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333500" y="3048000"/>
            <a:ext cx="2971800" cy="2152650"/>
          </a:xfrm>
          <a:prstGeom prst="roundRect">
            <a:avLst>
              <a:gd name="adj" fmla="val 300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4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1333500" y="3048000"/>
            <a:ext cx="2971800" cy="47625"/>
          </a:xfrm>
          <a:prstGeom prst="roundRect">
            <a:avLst>
              <a:gd name="adj" fmla="val 136146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pic>
        <p:nvPicPr>
          <p:cNvPr id="11" name="Image 3"/>
          <p:cNvPicPr>
            <a:picLocks noChangeAspect="1"/>
          </p:cNvPicPr>
          <p:nvPr/>
        </p:nvPicPr>
        <p:blipFill>
          <a:blip r:embed="rId4"/>
          <a:srcRect l="-2078" r="-2078" t="0" b="0"/>
          <a:stretch/>
        </p:blipFill>
        <p:spPr>
          <a:xfrm>
            <a:off x="1619250" y="3666490"/>
            <a:ext cx="2381250" cy="889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619625" y="3048000"/>
            <a:ext cx="2971800" cy="2152650"/>
          </a:xfrm>
          <a:prstGeom prst="roundRect">
            <a:avLst>
              <a:gd name="adj" fmla="val 300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4000"/>
              </a:srgbClr>
            </a:outerShdw>
          </a:effectLst>
        </p:spPr>
      </p:sp>
      <p:sp>
        <p:nvSpPr>
          <p:cNvPr id="13" name="Shape 7"/>
          <p:cNvSpPr/>
          <p:nvPr/>
        </p:nvSpPr>
        <p:spPr>
          <a:xfrm>
            <a:off x="4619625" y="3048000"/>
            <a:ext cx="2971800" cy="47625"/>
          </a:xfrm>
          <a:prstGeom prst="roundRect">
            <a:avLst>
              <a:gd name="adj" fmla="val 136146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pic>
        <p:nvPicPr>
          <p:cNvPr id="14" name="Image 4"/>
          <p:cNvPicPr>
            <a:picLocks noChangeAspect="1"/>
          </p:cNvPicPr>
          <p:nvPr/>
        </p:nvPicPr>
        <p:blipFill>
          <a:blip r:embed="rId5"/>
          <a:srcRect l="-2078" r="-2078" t="0" b="0"/>
          <a:stretch/>
        </p:blipFill>
        <p:spPr>
          <a:xfrm>
            <a:off x="4906010" y="3666490"/>
            <a:ext cx="2381250" cy="889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7905750" y="3048000"/>
            <a:ext cx="2971800" cy="2152650"/>
          </a:xfrm>
          <a:prstGeom prst="roundRect">
            <a:avLst>
              <a:gd name="adj" fmla="val 300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4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7905750" y="3048000"/>
            <a:ext cx="2971800" cy="47625"/>
          </a:xfrm>
          <a:prstGeom prst="roundRect">
            <a:avLst>
              <a:gd name="adj" fmla="val 136146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pic>
        <p:nvPicPr>
          <p:cNvPr id="17" name="Image 5"/>
          <p:cNvPicPr>
            <a:picLocks noChangeAspect="1"/>
          </p:cNvPicPr>
          <p:nvPr/>
        </p:nvPicPr>
        <p:blipFill>
          <a:blip r:embed="rId6"/>
          <a:srcRect l="-2078" r="-2078" t="0" b="0"/>
          <a:stretch/>
        </p:blipFill>
        <p:spPr>
          <a:xfrm>
            <a:off x="8191500" y="3666490"/>
            <a:ext cx="2381250" cy="889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1333500" y="5334000"/>
            <a:ext cx="9544685" cy="1162050"/>
          </a:xfrm>
          <a:prstGeom prst="roundRect">
            <a:avLst>
              <a:gd name="adj" fmla="val 10318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</p:sp>
      <p:pic>
        <p:nvPicPr>
          <p:cNvPr id="19" name="Image 6"/>
          <p:cNvPicPr>
            <a:picLocks noChangeAspect="1"/>
          </p:cNvPicPr>
          <p:nvPr/>
        </p:nvPicPr>
        <p:blipFill>
          <a:blip r:embed="rId7"/>
          <a:srcRect l="-400" r="-400" t="0" b="0"/>
          <a:stretch/>
        </p:blipFill>
        <p:spPr>
          <a:xfrm>
            <a:off x="1333500" y="5334000"/>
            <a:ext cx="57785" cy="11430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23900" y="495300"/>
            <a:ext cx="495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2"/>
          <p:cNvSpPr txBox="1"/>
          <p:nvPr/>
        </p:nvSpPr>
        <p:spPr>
          <a:xfrm>
            <a:off x="1276350" y="504825"/>
            <a:ext cx="25723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&amp; 전처리</a:t>
            </a:r>
            <a:endParaRPr lang="en-US" sz="1200" dirty="0"/>
          </a:p>
        </p:txBody>
      </p:sp>
      <p:sp>
        <p:nvSpPr>
          <p:cNvPr id="22" name="Text 13"/>
          <p:cNvSpPr txBox="1"/>
          <p:nvPr/>
        </p:nvSpPr>
        <p:spPr>
          <a:xfrm>
            <a:off x="762000" y="952500"/>
            <a:ext cx="6400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타겟변수(상권활력점수) 정의</a:t>
            </a:r>
            <a:endParaRPr lang="en-US" sz="3000" dirty="0"/>
          </a:p>
        </p:txBody>
      </p:sp>
      <p:sp>
        <p:nvSpPr>
          <p:cNvPr id="23" name="Text 14"/>
          <p:cNvSpPr txBox="1"/>
          <p:nvPr/>
        </p:nvSpPr>
        <p:spPr>
          <a:xfrm>
            <a:off x="1238250" y="2000885"/>
            <a:ext cx="9715500" cy="438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경제활력점수 </a:t>
            </a:r>
            <a:pPr algn="ctr" indent="0" marL="0">
              <a:buNone/>
            </a:pPr>
            <a:r>
              <a:rPr lang="en-US" sz="24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pPr algn="ctr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(</a:t>
            </a:r>
            <a:pPr algn="ctr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소비점수, 생산점수, 인구점수</a:t>
            </a:r>
            <a:pPr algn="ctr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2400" dirty="0"/>
          </a:p>
        </p:txBody>
      </p:sp>
      <p:sp>
        <p:nvSpPr>
          <p:cNvPr id="27" name="Text 15"/>
          <p:cNvSpPr txBox="1"/>
          <p:nvPr/>
        </p:nvSpPr>
        <p:spPr>
          <a:xfrm>
            <a:off x="1238250" y="3286125"/>
            <a:ext cx="314388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소비점수</a:t>
            </a:r>
            <a:endParaRPr lang="en-US" sz="1600" dirty="0"/>
          </a:p>
        </p:txBody>
      </p:sp>
      <p:sp>
        <p:nvSpPr>
          <p:cNvPr id="28" name="Text 16"/>
          <p:cNvSpPr txBox="1"/>
          <p:nvPr/>
        </p:nvSpPr>
        <p:spPr>
          <a:xfrm>
            <a:off x="1295400" y="3952875"/>
            <a:ext cx="3029585" cy="85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Z_유동1인당매출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Z_등록1인당지출 </a:t>
            </a:r>
            <a:endParaRPr lang="en-US" sz="1300" dirty="0"/>
          </a:p>
        </p:txBody>
      </p:sp>
      <p:sp>
        <p:nvSpPr>
          <p:cNvPr id="29" name="Text 17"/>
          <p:cNvSpPr txBox="1"/>
          <p:nvPr/>
        </p:nvSpPr>
        <p:spPr>
          <a:xfrm>
            <a:off x="4524375" y="3286125"/>
            <a:ext cx="314388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생산점수</a:t>
            </a:r>
            <a:endParaRPr lang="en-US" sz="1600" dirty="0"/>
          </a:p>
        </p:txBody>
      </p:sp>
      <p:sp>
        <p:nvSpPr>
          <p:cNvPr id="30" name="Text 18"/>
          <p:cNvSpPr txBox="1"/>
          <p:nvPr/>
        </p:nvSpPr>
        <p:spPr>
          <a:xfrm>
            <a:off x="4580890" y="3952875"/>
            <a:ext cx="3029585" cy="85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Z_유사업종점포수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Z_개업률 </a:t>
            </a:r>
            <a:endParaRPr lang="en-US" sz="1300" dirty="0"/>
          </a:p>
        </p:txBody>
      </p:sp>
      <p:sp>
        <p:nvSpPr>
          <p:cNvPr id="31" name="Text 19"/>
          <p:cNvSpPr txBox="1"/>
          <p:nvPr/>
        </p:nvSpPr>
        <p:spPr>
          <a:xfrm>
            <a:off x="7810500" y="3286125"/>
            <a:ext cx="314388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인구점수</a:t>
            </a:r>
            <a:endParaRPr lang="en-US" sz="1600" dirty="0"/>
          </a:p>
        </p:txBody>
      </p:sp>
      <p:sp>
        <p:nvSpPr>
          <p:cNvPr id="32" name="Text 20"/>
          <p:cNvSpPr txBox="1"/>
          <p:nvPr/>
        </p:nvSpPr>
        <p:spPr>
          <a:xfrm>
            <a:off x="7867650" y="3810000"/>
            <a:ext cx="302958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Z_유동인구밀도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Z_직장인구밀도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Z_등록인구밀도 </a:t>
            </a:r>
            <a:endParaRPr lang="en-US" sz="1300" dirty="0"/>
          </a:p>
        </p:txBody>
      </p:sp>
      <p:pic>
        <p:nvPicPr>
          <p:cNvPr id="33" name="Image 10"/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619250" y="5612765"/>
            <a:ext cx="172085" cy="172085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1905000" y="5562600"/>
            <a:ext cx="868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 방법:</a:t>
            </a:r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데이터의 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log(1+x)</a:t>
            </a:r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변환 후 분기별 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cross-sectional Z-score</a:t>
            </a:r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적용으로 스케일 통일</a:t>
            </a:r>
            <a:endParaRPr lang="en-US" sz="1300" dirty="0"/>
          </a:p>
        </p:txBody>
      </p:sp>
      <p:pic>
        <p:nvPicPr>
          <p:cNvPr id="35" name="Image 11"/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619250" y="5993765"/>
            <a:ext cx="172085" cy="172085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1905000" y="5943600"/>
            <a:ext cx="88525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검증:</a:t>
            </a:r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PCA(주성분 분석)를 통해 타겟 변수(Y) 구성 지표의 적합성 및 내적 일관성 확인 후 최종 채택</a:t>
            </a:r>
            <a:endParaRPr lang="en-US" sz="1300" dirty="0"/>
          </a:p>
        </p:txBody>
      </p:sp>
      <p:sp>
        <p:nvSpPr>
          <p:cNvPr id="37" name="Text 23"/>
          <p:cNvSpPr txBox="1"/>
          <p:nvPr/>
        </p:nvSpPr>
        <p:spPr>
          <a:xfrm>
            <a:off x="7338060" y="6238875"/>
            <a:ext cx="352044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[참고] KRIHS 국토변화모니터링 지수 개발 연구 방법론 기반 </a:t>
            </a:r>
            <a:endParaRPr lang="en-US" sz="1000" dirty="0"/>
          </a:p>
        </p:txBody>
      </p:sp>
      <p:pic>
        <p:nvPicPr>
          <p:cNvPr id="38" name="Image 12"/>
          <p:cNvPicPr>
            <a:picLocks noChangeAspect="1"/>
          </p:cNvPicPr>
          <p:nvPr/>
        </p:nvPicPr>
        <p:blipFill>
          <a:blip r:embed="rId13"/>
          <a:srcRect l="0" r="0" t="-1100" b="-1100"/>
          <a:stretch/>
        </p:blipFill>
        <p:spPr>
          <a:xfrm>
            <a:off x="7167245" y="6274435"/>
            <a:ext cx="114300" cy="133350"/>
          </a:xfrm>
          <a:prstGeom prst="rect">
            <a:avLst/>
          </a:prstGeom>
        </p:spPr>
      </p:pic>
      <p:sp>
        <p:nvSpPr>
          <p:cNvPr id="39" name="도형 123"/>
          <p:cNvSpPr>
            <a:spLocks/>
          </p:cNvSpPr>
          <p:nvPr/>
        </p:nvSpPr>
        <p:spPr>
          <a:xfrm rot="0">
            <a:off x="2588895" y="2707005"/>
            <a:ext cx="579755" cy="262890"/>
          </a:xfrm>
          <a:prstGeom prst="downArrow"/>
          <a:solidFill>
            <a:srgbClr val="1A35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40" name="도형 125"/>
          <p:cNvSpPr>
            <a:spLocks/>
          </p:cNvSpPr>
          <p:nvPr/>
        </p:nvSpPr>
        <p:spPr>
          <a:xfrm rot="0">
            <a:off x="5819775" y="2706370"/>
            <a:ext cx="579755" cy="262890"/>
          </a:xfrm>
          <a:prstGeom prst="downArrow"/>
          <a:solidFill>
            <a:srgbClr val="1A35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41" name="도형 126"/>
          <p:cNvSpPr>
            <a:spLocks/>
          </p:cNvSpPr>
          <p:nvPr/>
        </p:nvSpPr>
        <p:spPr>
          <a:xfrm rot="0">
            <a:off x="9150985" y="2706370"/>
            <a:ext cx="579755" cy="262890"/>
          </a:xfrm>
          <a:prstGeom prst="downArrow"/>
          <a:solidFill>
            <a:srgbClr val="1A35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>
            <a:spLocks/>
          </p:cNvSpPr>
          <p:nvPr/>
        </p:nvSpPr>
        <p:spPr>
          <a:xfrm rot="0">
            <a:off x="849630" y="2095500"/>
            <a:ext cx="1495425" cy="686435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sx="100000" sy="100000" blurRad="63500" dist="25400" dir="16200000" rotWithShape="0" algn="bl">
              <a:srgbClr val="000000">
                <a:alpha val="2745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Shape 4"/>
          <p:cNvSpPr>
            <a:spLocks/>
          </p:cNvSpPr>
          <p:nvPr/>
        </p:nvSpPr>
        <p:spPr>
          <a:xfrm rot="0">
            <a:off x="2649220" y="2095500"/>
            <a:ext cx="1495425" cy="686435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sx="100000" sy="100000" blurRad="63500" dist="25400" dir="16200000" rotWithShape="0" algn="bl">
              <a:srgbClr val="000000">
                <a:alpha val="2745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" name="Shape 5"/>
          <p:cNvSpPr>
            <a:spLocks/>
          </p:cNvSpPr>
          <p:nvPr/>
        </p:nvSpPr>
        <p:spPr>
          <a:xfrm rot="0">
            <a:off x="4449445" y="2095500"/>
            <a:ext cx="1495425" cy="686435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sx="100000" sy="100000" blurRad="63500" dist="25400" dir="16200000" rotWithShape="0" algn="bl">
              <a:srgbClr val="000000">
                <a:alpha val="2745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8" name="Shape 6"/>
          <p:cNvSpPr>
            <a:spLocks/>
          </p:cNvSpPr>
          <p:nvPr/>
        </p:nvSpPr>
        <p:spPr>
          <a:xfrm rot="0">
            <a:off x="6249670" y="2095500"/>
            <a:ext cx="1495425" cy="686435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sx="100000" sy="100000" blurRad="63500" dist="25400" dir="16200000" rotWithShape="0" algn="bl">
              <a:srgbClr val="000000">
                <a:alpha val="2745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9" name="Shape 7"/>
          <p:cNvSpPr>
            <a:spLocks/>
          </p:cNvSpPr>
          <p:nvPr/>
        </p:nvSpPr>
        <p:spPr>
          <a:xfrm rot="0">
            <a:off x="8050530" y="2057400"/>
            <a:ext cx="1515110" cy="781685"/>
          </a:xfrm>
          <a:prstGeom prst="roundRect">
            <a:avLst>
              <a:gd name="adj" fmla="val 22848"/>
            </a:avLst>
          </a:prstGeom>
          <a:solidFill>
            <a:srgbClr val="E8EEFF"/>
          </a:solidFill>
          <a:ln w="25400" cap="flat" cmpd="sng">
            <a:solidFill>
              <a:srgbClr val="1A35B5">
                <a:alpha val="100000"/>
              </a:srgbClr>
            </a:solidFill>
            <a:prstDash val="solid"/>
          </a:ln>
          <a:effectLst>
            <a:outerShdw sx="100000" sy="100000" blurRad="101600" dist="38100" dir="16200000" rotWithShape="0" algn="bl">
              <a:srgbClr val="1A35B5">
                <a:alpha val="14901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0" name="Shape 8"/>
          <p:cNvSpPr>
            <a:spLocks/>
          </p:cNvSpPr>
          <p:nvPr/>
        </p:nvSpPr>
        <p:spPr>
          <a:xfrm rot="0">
            <a:off x="9850120" y="2095500"/>
            <a:ext cx="1495425" cy="686435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sx="100000" sy="100000" blurRad="63500" dist="25400" dir="16200000" rotWithShape="0" algn="bl">
              <a:srgbClr val="000000">
                <a:alpha val="2745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62000" y="3381375"/>
            <a:ext cx="10687685" cy="2419350"/>
          </a:xfrm>
          <a:prstGeom prst="roundRect">
            <a:avLst>
              <a:gd name="adj" fmla="val 178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2000" y="3381375"/>
            <a:ext cx="10687685" cy="28575"/>
          </a:xfrm>
          <a:prstGeom prst="roundRect">
            <a:avLst>
              <a:gd name="adj" fmla="val 152402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5905500"/>
            <a:ext cx="10668000" cy="476250"/>
          </a:xfrm>
          <a:prstGeom prst="roundRect">
            <a:avLst>
              <a:gd name="adj" fmla="val 46065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0"/>
          <p:cNvPicPr>
            <a:picLocks noChangeAspect="1"/>
          </p:cNvPicPr>
          <p:nvPr/>
        </p:nvPicPr>
        <p:blipFill>
          <a:blip r:embed="rId1"/>
          <a:srcRect l="-384" r="-384" t="0" b="0"/>
          <a:stretch/>
        </p:blipFill>
        <p:spPr>
          <a:xfrm>
            <a:off x="762000" y="5905500"/>
            <a:ext cx="57785" cy="476250"/>
          </a:xfrm>
          <a:prstGeom prst="rect">
            <a:avLst/>
          </a:prstGeom>
        </p:spPr>
      </p:pic>
      <p:pic>
        <p:nvPicPr>
          <p:cNvPr id="15" name="Image 1"/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52500" y="3905250"/>
            <a:ext cx="10287000" cy="8890"/>
          </a:xfrm>
          <a:prstGeom prst="rect">
            <a:avLst/>
          </a:prstGeom>
        </p:spPr>
      </p:pic>
      <p:pic>
        <p:nvPicPr>
          <p:cNvPr id="16" name="Image 2"/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952500" y="4476750"/>
            <a:ext cx="10287000" cy="8890"/>
          </a:xfrm>
          <a:prstGeom prst="rect">
            <a:avLst/>
          </a:prstGeom>
        </p:spPr>
      </p:pic>
      <p:pic>
        <p:nvPicPr>
          <p:cNvPr id="17" name="Image 3"/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952500" y="5048250"/>
            <a:ext cx="10287000" cy="889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76350" y="50482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 분석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762000" y="952500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클러스터링 방법론 &amp; PCA 결과</a:t>
            </a:r>
            <a:endParaRPr lang="en-US" sz="3000" dirty="0"/>
          </a:p>
        </p:txBody>
      </p:sp>
      <p:pic>
        <p:nvPicPr>
          <p:cNvPr id="21" name="Image 4"/>
          <p:cNvPicPr>
            <a:picLocks noChangeAspect="1"/>
          </p:cNvPicPr>
          <p:nvPr/>
        </p:nvPicPr>
        <p:blipFill>
          <a:blip r:embed="rId5"/>
          <a:srcRect l="0" r="0" t="-842" b="-842"/>
          <a:stretch/>
        </p:blipFill>
        <p:spPr>
          <a:xfrm>
            <a:off x="762000" y="1764665"/>
            <a:ext cx="190500" cy="17208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47750" y="1714500"/>
            <a:ext cx="30486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및 모델링 파이프라인</a:t>
            </a:r>
            <a:endParaRPr lang="en-US" sz="1300" dirty="0"/>
          </a:p>
        </p:txBody>
      </p:sp>
      <p:sp>
        <p:nvSpPr>
          <p:cNvPr id="23" name="Text 16"/>
          <p:cNvSpPr txBox="1">
            <a:spLocks/>
          </p:cNvSpPr>
          <p:nvPr/>
        </p:nvSpPr>
        <p:spPr>
          <a:xfrm rot="0">
            <a:off x="810895" y="2095500"/>
            <a:ext cx="1553210" cy="6680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11개 변수</a:t>
            </a:r>
            <a:endParaRPr lang="ko-KR" altLang="en-US" sz="12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4" name="Image 5" descr="C:/Users/Kim dong gwan/AppData/Roaming/PolarisOffice/ETemp/17048_16254952/image-9-6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 rot="0">
            <a:off x="2372995" y="2329180"/>
            <a:ext cx="123825" cy="191135"/>
          </a:xfrm>
          <a:prstGeom prst="rect"/>
          <a:noFill/>
        </p:spPr>
      </p:pic>
      <p:sp>
        <p:nvSpPr>
          <p:cNvPr id="25" name="Text 17"/>
          <p:cNvSpPr txBox="1">
            <a:spLocks/>
          </p:cNvSpPr>
          <p:nvPr/>
        </p:nvSpPr>
        <p:spPr>
          <a:xfrm rot="0">
            <a:off x="2619375" y="2159635"/>
            <a:ext cx="1536700" cy="54356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윈저라이징</a:t>
            </a:r>
            <a:endParaRPr lang="ko-KR" altLang="en-US" sz="12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ctr">
              <a:buFontTx/>
              <a:buNone/>
            </a:pPr>
            <a:r>
              <a:rPr lang="en-US" sz="900" b="1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(1% / 99%)</a:t>
            </a:r>
            <a:endParaRPr lang="ko-KR" altLang="en-US" sz="9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6" name="Image 6" descr="C:/Users/Kim dong gwan/AppData/Roaming/PolarisOffice/ETemp/17048_16254952/image-9-7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 rot="0">
            <a:off x="4173220" y="2329180"/>
            <a:ext cx="123825" cy="191135"/>
          </a:xfrm>
          <a:prstGeom prst="rect"/>
          <a:noFill/>
        </p:spPr>
      </p:pic>
      <p:sp>
        <p:nvSpPr>
          <p:cNvPr id="27" name="Text 18"/>
          <p:cNvSpPr txBox="1">
            <a:spLocks/>
          </p:cNvSpPr>
          <p:nvPr/>
        </p:nvSpPr>
        <p:spPr>
          <a:xfrm rot="0">
            <a:off x="4420235" y="2159635"/>
            <a:ext cx="1536700" cy="54356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왜도 &gt; 1.</a:t>
            </a:r>
            <a:r>
              <a:rPr lang="ko-KR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5</a:t>
            </a:r>
            <a:endParaRPr lang="ko-KR" altLang="en-US" sz="12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ctr">
              <a:buFontTx/>
              <a:buNone/>
            </a:pPr>
            <a:r>
              <a:rPr lang="en-US" sz="1000" b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log 변환</a:t>
            </a:r>
            <a:endParaRPr lang="ko-KR" altLang="en-US" sz="1000" b="1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8" name="Image 7" descr="C:/Users/Kim dong gwan/AppData/Roaming/PolarisOffice/ETemp/17048_16254952/image-9-8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 rot="0">
            <a:off x="5973445" y="2329180"/>
            <a:ext cx="123825" cy="191135"/>
          </a:xfrm>
          <a:prstGeom prst="rect"/>
          <a:noFill/>
        </p:spPr>
      </p:pic>
      <p:sp>
        <p:nvSpPr>
          <p:cNvPr id="29" name="Text 19"/>
          <p:cNvSpPr txBox="1">
            <a:spLocks/>
          </p:cNvSpPr>
          <p:nvPr/>
        </p:nvSpPr>
        <p:spPr>
          <a:xfrm rot="0">
            <a:off x="6220460" y="2159635"/>
            <a:ext cx="1536700" cy="54356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Robust</a:t>
            </a:r>
            <a:endParaRPr lang="ko-KR" altLang="en-US" sz="12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ctr">
              <a:buFontTx/>
              <a:buNone/>
            </a:pPr>
            <a:r>
              <a:rPr lang="en-US" sz="1000" b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Scaler</a:t>
            </a:r>
            <a:endParaRPr lang="ko-KR" altLang="en-US" sz="1000" b="1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30" name="Image 8" descr="C:/Users/Kim dong gwan/AppData/Roaming/PolarisOffice/ETemp/17048_16254952/image-9-9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 rot="0">
            <a:off x="7774305" y="2329180"/>
            <a:ext cx="123825" cy="191135"/>
          </a:xfrm>
          <a:prstGeom prst="rect"/>
          <a:noFill/>
        </p:spPr>
      </p:pic>
      <p:sp>
        <p:nvSpPr>
          <p:cNvPr id="31" name="Text 20"/>
          <p:cNvSpPr txBox="1">
            <a:spLocks/>
          </p:cNvSpPr>
          <p:nvPr/>
        </p:nvSpPr>
        <p:spPr>
          <a:xfrm rot="0">
            <a:off x="8020050" y="2095500"/>
            <a:ext cx="1536700" cy="5721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3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PCA</a:t>
            </a:r>
            <a:endParaRPr lang="ko-KR" altLang="en-US" sz="13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ctr">
              <a:buFontTx/>
              <a:buNone/>
            </a:pPr>
            <a:r>
              <a:rPr lang="en-US" sz="1000" b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(주성분 분석)</a:t>
            </a:r>
            <a:endParaRPr lang="ko-KR" altLang="en-US" sz="1000" b="1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32" name="Image 9" descr="C:/Users/Kim dong gwan/AppData/Roaming/PolarisOffice/ETemp/17048_16254952/image-9-10.png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 rot="0">
            <a:off x="9573895" y="2329180"/>
            <a:ext cx="123825" cy="191135"/>
          </a:xfrm>
          <a:prstGeom prst="rect"/>
          <a:noFill/>
        </p:spPr>
      </p:pic>
      <p:sp>
        <p:nvSpPr>
          <p:cNvPr id="33" name="Text 21"/>
          <p:cNvSpPr txBox="1">
            <a:spLocks/>
          </p:cNvSpPr>
          <p:nvPr/>
        </p:nvSpPr>
        <p:spPr>
          <a:xfrm rot="0">
            <a:off x="9820275" y="2159635"/>
            <a:ext cx="1536700" cy="54356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K-Means</a:t>
            </a:r>
            <a:endParaRPr lang="ko-KR" altLang="en-US" sz="12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ctr">
              <a:buFontTx/>
              <a:buNone/>
            </a:pPr>
            <a:r>
              <a:rPr lang="en-US" sz="1000" b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(k=3)</a:t>
            </a:r>
            <a:endParaRPr lang="ko-KR" altLang="en-US" sz="1000" b="1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34" name="Image 10"/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62000" y="3098165"/>
            <a:ext cx="172085" cy="172085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047750" y="304800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PCA 결과 상세</a:t>
            </a:r>
            <a:endParaRPr lang="en-US" sz="1300" dirty="0"/>
          </a:p>
        </p:txBody>
      </p:sp>
      <p:sp>
        <p:nvSpPr>
          <p:cNvPr id="36" name="Text 23"/>
          <p:cNvSpPr txBox="1"/>
          <p:nvPr/>
        </p:nvSpPr>
        <p:spPr>
          <a:xfrm>
            <a:off x="1009650" y="35718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</a:t>
            </a:r>
            <a:endParaRPr lang="en-US" sz="1200" dirty="0"/>
          </a:p>
        </p:txBody>
      </p:sp>
      <p:sp>
        <p:nvSpPr>
          <p:cNvPr id="37" name="Text 24"/>
          <p:cNvSpPr txBox="1"/>
          <p:nvPr/>
        </p:nvSpPr>
        <p:spPr>
          <a:xfrm>
            <a:off x="1953895" y="3571875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설명분산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3288030" y="3571875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누적분산</a:t>
            </a:r>
            <a:endParaRPr lang="en-US" sz="1200" dirty="0"/>
          </a:p>
        </p:txBody>
      </p:sp>
      <p:sp>
        <p:nvSpPr>
          <p:cNvPr id="39" name="Text 26"/>
          <p:cNvSpPr txBox="1"/>
          <p:nvPr/>
        </p:nvSpPr>
        <p:spPr>
          <a:xfrm>
            <a:off x="4762500" y="3571875"/>
            <a:ext cx="447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기여 변수</a:t>
            </a:r>
            <a:endParaRPr lang="en-US" sz="1200" dirty="0"/>
          </a:p>
        </p:txBody>
      </p:sp>
      <p:sp>
        <p:nvSpPr>
          <p:cNvPr id="40" name="Text 27"/>
          <p:cNvSpPr txBox="1"/>
          <p:nvPr/>
        </p:nvSpPr>
        <p:spPr>
          <a:xfrm>
            <a:off x="9048750" y="3571875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 해석</a:t>
            </a:r>
            <a:endParaRPr lang="en-US" sz="1200" dirty="0"/>
          </a:p>
        </p:txBody>
      </p:sp>
      <p:sp>
        <p:nvSpPr>
          <p:cNvPr id="41" name="Text 28"/>
          <p:cNvSpPr txBox="1"/>
          <p:nvPr/>
        </p:nvSpPr>
        <p:spPr>
          <a:xfrm>
            <a:off x="1009650" y="4095750"/>
            <a:ext cx="838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PC1</a:t>
            </a:r>
            <a:endParaRPr lang="en-US" sz="1200" dirty="0"/>
          </a:p>
        </p:txBody>
      </p:sp>
      <p:sp>
        <p:nvSpPr>
          <p:cNvPr id="42" name="Text 29"/>
          <p:cNvSpPr txBox="1"/>
          <p:nvPr/>
        </p:nvSpPr>
        <p:spPr>
          <a:xfrm>
            <a:off x="1962150" y="4095750"/>
            <a:ext cx="1220470" cy="23939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37.8%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3" name="Text 30"/>
          <p:cNvSpPr txBox="1"/>
          <p:nvPr/>
        </p:nvSpPr>
        <p:spPr>
          <a:xfrm>
            <a:off x="3295650" y="4095750"/>
            <a:ext cx="1220470" cy="23939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37.8%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4" name="Text 31"/>
          <p:cNvSpPr txBox="1"/>
          <p:nvPr/>
        </p:nvSpPr>
        <p:spPr>
          <a:xfrm>
            <a:off x="4762500" y="4095750"/>
            <a:ext cx="4401820" cy="22923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spc="-1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등록1인당지출 </a:t>
            </a:r>
            <a:r>
              <a:rPr lang="en-US" sz="1000" spc="-10" b="1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(28.9%)</a:t>
            </a:r>
            <a:r>
              <a:rPr lang="en-US" sz="1200" spc="-1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, 직장인구밀도 </a:t>
            </a:r>
            <a:r>
              <a:rPr lang="en-US" sz="1000" spc="-10" b="1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(21.2%)</a:t>
            </a:r>
            <a:endParaRPr lang="ko-KR" altLang="en-US" sz="10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5" name="Text 32"/>
          <p:cNvSpPr txBox="1"/>
          <p:nvPr/>
        </p:nvSpPr>
        <p:spPr>
          <a:xfrm>
            <a:off x="9048750" y="4058285"/>
            <a:ext cx="2171700" cy="286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수익성·고용 축</a:t>
            </a:r>
            <a:endParaRPr lang="en-US" sz="1200" dirty="0"/>
          </a:p>
        </p:txBody>
      </p:sp>
      <p:sp>
        <p:nvSpPr>
          <p:cNvPr id="46" name="Text 33"/>
          <p:cNvSpPr txBox="1"/>
          <p:nvPr/>
        </p:nvSpPr>
        <p:spPr>
          <a:xfrm>
            <a:off x="1009650" y="4667250"/>
            <a:ext cx="838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PC2</a:t>
            </a:r>
            <a:endParaRPr lang="en-US" sz="1200" dirty="0"/>
          </a:p>
        </p:txBody>
      </p:sp>
      <p:sp>
        <p:nvSpPr>
          <p:cNvPr id="47" name="Text 34"/>
          <p:cNvSpPr txBox="1"/>
          <p:nvPr/>
        </p:nvSpPr>
        <p:spPr>
          <a:xfrm>
            <a:off x="1962150" y="4667250"/>
            <a:ext cx="1220470" cy="23939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22.2%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8" name="Text 35"/>
          <p:cNvSpPr txBox="1"/>
          <p:nvPr/>
        </p:nvSpPr>
        <p:spPr>
          <a:xfrm>
            <a:off x="3295650" y="4667250"/>
            <a:ext cx="1220470" cy="23939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60.0%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9" name="Text 36"/>
          <p:cNvSpPr txBox="1"/>
          <p:nvPr/>
        </p:nvSpPr>
        <p:spPr>
          <a:xfrm>
            <a:off x="4762500" y="4667250"/>
            <a:ext cx="4401820" cy="22923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spc="-1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집객시설밀도 </a:t>
            </a:r>
            <a:r>
              <a:rPr lang="en-US" sz="1000" spc="-10" b="1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(25.3%)</a:t>
            </a:r>
            <a:r>
              <a:rPr lang="en-US" sz="1200" spc="-1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, 유동인구밀도 </a:t>
            </a:r>
            <a:r>
              <a:rPr lang="en-US" sz="1000" spc="-10" b="1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(25.2%)</a:t>
            </a:r>
            <a:endParaRPr lang="ko-KR" altLang="en-US" sz="10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0" name="Text 37"/>
          <p:cNvSpPr txBox="1"/>
          <p:nvPr/>
        </p:nvSpPr>
        <p:spPr>
          <a:xfrm>
            <a:off x="9048750" y="4629785"/>
            <a:ext cx="2171700" cy="286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인구·집객 밀도 축</a:t>
            </a:r>
            <a:endParaRPr lang="en-US" sz="1200" dirty="0"/>
          </a:p>
        </p:txBody>
      </p:sp>
      <p:sp>
        <p:nvSpPr>
          <p:cNvPr id="51" name="Text 38"/>
          <p:cNvSpPr txBox="1"/>
          <p:nvPr/>
        </p:nvSpPr>
        <p:spPr>
          <a:xfrm>
            <a:off x="1009650" y="5238750"/>
            <a:ext cx="838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PC3</a:t>
            </a:r>
            <a:endParaRPr lang="en-US" sz="1200" dirty="0"/>
          </a:p>
        </p:txBody>
      </p:sp>
      <p:sp>
        <p:nvSpPr>
          <p:cNvPr id="52" name="Text 39"/>
          <p:cNvSpPr txBox="1"/>
          <p:nvPr/>
        </p:nvSpPr>
        <p:spPr>
          <a:xfrm>
            <a:off x="1962150" y="5238750"/>
            <a:ext cx="1220470" cy="23939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11.7%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3" name="Text 40"/>
          <p:cNvSpPr txBox="1"/>
          <p:nvPr/>
        </p:nvSpPr>
        <p:spPr>
          <a:xfrm>
            <a:off x="3295650" y="5238750"/>
            <a:ext cx="1220470" cy="23939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71.7%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4" name="Text 41"/>
          <p:cNvSpPr txBox="1"/>
          <p:nvPr/>
        </p:nvSpPr>
        <p:spPr>
          <a:xfrm>
            <a:off x="4762500" y="5238750"/>
            <a:ext cx="4401820" cy="22923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spc="-1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프랜차이즈비율 </a:t>
            </a:r>
            <a:r>
              <a:rPr lang="en-US" sz="1000" spc="-10" b="1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(46.9%)</a:t>
            </a:r>
            <a:r>
              <a:rPr lang="en-US" sz="1200" spc="-1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, 상권변동성 </a:t>
            </a:r>
            <a:r>
              <a:rPr lang="en-US" sz="1000" spc="-10" b="1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(28.1%)</a:t>
            </a:r>
            <a:endParaRPr lang="ko-KR" altLang="en-US" sz="10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5" name="Text 42"/>
          <p:cNvSpPr txBox="1"/>
          <p:nvPr/>
        </p:nvSpPr>
        <p:spPr>
          <a:xfrm>
            <a:off x="9048750" y="5201285"/>
            <a:ext cx="2171700" cy="286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 안정성 축</a:t>
            </a:r>
            <a:endParaRPr lang="en-US" sz="1200" dirty="0"/>
          </a:p>
        </p:txBody>
      </p:sp>
      <p:pic>
        <p:nvPicPr>
          <p:cNvPr id="56" name="Image 11"/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00125" y="6062345"/>
            <a:ext cx="190500" cy="190500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1333500" y="6029325"/>
            <a:ext cx="100209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-22" kern="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PC4(외부유입 비율)까지 </a:t>
            </a:r>
            <a:pPr algn="l" indent="0" marL="0">
              <a:buNone/>
            </a:pPr>
            <a:r>
              <a:rPr lang="en-US" sz="1300" b="1" spc="-22" kern="0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누적분산 81.0%</a:t>
            </a:r>
            <a:pPr algn="l" indent="0" marL="0">
              <a:buNone/>
            </a:pPr>
            <a:r>
              <a:rPr lang="en-US" sz="1300" spc="-22" kern="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도달 → 최종적으로 </a:t>
            </a:r>
            <a:pPr algn="l" indent="0" marL="0">
              <a:buNone/>
            </a:pPr>
            <a:r>
              <a:rPr lang="en-US" sz="1300" b="1" spc="-22" kern="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Principal Component 채택</a:t>
            </a:r>
            <a:pPr algn="l" indent="0" marL="0">
              <a:buNone/>
            </a:pPr>
            <a:r>
              <a:rPr lang="en-US" sz="1300" spc="-22" kern="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상권 클러스터링 수행</a:t>
            </a:r>
            <a:endParaRPr lang="en-US" sz="1300" dirty="0"/>
          </a:p>
        </p:txBody>
      </p:sp>
      <p:sp>
        <p:nvSpPr>
          <p:cNvPr id="59" name="도형 11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0" name="텍스트 상자 12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3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0" y="1477010"/>
            <a:ext cx="5286375" cy="733425"/>
          </a:xfrm>
          <a:prstGeom prst="roundRect">
            <a:avLst>
              <a:gd name="adj" fmla="val 25909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477010"/>
            <a:ext cx="38100" cy="733425"/>
          </a:xfrm>
          <a:prstGeom prst="roundRect">
            <a:avLst>
              <a:gd name="adj" fmla="val 494741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1250" y="1477010"/>
            <a:ext cx="5286375" cy="733425"/>
          </a:xfrm>
          <a:prstGeom prst="roundRect">
            <a:avLst>
              <a:gd name="adj" fmla="val 25909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91250" y="1477010"/>
            <a:ext cx="38100" cy="733425"/>
          </a:xfrm>
          <a:prstGeom prst="roundRect">
            <a:avLst>
              <a:gd name="adj" fmla="val 494741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2333625"/>
            <a:ext cx="10687685" cy="3333750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6001385"/>
            <a:ext cx="3448050" cy="590550"/>
          </a:xfrm>
          <a:prstGeom prst="roundRect">
            <a:avLst>
              <a:gd name="adj" fmla="val 29961"/>
            </a:avLst>
          </a:prstGeom>
          <a:solidFill>
            <a:srgbClr val="F4F7FF"/>
          </a:solidFill>
          <a:ln w="12700">
            <a:solidFill>
              <a:srgbClr val="C0CE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1500" y="6001385"/>
            <a:ext cx="3448050" cy="590550"/>
          </a:xfrm>
          <a:prstGeom prst="roundRect">
            <a:avLst>
              <a:gd name="adj" fmla="val 29961"/>
            </a:avLst>
          </a:prstGeom>
          <a:solidFill>
            <a:srgbClr val="F4F7FF"/>
          </a:solidFill>
          <a:ln w="12700">
            <a:solidFill>
              <a:srgbClr val="C0CE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0" y="6001385"/>
            <a:ext cx="3448050" cy="590550"/>
          </a:xfrm>
          <a:prstGeom prst="roundRect">
            <a:avLst>
              <a:gd name="adj" fmla="val 29961"/>
            </a:avLst>
          </a:prstGeom>
          <a:solidFill>
            <a:srgbClr val="F4F7FF"/>
          </a:solidFill>
          <a:ln w="12700">
            <a:solidFill>
              <a:srgbClr val="C0CEF5"/>
            </a:solidFill>
            <a:prstDash val="solid"/>
          </a:ln>
        </p:spPr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rcRect l="0" r="0" t="-39" b="-39"/>
          <a:stretch/>
        </p:blipFill>
        <p:spPr>
          <a:xfrm>
            <a:off x="762000" y="2333625"/>
            <a:ext cx="10668000" cy="381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62000" y="2980690"/>
            <a:ext cx="10668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2000" y="3514725"/>
            <a:ext cx="10668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2000" y="4048125"/>
            <a:ext cx="10668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2000" y="4580890"/>
            <a:ext cx="10668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2000" y="5114925"/>
            <a:ext cx="10668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1"/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2000" y="2980690"/>
            <a:ext cx="10668000" cy="8890"/>
          </a:xfrm>
          <a:prstGeom prst="rect">
            <a:avLst/>
          </a:prstGeom>
        </p:spPr>
      </p:pic>
      <p:pic>
        <p:nvPicPr>
          <p:cNvPr id="20" name="Image 2"/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762000" y="3248025"/>
            <a:ext cx="10668000" cy="8890"/>
          </a:xfrm>
          <a:prstGeom prst="rect">
            <a:avLst/>
          </a:prstGeom>
        </p:spPr>
      </p:pic>
      <p:pic>
        <p:nvPicPr>
          <p:cNvPr id="21" name="Image 3"/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2000" y="3514725"/>
            <a:ext cx="10668000" cy="8890"/>
          </a:xfrm>
          <a:prstGeom prst="rect">
            <a:avLst/>
          </a:prstGeom>
        </p:spPr>
      </p:pic>
      <p:pic>
        <p:nvPicPr>
          <p:cNvPr id="22" name="Image 4"/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762000" y="3780790"/>
            <a:ext cx="10668000" cy="8890"/>
          </a:xfrm>
          <a:prstGeom prst="rect">
            <a:avLst/>
          </a:prstGeom>
        </p:spPr>
      </p:pic>
      <p:pic>
        <p:nvPicPr>
          <p:cNvPr id="23" name="Image 5"/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762000" y="4048125"/>
            <a:ext cx="10668000" cy="8890"/>
          </a:xfrm>
          <a:prstGeom prst="rect">
            <a:avLst/>
          </a:prstGeom>
        </p:spPr>
      </p:pic>
      <p:pic>
        <p:nvPicPr>
          <p:cNvPr id="24" name="Image 6"/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762000" y="4314825"/>
            <a:ext cx="10668000" cy="8890"/>
          </a:xfrm>
          <a:prstGeom prst="rect">
            <a:avLst/>
          </a:prstGeom>
        </p:spPr>
      </p:pic>
      <p:pic>
        <p:nvPicPr>
          <p:cNvPr id="25" name="Image 7"/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762000" y="4580890"/>
            <a:ext cx="10668000" cy="8890"/>
          </a:xfrm>
          <a:prstGeom prst="rect">
            <a:avLst/>
          </a:prstGeom>
        </p:spPr>
      </p:pic>
      <p:pic>
        <p:nvPicPr>
          <p:cNvPr id="26" name="Image 8"/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762000" y="4848225"/>
            <a:ext cx="10668000" cy="8890"/>
          </a:xfrm>
          <a:prstGeom prst="rect">
            <a:avLst/>
          </a:prstGeom>
        </p:spPr>
      </p:pic>
      <p:pic>
        <p:nvPicPr>
          <p:cNvPr id="27" name="Image 9"/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762000" y="5114925"/>
            <a:ext cx="10668000" cy="8890"/>
          </a:xfrm>
          <a:prstGeom prst="rect">
            <a:avLst/>
          </a:prstGeom>
        </p:spPr>
      </p:pic>
      <p:pic>
        <p:nvPicPr>
          <p:cNvPr id="28" name="Image 10"/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762000" y="5380990"/>
            <a:ext cx="10668000" cy="889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1276350" y="50482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 분석</a:t>
            </a:r>
            <a:endParaRPr lang="en-US" sz="1200" dirty="0"/>
          </a:p>
        </p:txBody>
      </p:sp>
      <p:sp>
        <p:nvSpPr>
          <p:cNvPr id="31" name="Text 18"/>
          <p:cNvSpPr txBox="1"/>
          <p:nvPr/>
        </p:nvSpPr>
        <p:spPr>
          <a:xfrm>
            <a:off x="762000" y="952500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클러스터별 특성 프로파일</a:t>
            </a:r>
            <a:endParaRPr lang="en-US" sz="3000" dirty="0"/>
          </a:p>
        </p:txBody>
      </p:sp>
      <p:pic>
        <p:nvPicPr>
          <p:cNvPr id="32" name="Image 11"/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52500" y="1631315"/>
            <a:ext cx="172085" cy="172085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1238250" y="1571625"/>
            <a:ext cx="468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Elbow Method</a:t>
            </a:r>
            <a:endParaRPr lang="en-US" sz="1100" dirty="0"/>
          </a:p>
        </p:txBody>
      </p:sp>
      <p:sp>
        <p:nvSpPr>
          <p:cNvPr id="34" name="Text 20"/>
          <p:cNvSpPr txBox="1">
            <a:spLocks/>
          </p:cNvSpPr>
          <p:nvPr/>
        </p:nvSpPr>
        <p:spPr>
          <a:xfrm rot="0">
            <a:off x="1238250" y="1864995"/>
            <a:ext cx="46869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k=3일 때 감소율 23.1% (k=4는 11.3%로 둔화)</a:t>
            </a:r>
            <a:endParaRPr lang="ko-KR" altLang="en-US" sz="120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35" name="Image 12"/>
          <p:cNvPicPr>
            <a:picLocks noChangeAspect="1"/>
          </p:cNvPicPr>
          <p:nvPr/>
        </p:nvPicPr>
        <p:blipFill>
          <a:blip r:embed="rId13"/>
          <a:srcRect l="0" r="0" t="-842" b="-842"/>
          <a:stretch/>
        </p:blipFill>
        <p:spPr>
          <a:xfrm>
            <a:off x="6381750" y="1631315"/>
            <a:ext cx="190500" cy="172085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6667500" y="1571625"/>
            <a:ext cx="468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37" name="Text 22"/>
          <p:cNvSpPr txBox="1">
            <a:spLocks/>
          </p:cNvSpPr>
          <p:nvPr/>
        </p:nvSpPr>
        <p:spPr>
          <a:xfrm rot="0">
            <a:off x="6667500" y="1864995"/>
            <a:ext cx="47637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k=2가 더 높으나, 상권 유형의 해석 가능성을 고려하여 k=3 채택</a:t>
            </a:r>
            <a:endParaRPr lang="ko-KR" altLang="en-US" sz="120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8" name="Text 23"/>
          <p:cNvSpPr txBox="1"/>
          <p:nvPr/>
        </p:nvSpPr>
        <p:spPr>
          <a:xfrm>
            <a:off x="952500" y="242887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</a:t>
            </a:r>
            <a:endParaRPr lang="en-US" sz="1200" dirty="0"/>
          </a:p>
        </p:txBody>
      </p:sp>
      <p:sp>
        <p:nvSpPr>
          <p:cNvPr id="39" name="Text 24"/>
          <p:cNvSpPr txBox="1"/>
          <p:nvPr/>
        </p:nvSpPr>
        <p:spPr>
          <a:xfrm>
            <a:off x="3566795" y="2428875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0</a:t>
            </a:r>
            <a:endParaRPr lang="en-US" sz="1200" dirty="0"/>
          </a:p>
        </p:txBody>
      </p:sp>
      <p:sp>
        <p:nvSpPr>
          <p:cNvPr id="40" name="Text 25"/>
          <p:cNvSpPr txBox="1"/>
          <p:nvPr/>
        </p:nvSpPr>
        <p:spPr>
          <a:xfrm>
            <a:off x="6167755" y="2428875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1</a:t>
            </a:r>
            <a:endParaRPr lang="en-US" sz="1200" dirty="0"/>
          </a:p>
        </p:txBody>
      </p:sp>
      <p:sp>
        <p:nvSpPr>
          <p:cNvPr id="41" name="Text 26"/>
          <p:cNvSpPr txBox="1"/>
          <p:nvPr/>
        </p:nvSpPr>
        <p:spPr>
          <a:xfrm>
            <a:off x="8768080" y="2428875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2</a:t>
            </a:r>
            <a:endParaRPr lang="en-US" sz="1200" dirty="0"/>
          </a:p>
        </p:txBody>
      </p:sp>
      <p:sp>
        <p:nvSpPr>
          <p:cNvPr id="42" name="Text 27"/>
          <p:cNvSpPr txBox="1"/>
          <p:nvPr/>
        </p:nvSpPr>
        <p:spPr>
          <a:xfrm>
            <a:off x="952500" y="2762250"/>
            <a:ext cx="2857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유동 1인당 매출</a:t>
            </a:r>
            <a:endParaRPr lang="en-US" sz="1100" dirty="0"/>
          </a:p>
        </p:txBody>
      </p:sp>
      <p:sp>
        <p:nvSpPr>
          <p:cNvPr id="43" name="Text 28"/>
          <p:cNvSpPr txBox="1"/>
          <p:nvPr/>
        </p:nvSpPr>
        <p:spPr>
          <a:xfrm>
            <a:off x="4646930" y="2762250"/>
            <a:ext cx="16770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10.07 </a:t>
            </a:r>
            <a:endParaRPr lang="en-US" sz="1100" dirty="0"/>
          </a:p>
        </p:txBody>
      </p:sp>
      <p:pic>
        <p:nvPicPr>
          <p:cNvPr id="44" name="Image 13"/>
          <p:cNvPicPr>
            <a:picLocks noChangeAspect="1"/>
          </p:cNvPicPr>
          <p:nvPr/>
        </p:nvPicPr>
        <p:blipFill>
          <a:blip r:embed="rId14"/>
          <a:srcRect l="0" r="0" t="-1750" b="-1750"/>
          <a:stretch/>
        </p:blipFill>
        <p:spPr>
          <a:xfrm>
            <a:off x="5077460" y="2832735"/>
            <a:ext cx="114300" cy="10541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6167755" y="2762250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8.58</a:t>
            </a:r>
            <a:endParaRPr lang="en-US" sz="1100" dirty="0"/>
          </a:p>
        </p:txBody>
      </p:sp>
      <p:sp>
        <p:nvSpPr>
          <p:cNvPr id="46" name="Text 30"/>
          <p:cNvSpPr txBox="1"/>
          <p:nvPr/>
        </p:nvSpPr>
        <p:spPr>
          <a:xfrm>
            <a:off x="8768080" y="2762250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8.68</a:t>
            </a:r>
            <a:endParaRPr lang="en-US" sz="1100" dirty="0"/>
          </a:p>
        </p:txBody>
      </p:sp>
      <p:sp>
        <p:nvSpPr>
          <p:cNvPr id="47" name="Text 31"/>
          <p:cNvSpPr txBox="1"/>
          <p:nvPr/>
        </p:nvSpPr>
        <p:spPr>
          <a:xfrm>
            <a:off x="952500" y="3029585"/>
            <a:ext cx="2857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 1인당 지출</a:t>
            </a:r>
            <a:endParaRPr lang="en-US" sz="1100" dirty="0"/>
          </a:p>
        </p:txBody>
      </p:sp>
      <p:sp>
        <p:nvSpPr>
          <p:cNvPr id="48" name="Text 32"/>
          <p:cNvSpPr txBox="1"/>
          <p:nvPr/>
        </p:nvSpPr>
        <p:spPr>
          <a:xfrm>
            <a:off x="4646930" y="3029585"/>
            <a:ext cx="16770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14.49 </a:t>
            </a:r>
            <a:endParaRPr lang="en-US" sz="1100" dirty="0"/>
          </a:p>
        </p:txBody>
      </p:sp>
      <p:pic>
        <p:nvPicPr>
          <p:cNvPr id="49" name="Image 14"/>
          <p:cNvPicPr>
            <a:picLocks noChangeAspect="1"/>
          </p:cNvPicPr>
          <p:nvPr/>
        </p:nvPicPr>
        <p:blipFill>
          <a:blip r:embed="rId15"/>
          <a:srcRect l="0" r="0" t="-1750" b="-1750"/>
          <a:stretch/>
        </p:blipFill>
        <p:spPr>
          <a:xfrm>
            <a:off x="5077460" y="3098800"/>
            <a:ext cx="114300" cy="105410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6167755" y="3029585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11.75</a:t>
            </a:r>
            <a:endParaRPr lang="en-US" sz="1100" dirty="0"/>
          </a:p>
        </p:txBody>
      </p:sp>
      <p:sp>
        <p:nvSpPr>
          <p:cNvPr id="51" name="Text 34"/>
          <p:cNvSpPr txBox="1"/>
          <p:nvPr/>
        </p:nvSpPr>
        <p:spPr>
          <a:xfrm>
            <a:off x="8768080" y="3029585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12.15</a:t>
            </a:r>
            <a:endParaRPr lang="en-US" sz="1100" dirty="0"/>
          </a:p>
        </p:txBody>
      </p:sp>
      <p:sp>
        <p:nvSpPr>
          <p:cNvPr id="52" name="Text 35"/>
          <p:cNvSpPr txBox="1"/>
          <p:nvPr/>
        </p:nvSpPr>
        <p:spPr>
          <a:xfrm>
            <a:off x="952500" y="3295650"/>
            <a:ext cx="2857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직장인구 밀도</a:t>
            </a:r>
            <a:endParaRPr lang="en-US" sz="1100" dirty="0"/>
          </a:p>
        </p:txBody>
      </p:sp>
      <p:sp>
        <p:nvSpPr>
          <p:cNvPr id="53" name="Text 36"/>
          <p:cNvSpPr txBox="1"/>
          <p:nvPr/>
        </p:nvSpPr>
        <p:spPr>
          <a:xfrm>
            <a:off x="4688840" y="3295650"/>
            <a:ext cx="1635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9.86 </a:t>
            </a:r>
            <a:endParaRPr lang="en-US" sz="1100" dirty="0"/>
          </a:p>
        </p:txBody>
      </p:sp>
      <p:pic>
        <p:nvPicPr>
          <p:cNvPr id="54" name="Image 15"/>
          <p:cNvPicPr>
            <a:picLocks noChangeAspect="1"/>
          </p:cNvPicPr>
          <p:nvPr/>
        </p:nvPicPr>
        <p:blipFill>
          <a:blip r:embed="rId16"/>
          <a:srcRect l="0" r="0" t="-1750" b="-1750"/>
          <a:stretch/>
        </p:blipFill>
        <p:spPr>
          <a:xfrm>
            <a:off x="5035550" y="3366135"/>
            <a:ext cx="114300" cy="105410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6167755" y="3295650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6.17</a:t>
            </a:r>
            <a:endParaRPr lang="en-US" sz="1100" dirty="0"/>
          </a:p>
        </p:txBody>
      </p:sp>
      <p:sp>
        <p:nvSpPr>
          <p:cNvPr id="56" name="Text 38"/>
          <p:cNvSpPr txBox="1"/>
          <p:nvPr/>
        </p:nvSpPr>
        <p:spPr>
          <a:xfrm>
            <a:off x="8768080" y="3295650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7.91</a:t>
            </a:r>
            <a:endParaRPr lang="en-US" sz="1100" dirty="0"/>
          </a:p>
        </p:txBody>
      </p:sp>
      <p:sp>
        <p:nvSpPr>
          <p:cNvPr id="57" name="Text 39"/>
          <p:cNvSpPr txBox="1"/>
          <p:nvPr/>
        </p:nvSpPr>
        <p:spPr>
          <a:xfrm>
            <a:off x="952500" y="3562350"/>
            <a:ext cx="2857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임대시세</a:t>
            </a:r>
            <a:endParaRPr lang="en-US" sz="1100" dirty="0"/>
          </a:p>
        </p:txBody>
      </p:sp>
      <p:sp>
        <p:nvSpPr>
          <p:cNvPr id="58" name="Text 40"/>
          <p:cNvSpPr txBox="1"/>
          <p:nvPr/>
        </p:nvSpPr>
        <p:spPr>
          <a:xfrm>
            <a:off x="4646930" y="3562350"/>
            <a:ext cx="16770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12.02 </a:t>
            </a:r>
            <a:endParaRPr lang="en-US" sz="1100" dirty="0"/>
          </a:p>
        </p:txBody>
      </p:sp>
      <p:pic>
        <p:nvPicPr>
          <p:cNvPr id="59" name="Image 16"/>
          <p:cNvPicPr>
            <a:picLocks noChangeAspect="1"/>
          </p:cNvPicPr>
          <p:nvPr/>
        </p:nvPicPr>
        <p:blipFill>
          <a:blip r:embed="rId17"/>
          <a:srcRect l="0" r="0" t="-1750" b="-1750"/>
          <a:stretch/>
        </p:blipFill>
        <p:spPr>
          <a:xfrm>
            <a:off x="5077460" y="3632835"/>
            <a:ext cx="114300" cy="105410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6167755" y="3562350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11.66</a:t>
            </a:r>
            <a:endParaRPr lang="en-US" sz="1100" dirty="0"/>
          </a:p>
        </p:txBody>
      </p:sp>
      <p:sp>
        <p:nvSpPr>
          <p:cNvPr id="61" name="Text 42"/>
          <p:cNvSpPr txBox="1"/>
          <p:nvPr/>
        </p:nvSpPr>
        <p:spPr>
          <a:xfrm>
            <a:off x="8768080" y="3562350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11.65</a:t>
            </a:r>
            <a:endParaRPr lang="en-US" sz="1100" dirty="0"/>
          </a:p>
        </p:txBody>
      </p:sp>
      <p:sp>
        <p:nvSpPr>
          <p:cNvPr id="62" name="Text 43"/>
          <p:cNvSpPr txBox="1"/>
          <p:nvPr/>
        </p:nvSpPr>
        <p:spPr>
          <a:xfrm>
            <a:off x="952500" y="3829685"/>
            <a:ext cx="2857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 변동성</a:t>
            </a:r>
            <a:endParaRPr lang="en-US" sz="1100" dirty="0"/>
          </a:p>
        </p:txBody>
      </p:sp>
      <p:sp>
        <p:nvSpPr>
          <p:cNvPr id="63" name="Text 44"/>
          <p:cNvSpPr txBox="1"/>
          <p:nvPr/>
        </p:nvSpPr>
        <p:spPr>
          <a:xfrm>
            <a:off x="3566795" y="3829685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4.66</a:t>
            </a:r>
            <a:endParaRPr lang="en-US" sz="1100" dirty="0"/>
          </a:p>
        </p:txBody>
      </p:sp>
      <p:sp>
        <p:nvSpPr>
          <p:cNvPr id="64" name="Text 45"/>
          <p:cNvSpPr txBox="1"/>
          <p:nvPr/>
        </p:nvSpPr>
        <p:spPr>
          <a:xfrm>
            <a:off x="6167755" y="3829685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5.43</a:t>
            </a:r>
            <a:endParaRPr lang="en-US" sz="1100" dirty="0"/>
          </a:p>
        </p:txBody>
      </p:sp>
      <p:sp>
        <p:nvSpPr>
          <p:cNvPr id="65" name="Text 46"/>
          <p:cNvSpPr txBox="1"/>
          <p:nvPr/>
        </p:nvSpPr>
        <p:spPr>
          <a:xfrm>
            <a:off x="8768080" y="3829685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5.73</a:t>
            </a:r>
            <a:endParaRPr lang="en-US" sz="1100" dirty="0"/>
          </a:p>
        </p:txBody>
      </p:sp>
      <p:sp>
        <p:nvSpPr>
          <p:cNvPr id="66" name="Text 47"/>
          <p:cNvSpPr txBox="1"/>
          <p:nvPr/>
        </p:nvSpPr>
        <p:spPr>
          <a:xfrm>
            <a:off x="952500" y="4095750"/>
            <a:ext cx="2857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유동인구 밀도</a:t>
            </a:r>
            <a:endParaRPr lang="en-US" sz="1100" dirty="0"/>
          </a:p>
        </p:txBody>
      </p:sp>
      <p:sp>
        <p:nvSpPr>
          <p:cNvPr id="67" name="Text 48"/>
          <p:cNvSpPr txBox="1"/>
          <p:nvPr/>
        </p:nvSpPr>
        <p:spPr>
          <a:xfrm>
            <a:off x="3566795" y="4095750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15.19</a:t>
            </a:r>
            <a:endParaRPr lang="en-US" sz="1100" dirty="0"/>
          </a:p>
        </p:txBody>
      </p:sp>
      <p:sp>
        <p:nvSpPr>
          <p:cNvPr id="68" name="Text 49"/>
          <p:cNvSpPr txBox="1"/>
          <p:nvPr/>
        </p:nvSpPr>
        <p:spPr>
          <a:xfrm>
            <a:off x="6167755" y="4095750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14.41</a:t>
            </a:r>
            <a:endParaRPr lang="en-US" sz="1100" dirty="0"/>
          </a:p>
        </p:txBody>
      </p:sp>
      <p:sp>
        <p:nvSpPr>
          <p:cNvPr id="69" name="Text 50"/>
          <p:cNvSpPr txBox="1"/>
          <p:nvPr/>
        </p:nvSpPr>
        <p:spPr>
          <a:xfrm>
            <a:off x="9852660" y="4095750"/>
            <a:ext cx="1682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15.81 </a:t>
            </a:r>
            <a:endParaRPr lang="en-US" sz="1100" dirty="0"/>
          </a:p>
        </p:txBody>
      </p:sp>
      <p:pic>
        <p:nvPicPr>
          <p:cNvPr id="70" name="Image 17"/>
          <p:cNvPicPr>
            <a:picLocks noChangeAspect="1"/>
          </p:cNvPicPr>
          <p:nvPr/>
        </p:nvPicPr>
        <p:blipFill>
          <a:blip r:embed="rId18"/>
          <a:srcRect l="0" r="0" t="-1750" b="-1750"/>
          <a:stretch/>
        </p:blipFill>
        <p:spPr>
          <a:xfrm>
            <a:off x="10283190" y="4166235"/>
            <a:ext cx="114300" cy="105410"/>
          </a:xfrm>
          <a:prstGeom prst="rect">
            <a:avLst/>
          </a:prstGeom>
        </p:spPr>
      </p:pic>
      <p:sp>
        <p:nvSpPr>
          <p:cNvPr id="71" name="Text 51"/>
          <p:cNvSpPr txBox="1"/>
          <p:nvPr/>
        </p:nvSpPr>
        <p:spPr>
          <a:xfrm>
            <a:off x="952500" y="4362450"/>
            <a:ext cx="2857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등록인구 밀도</a:t>
            </a:r>
            <a:endParaRPr lang="en-US" sz="1100" dirty="0"/>
          </a:p>
        </p:txBody>
      </p:sp>
      <p:sp>
        <p:nvSpPr>
          <p:cNvPr id="72" name="Text 52"/>
          <p:cNvSpPr txBox="1"/>
          <p:nvPr/>
        </p:nvSpPr>
        <p:spPr>
          <a:xfrm>
            <a:off x="3566795" y="4362450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9.37</a:t>
            </a:r>
            <a:endParaRPr lang="en-US" sz="1100" dirty="0"/>
          </a:p>
        </p:txBody>
      </p:sp>
      <p:sp>
        <p:nvSpPr>
          <p:cNvPr id="73" name="Text 53"/>
          <p:cNvSpPr txBox="1"/>
          <p:nvPr/>
        </p:nvSpPr>
        <p:spPr>
          <a:xfrm>
            <a:off x="6167755" y="4362450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9.40</a:t>
            </a:r>
            <a:endParaRPr lang="en-US" sz="1100" dirty="0"/>
          </a:p>
        </p:txBody>
      </p:sp>
      <p:sp>
        <p:nvSpPr>
          <p:cNvPr id="74" name="Text 54"/>
          <p:cNvSpPr txBox="1"/>
          <p:nvPr/>
        </p:nvSpPr>
        <p:spPr>
          <a:xfrm>
            <a:off x="9852660" y="4362450"/>
            <a:ext cx="1682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10.25 </a:t>
            </a:r>
            <a:endParaRPr lang="en-US" sz="1100" dirty="0"/>
          </a:p>
        </p:txBody>
      </p:sp>
      <p:pic>
        <p:nvPicPr>
          <p:cNvPr id="75" name="Image 18"/>
          <p:cNvPicPr>
            <a:picLocks noChangeAspect="1"/>
          </p:cNvPicPr>
          <p:nvPr/>
        </p:nvPicPr>
        <p:blipFill>
          <a:blip r:embed="rId19"/>
          <a:srcRect l="0" r="0" t="-1750" b="-1750"/>
          <a:stretch/>
        </p:blipFill>
        <p:spPr>
          <a:xfrm>
            <a:off x="10283190" y="4432935"/>
            <a:ext cx="114300" cy="105410"/>
          </a:xfrm>
          <a:prstGeom prst="rect">
            <a:avLst/>
          </a:prstGeom>
        </p:spPr>
      </p:pic>
      <p:sp>
        <p:nvSpPr>
          <p:cNvPr id="76" name="Text 55"/>
          <p:cNvSpPr txBox="1"/>
          <p:nvPr/>
        </p:nvSpPr>
        <p:spPr>
          <a:xfrm>
            <a:off x="952500" y="4629785"/>
            <a:ext cx="2857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집객시설 밀도</a:t>
            </a:r>
            <a:endParaRPr lang="en-US" sz="1100" dirty="0"/>
          </a:p>
        </p:txBody>
      </p:sp>
      <p:sp>
        <p:nvSpPr>
          <p:cNvPr id="77" name="Text 56"/>
          <p:cNvSpPr txBox="1"/>
          <p:nvPr/>
        </p:nvSpPr>
        <p:spPr>
          <a:xfrm>
            <a:off x="3566795" y="4629785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5.21</a:t>
            </a:r>
            <a:endParaRPr lang="en-US" sz="1100" dirty="0"/>
          </a:p>
        </p:txBody>
      </p:sp>
      <p:sp>
        <p:nvSpPr>
          <p:cNvPr id="78" name="Text 57"/>
          <p:cNvSpPr txBox="1"/>
          <p:nvPr/>
        </p:nvSpPr>
        <p:spPr>
          <a:xfrm>
            <a:off x="6167755" y="4629785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4.46</a:t>
            </a:r>
            <a:endParaRPr lang="en-US" sz="1100" dirty="0"/>
          </a:p>
        </p:txBody>
      </p:sp>
      <p:sp>
        <p:nvSpPr>
          <p:cNvPr id="79" name="Text 58"/>
          <p:cNvSpPr txBox="1"/>
          <p:nvPr/>
        </p:nvSpPr>
        <p:spPr>
          <a:xfrm>
            <a:off x="9895840" y="4629785"/>
            <a:ext cx="16395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5.32 </a:t>
            </a:r>
            <a:endParaRPr lang="en-US" sz="1100" dirty="0"/>
          </a:p>
        </p:txBody>
      </p:sp>
      <p:pic>
        <p:nvPicPr>
          <p:cNvPr id="80" name="Image 19"/>
          <p:cNvPicPr>
            <a:picLocks noChangeAspect="1"/>
          </p:cNvPicPr>
          <p:nvPr/>
        </p:nvPicPr>
        <p:blipFill>
          <a:blip r:embed="rId20"/>
          <a:srcRect l="0" r="0" t="-1750" b="-1750"/>
          <a:stretch/>
        </p:blipFill>
        <p:spPr>
          <a:xfrm>
            <a:off x="10240645" y="4699000"/>
            <a:ext cx="114300" cy="105410"/>
          </a:xfrm>
          <a:prstGeom prst="rect">
            <a:avLst/>
          </a:prstGeom>
        </p:spPr>
      </p:pic>
      <p:sp>
        <p:nvSpPr>
          <p:cNvPr id="81" name="Text 59"/>
          <p:cNvSpPr txBox="1"/>
          <p:nvPr/>
        </p:nvSpPr>
        <p:spPr>
          <a:xfrm>
            <a:off x="952500" y="4895850"/>
            <a:ext cx="2857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프랜차이즈 비율</a:t>
            </a:r>
            <a:endParaRPr lang="en-US" sz="1100" dirty="0"/>
          </a:p>
        </p:txBody>
      </p:sp>
      <p:sp>
        <p:nvSpPr>
          <p:cNvPr id="82" name="Text 60"/>
          <p:cNvSpPr txBox="1"/>
          <p:nvPr/>
        </p:nvSpPr>
        <p:spPr>
          <a:xfrm>
            <a:off x="3566795" y="4895850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0.071</a:t>
            </a:r>
            <a:endParaRPr lang="en-US" sz="1100" dirty="0"/>
          </a:p>
        </p:txBody>
      </p:sp>
      <p:sp>
        <p:nvSpPr>
          <p:cNvPr id="83" name="Text 61"/>
          <p:cNvSpPr txBox="1"/>
          <p:nvPr/>
        </p:nvSpPr>
        <p:spPr>
          <a:xfrm>
            <a:off x="6167755" y="4895850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0.091</a:t>
            </a:r>
            <a:endParaRPr lang="en-US" sz="1100" dirty="0"/>
          </a:p>
        </p:txBody>
      </p:sp>
      <p:sp>
        <p:nvSpPr>
          <p:cNvPr id="84" name="Text 62"/>
          <p:cNvSpPr txBox="1"/>
          <p:nvPr/>
        </p:nvSpPr>
        <p:spPr>
          <a:xfrm>
            <a:off x="9852660" y="4895850"/>
            <a:ext cx="1682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0.093 </a:t>
            </a:r>
            <a:endParaRPr lang="en-US" sz="1100" dirty="0"/>
          </a:p>
        </p:txBody>
      </p:sp>
      <p:pic>
        <p:nvPicPr>
          <p:cNvPr id="85" name="Image 20"/>
          <p:cNvPicPr>
            <a:picLocks noChangeAspect="1"/>
          </p:cNvPicPr>
          <p:nvPr/>
        </p:nvPicPr>
        <p:blipFill>
          <a:blip r:embed="rId21"/>
          <a:srcRect l="0" r="0" t="-1750" b="-1750"/>
          <a:stretch/>
        </p:blipFill>
        <p:spPr>
          <a:xfrm>
            <a:off x="10283190" y="4966335"/>
            <a:ext cx="114300" cy="105410"/>
          </a:xfrm>
          <a:prstGeom prst="rect">
            <a:avLst/>
          </a:prstGeom>
        </p:spPr>
      </p:pic>
      <p:sp>
        <p:nvSpPr>
          <p:cNvPr id="86" name="Text 63"/>
          <p:cNvSpPr txBox="1"/>
          <p:nvPr/>
        </p:nvSpPr>
        <p:spPr>
          <a:xfrm>
            <a:off x="952500" y="5162550"/>
            <a:ext cx="2857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유동/등록 비율</a:t>
            </a:r>
            <a:endParaRPr lang="en-US" sz="1100" dirty="0"/>
          </a:p>
        </p:txBody>
      </p:sp>
      <p:sp>
        <p:nvSpPr>
          <p:cNvPr id="87" name="Text 64"/>
          <p:cNvSpPr txBox="1"/>
          <p:nvPr/>
        </p:nvSpPr>
        <p:spPr>
          <a:xfrm>
            <a:off x="4603750" y="5162550"/>
            <a:ext cx="17202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428.02 </a:t>
            </a:r>
            <a:endParaRPr lang="en-US" sz="1100" dirty="0"/>
          </a:p>
        </p:txBody>
      </p:sp>
      <p:pic>
        <p:nvPicPr>
          <p:cNvPr id="88" name="Image 21"/>
          <p:cNvPicPr>
            <a:picLocks noChangeAspect="1"/>
          </p:cNvPicPr>
          <p:nvPr/>
        </p:nvPicPr>
        <p:blipFill>
          <a:blip r:embed="rId22"/>
          <a:srcRect l="0" r="0" t="-1750" b="-1750"/>
          <a:stretch/>
        </p:blipFill>
        <p:spPr>
          <a:xfrm>
            <a:off x="5120640" y="5233035"/>
            <a:ext cx="114300" cy="105410"/>
          </a:xfrm>
          <a:prstGeom prst="rect">
            <a:avLst/>
          </a:prstGeom>
        </p:spPr>
      </p:pic>
      <p:sp>
        <p:nvSpPr>
          <p:cNvPr id="89" name="Text 65"/>
          <p:cNvSpPr txBox="1"/>
          <p:nvPr/>
        </p:nvSpPr>
        <p:spPr>
          <a:xfrm>
            <a:off x="6167755" y="5162550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166.07</a:t>
            </a:r>
            <a:endParaRPr lang="en-US" sz="1100" dirty="0"/>
          </a:p>
        </p:txBody>
      </p:sp>
      <p:sp>
        <p:nvSpPr>
          <p:cNvPr id="90" name="Text 66"/>
          <p:cNvSpPr txBox="1"/>
          <p:nvPr/>
        </p:nvSpPr>
        <p:spPr>
          <a:xfrm>
            <a:off x="8768080" y="5162550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275.28</a:t>
            </a:r>
            <a:endParaRPr lang="en-US" sz="1100" dirty="0"/>
          </a:p>
        </p:txBody>
      </p:sp>
      <p:sp>
        <p:nvSpPr>
          <p:cNvPr id="91" name="Text 67"/>
          <p:cNvSpPr txBox="1"/>
          <p:nvPr/>
        </p:nvSpPr>
        <p:spPr>
          <a:xfrm>
            <a:off x="952500" y="5429885"/>
            <a:ext cx="2857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유동/직장 비율</a:t>
            </a:r>
            <a:endParaRPr lang="en-US" sz="1100" dirty="0"/>
          </a:p>
        </p:txBody>
      </p:sp>
      <p:sp>
        <p:nvSpPr>
          <p:cNvPr id="92" name="Text 68"/>
          <p:cNvSpPr txBox="1"/>
          <p:nvPr/>
        </p:nvSpPr>
        <p:spPr>
          <a:xfrm>
            <a:off x="3566795" y="5429885"/>
            <a:ext cx="2705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390.33</a:t>
            </a:r>
            <a:endParaRPr lang="en-US" sz="1100" dirty="0"/>
          </a:p>
        </p:txBody>
      </p:sp>
      <p:sp>
        <p:nvSpPr>
          <p:cNvPr id="93" name="Text 69"/>
          <p:cNvSpPr txBox="1"/>
          <p:nvPr/>
        </p:nvSpPr>
        <p:spPr>
          <a:xfrm>
            <a:off x="7094855" y="5429885"/>
            <a:ext cx="18294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32,898.49 </a:t>
            </a:r>
            <a:endParaRPr lang="en-US" sz="1100" dirty="0"/>
          </a:p>
        </p:txBody>
      </p:sp>
      <p:pic>
        <p:nvPicPr>
          <p:cNvPr id="94" name="Image 22"/>
          <p:cNvPicPr>
            <a:picLocks noChangeAspect="1"/>
          </p:cNvPicPr>
          <p:nvPr/>
        </p:nvPicPr>
        <p:blipFill>
          <a:blip r:embed="rId23"/>
          <a:srcRect l="0" r="0" t="-1750" b="-1750"/>
          <a:stretch/>
        </p:blipFill>
        <p:spPr>
          <a:xfrm>
            <a:off x="7830820" y="5499100"/>
            <a:ext cx="114300" cy="105410"/>
          </a:xfrm>
          <a:prstGeom prst="rect">
            <a:avLst/>
          </a:prstGeom>
        </p:spPr>
      </p:pic>
      <p:sp>
        <p:nvSpPr>
          <p:cNvPr id="95" name="Text 70"/>
          <p:cNvSpPr txBox="1"/>
          <p:nvPr/>
        </p:nvSpPr>
        <p:spPr>
          <a:xfrm>
            <a:off x="8768080" y="5429885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7,536.35</a:t>
            </a:r>
            <a:endParaRPr lang="en-US" sz="1100" dirty="0"/>
          </a:p>
        </p:txBody>
      </p:sp>
      <p:sp>
        <p:nvSpPr>
          <p:cNvPr id="96" name="Text 71"/>
          <p:cNvSpPr txBox="1"/>
          <p:nvPr/>
        </p:nvSpPr>
        <p:spPr>
          <a:xfrm>
            <a:off x="762000" y="5715000"/>
            <a:ext cx="48774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값은 log(1+x) 변환 후 클러스터 평균값 기준</a:t>
            </a:r>
            <a:endParaRPr lang="en-US" sz="900" dirty="0"/>
          </a:p>
        </p:txBody>
      </p:sp>
      <p:sp>
        <p:nvSpPr>
          <p:cNvPr id="97" name="Shape 72"/>
          <p:cNvSpPr/>
          <p:nvPr/>
        </p:nvSpPr>
        <p:spPr>
          <a:xfrm>
            <a:off x="905510" y="6134100"/>
            <a:ext cx="666750" cy="314325"/>
          </a:xfrm>
          <a:prstGeom prst="roundRect">
            <a:avLst>
              <a:gd name="adj" fmla="val 70472"/>
            </a:avLst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Text 73"/>
          <p:cNvSpPr txBox="1"/>
          <p:nvPr/>
        </p:nvSpPr>
        <p:spPr>
          <a:xfrm>
            <a:off x="876300" y="6134100"/>
            <a:ext cx="723900" cy="3143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76200" rIns="0" bIns="762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0</a:t>
            </a:r>
            <a:endParaRPr lang="en-US" sz="900" dirty="0"/>
          </a:p>
        </p:txBody>
      </p:sp>
      <p:sp>
        <p:nvSpPr>
          <p:cNvPr id="99" name="Text 74"/>
          <p:cNvSpPr txBox="1">
            <a:spLocks/>
          </p:cNvSpPr>
          <p:nvPr/>
        </p:nvSpPr>
        <p:spPr>
          <a:xfrm rot="0">
            <a:off x="1666875" y="6115050"/>
            <a:ext cx="2506345" cy="3536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수익성 지표(매출·지출·직장인구) 압도적 1위 + 변동성 최저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00" name="Shape 75"/>
          <p:cNvSpPr/>
          <p:nvPr/>
        </p:nvSpPr>
        <p:spPr>
          <a:xfrm>
            <a:off x="4524375" y="6134100"/>
            <a:ext cx="666750" cy="314325"/>
          </a:xfrm>
          <a:prstGeom prst="roundRect">
            <a:avLst>
              <a:gd name="adj" fmla="val 70472"/>
            </a:avLst>
          </a:prstGeom>
          <a:solidFill>
            <a:srgbClr val="4A90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Text 76"/>
          <p:cNvSpPr txBox="1"/>
          <p:nvPr/>
        </p:nvSpPr>
        <p:spPr>
          <a:xfrm>
            <a:off x="4495800" y="6134100"/>
            <a:ext cx="723900" cy="3143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76200" rIns="0" bIns="762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1</a:t>
            </a:r>
            <a:endParaRPr lang="en-US" sz="900" dirty="0"/>
          </a:p>
        </p:txBody>
      </p:sp>
      <p:sp>
        <p:nvSpPr>
          <p:cNvPr id="102" name="Text 77"/>
          <p:cNvSpPr txBox="1">
            <a:spLocks/>
          </p:cNvSpPr>
          <p:nvPr/>
        </p:nvSpPr>
        <p:spPr>
          <a:xfrm rot="0">
            <a:off x="5286375" y="6115050"/>
            <a:ext cx="2506345" cy="3536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유동/직장비율 높음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l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(직장인구 거의 없음)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03" name="Shape 78"/>
          <p:cNvSpPr/>
          <p:nvPr/>
        </p:nvSpPr>
        <p:spPr>
          <a:xfrm>
            <a:off x="8143875" y="6134100"/>
            <a:ext cx="666750" cy="314325"/>
          </a:xfrm>
          <a:prstGeom prst="roundRect">
            <a:avLst>
              <a:gd name="adj" fmla="val 70472"/>
            </a:avLst>
          </a:prstGeom>
          <a:solidFill>
            <a:srgbClr val="7EB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Text 79"/>
          <p:cNvSpPr txBox="1"/>
          <p:nvPr/>
        </p:nvSpPr>
        <p:spPr>
          <a:xfrm>
            <a:off x="8115300" y="6134100"/>
            <a:ext cx="723900" cy="3143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76200" rIns="0" bIns="762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2</a:t>
            </a:r>
            <a:endParaRPr lang="en-US" sz="900" dirty="0"/>
          </a:p>
        </p:txBody>
      </p:sp>
      <p:sp>
        <p:nvSpPr>
          <p:cNvPr id="105" name="Text 80"/>
          <p:cNvSpPr txBox="1">
            <a:spLocks/>
          </p:cNvSpPr>
          <p:nvPr/>
        </p:nvSpPr>
        <p:spPr>
          <a:xfrm rot="0">
            <a:off x="8906510" y="6115050"/>
            <a:ext cx="2506345" cy="3536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등록·유동인구 밀도 최고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l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+ 점포 변화 활발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07" name="도형 13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08" name="텍스트 상자 14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3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0" y="1619250"/>
            <a:ext cx="6305550" cy="1447800"/>
          </a:xfrm>
          <a:prstGeom prst="roundRect">
            <a:avLst>
              <a:gd name="adj" fmla="val 6650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14300" dist="38100" dir="16200000">
              <a:srgbClr val="000000">
                <a:alpha val="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3333750"/>
            <a:ext cx="6305550" cy="1447800"/>
          </a:xfrm>
          <a:prstGeom prst="roundRect">
            <a:avLst>
              <a:gd name="adj" fmla="val 6650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14300" dist="38100" dir="16200000">
              <a:srgbClr val="000000">
                <a:alpha val="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5048250"/>
            <a:ext cx="6305550" cy="1447800"/>
          </a:xfrm>
          <a:prstGeom prst="roundRect">
            <a:avLst>
              <a:gd name="adj" fmla="val 6650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14300" dist="38100" dir="162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34250" y="1619250"/>
            <a:ext cx="4114800" cy="4876800"/>
          </a:xfrm>
          <a:prstGeom prst="roundRect">
            <a:avLst>
              <a:gd name="adj" fmla="val 1235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</p:sp>
      <p:pic>
        <p:nvPicPr>
          <p:cNvPr id="9" name="Image 0"/>
          <p:cNvPicPr>
            <a:picLocks noChangeAspect="1"/>
          </p:cNvPicPr>
          <p:nvPr/>
        </p:nvPicPr>
        <p:blipFill>
          <a:blip r:embed="rId1"/>
          <a:srcRect l="0" r="0" t="-217" b="-217"/>
          <a:stretch/>
        </p:blipFill>
        <p:spPr>
          <a:xfrm>
            <a:off x="762000" y="1619250"/>
            <a:ext cx="76200" cy="1429385"/>
          </a:xfrm>
          <a:prstGeom prst="rect">
            <a:avLst/>
          </a:prstGeom>
        </p:spPr>
      </p:pic>
      <p:pic>
        <p:nvPicPr>
          <p:cNvPr id="10" name="Image 1"/>
          <p:cNvPicPr>
            <a:picLocks noChangeAspect="1"/>
          </p:cNvPicPr>
          <p:nvPr/>
        </p:nvPicPr>
        <p:blipFill>
          <a:blip r:embed="rId2"/>
          <a:srcRect l="0" r="0" t="-217" b="-217"/>
          <a:stretch/>
        </p:blipFill>
        <p:spPr>
          <a:xfrm>
            <a:off x="762000" y="3333750"/>
            <a:ext cx="76200" cy="1429385"/>
          </a:xfrm>
          <a:prstGeom prst="rect">
            <a:avLst/>
          </a:prstGeom>
        </p:spPr>
      </p:pic>
      <p:pic>
        <p:nvPicPr>
          <p:cNvPr id="11" name="Image 2"/>
          <p:cNvPicPr>
            <a:picLocks noChangeAspect="1"/>
          </p:cNvPicPr>
          <p:nvPr/>
        </p:nvPicPr>
        <p:blipFill>
          <a:blip r:embed="rId3"/>
          <a:srcRect l="0" r="0" t="-217" b="-217"/>
          <a:stretch/>
        </p:blipFill>
        <p:spPr>
          <a:xfrm>
            <a:off x="762000" y="5048250"/>
            <a:ext cx="76200" cy="142938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620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클러스터링 결과</a:t>
            </a:r>
            <a:endParaRPr lang="en-US" sz="3000" dirty="0"/>
          </a:p>
        </p:txBody>
      </p:sp>
      <p:sp>
        <p:nvSpPr>
          <p:cNvPr id="15" name="Shape 10"/>
          <p:cNvSpPr/>
          <p:nvPr/>
        </p:nvSpPr>
        <p:spPr>
          <a:xfrm>
            <a:off x="1047750" y="1847850"/>
            <a:ext cx="905510" cy="266700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019810" y="1847850"/>
            <a:ext cx="96266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0</a:t>
            </a:r>
            <a:endParaRPr lang="en-US" sz="1000" dirty="0"/>
          </a:p>
        </p:txBody>
      </p:sp>
      <p:sp>
        <p:nvSpPr>
          <p:cNvPr id="17" name="Text 12"/>
          <p:cNvSpPr txBox="1">
            <a:spLocks/>
          </p:cNvSpPr>
          <p:nvPr/>
        </p:nvSpPr>
        <p:spPr>
          <a:xfrm rot="0">
            <a:off x="2095500" y="1837690"/>
            <a:ext cx="2561590" cy="33464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8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핵심</a:t>
            </a:r>
            <a:r>
              <a:rPr lang="ko-KR" sz="18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</a:t>
            </a:r>
            <a:r>
              <a:rPr lang="ko-KR" sz="18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상업 및 업무 상권</a:t>
            </a:r>
            <a:endParaRPr lang="ko-KR" altLang="en-US" sz="18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5257800" y="1876425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67개 </a:t>
            </a:r>
            <a:pPr algn="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(16%)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047750" y="2333625"/>
            <a:ext cx="59061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유동인구·직장인구·매출 압도적, 서울 대표 상권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047750" y="2667000"/>
            <a:ext cx="5906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대표: 역삼1동 · 명동 · 청담동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047750" y="3562350"/>
            <a:ext cx="905510" cy="266700"/>
          </a:xfrm>
          <a:prstGeom prst="roundRect">
            <a:avLst>
              <a:gd name="adj" fmla="val 97847"/>
            </a:avLst>
          </a:prstGeom>
          <a:solidFill>
            <a:srgbClr val="4A90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019810" y="3562350"/>
            <a:ext cx="96266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1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2095500" y="3552190"/>
            <a:ext cx="2058035" cy="33464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8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유동집중 </a:t>
            </a:r>
            <a:r>
              <a:rPr lang="ko-KR" sz="18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주거 </a:t>
            </a:r>
            <a:r>
              <a:rPr lang="ko-KR" sz="18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배후지</a:t>
            </a:r>
            <a:endParaRPr lang="ko-KR" altLang="en-US" sz="18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5257800" y="3590925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123개 </a:t>
            </a:r>
            <a:pPr algn="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(29%)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1047750" y="4048125"/>
            <a:ext cx="59061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유동인구·집객시설·직장인구 밀도 낮음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1047750" y="4381500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대표: 상계1동 · 도봉1동 · 방학3동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1047750" y="5276850"/>
            <a:ext cx="905510" cy="266700"/>
          </a:xfrm>
          <a:prstGeom prst="roundRect">
            <a:avLst>
              <a:gd name="adj" fmla="val 97847"/>
            </a:avLst>
          </a:prstGeom>
          <a:solidFill>
            <a:srgbClr val="7EB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019810" y="5276850"/>
            <a:ext cx="96266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 2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2095500" y="5266690"/>
            <a:ext cx="2058035" cy="33464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8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주거 </a:t>
            </a:r>
            <a:r>
              <a:rPr lang="ko-KR" sz="18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생활 밀</a:t>
            </a:r>
            <a:r>
              <a:rPr lang="ko-KR" sz="18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착 </a:t>
            </a:r>
            <a:r>
              <a:rPr lang="ko-KR" sz="18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상권</a:t>
            </a:r>
            <a:endParaRPr lang="ko-KR" altLang="en-US" sz="18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5257800" y="5305425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EB6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234개 </a:t>
            </a:r>
            <a:pPr algn="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(55%)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1047750" y="5762625"/>
            <a:ext cx="59061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주거+상업이 혼합된 서울의 일반적 주거 동네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1047750" y="6096000"/>
            <a:ext cx="5906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대표: 화곡1동 · 신림동 · 답십리1동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7239000" y="1905000"/>
            <a:ext cx="428688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 구성 비율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8489950" y="3619500"/>
            <a:ext cx="1783080" cy="534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424개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행정동</a:t>
            </a:r>
            <a:endParaRPr lang="en-US" sz="1200" dirty="0"/>
          </a:p>
        </p:txBody>
      </p:sp>
      <p:pic>
        <p:nvPicPr>
          <p:cNvPr id="35" name="Image 3" descr="C:/Users/Kim dong gwan/AppData/Roaming/PolarisOffice/ETemp/17048_16254952/image-11-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" r="-4"/>
          <a:stretch>
            <a:fillRect/>
          </a:stretch>
        </p:blipFill>
        <p:spPr>
          <a:xfrm rot="0">
            <a:off x="7458710" y="2286000"/>
            <a:ext cx="3810635" cy="4001135"/>
          </a:xfrm>
          <a:prstGeom prst="rect"/>
          <a:noFill/>
        </p:spPr>
      </p:pic>
      <p:sp>
        <p:nvSpPr>
          <p:cNvPr id="40" name="텍스트 상자 21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군집 분석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1" name="도형 22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2" name="텍스트 상자 23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3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grpSp>
        <p:nvGrpSpPr>
          <p:cNvPr id="50" name="그룹 33"/>
          <p:cNvGrpSpPr>
            <a:grpSpLocks/>
          </p:cNvGrpSpPr>
          <p:nvPr/>
        </p:nvGrpSpPr>
        <p:grpSpPr>
          <a:xfrm rot="0">
            <a:off x="7270115" y="5567045"/>
            <a:ext cx="3569970" cy="666115"/>
            <a:chOff x="7270115" y="5567045"/>
            <a:chExt cx="3569970" cy="666115"/>
          </a:xfrm>
        </p:grpSpPr>
        <p:sp>
          <p:nvSpPr>
            <p:cNvPr id="37" name="도형 15"/>
            <p:cNvSpPr>
              <a:spLocks/>
            </p:cNvSpPr>
            <p:nvPr/>
          </p:nvSpPr>
          <p:spPr>
            <a:xfrm rot="0">
              <a:off x="8386445" y="5612765"/>
              <a:ext cx="669290" cy="231775"/>
            </a:xfrm>
            <a:prstGeom prst="roundRect">
              <a:avLst>
                <a:gd name="adj" fmla="val 1235"/>
              </a:avLst>
            </a:prstGeom>
            <a:solidFill>
              <a:srgbClr val="F8F9FA"/>
            </a:solidFill>
            <a:ln>
              <a:noFill/>
              <a:prstDash/>
            </a:ln>
          </p:spPr>
          <p:txBody>
            <a:bodyPr wrap="square" lIns="0" tIns="0" rIns="0" bIns="0" vert="horz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38" name="도형 17"/>
            <p:cNvSpPr>
              <a:spLocks/>
            </p:cNvSpPr>
            <p:nvPr/>
          </p:nvSpPr>
          <p:spPr>
            <a:xfrm rot="0">
              <a:off x="10170795" y="5567045"/>
              <a:ext cx="669290" cy="231775"/>
            </a:xfrm>
            <a:prstGeom prst="roundRect">
              <a:avLst>
                <a:gd name="adj" fmla="val 1235"/>
              </a:avLst>
            </a:prstGeom>
            <a:solidFill>
              <a:srgbClr val="F8F9FA"/>
            </a:solidFill>
            <a:ln>
              <a:noFill/>
              <a:prstDash/>
            </a:ln>
          </p:spPr>
          <p:txBody>
            <a:bodyPr wrap="square" lIns="0" tIns="0" rIns="0" bIns="0" vert="horz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39" name="도형 18"/>
            <p:cNvSpPr>
              <a:spLocks/>
            </p:cNvSpPr>
            <p:nvPr/>
          </p:nvSpPr>
          <p:spPr>
            <a:xfrm rot="0">
              <a:off x="9262745" y="5847080"/>
              <a:ext cx="669290" cy="231775"/>
            </a:xfrm>
            <a:prstGeom prst="roundRect">
              <a:avLst>
                <a:gd name="adj" fmla="val 1235"/>
              </a:avLst>
            </a:prstGeom>
            <a:solidFill>
              <a:srgbClr val="F8F9FA"/>
            </a:solidFill>
            <a:ln>
              <a:noFill/>
              <a:prstDash/>
            </a:ln>
          </p:spPr>
          <p:txBody>
            <a:bodyPr wrap="square" lIns="0" tIns="0" rIns="0" bIns="0" vert="horz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43" name="도형 24"/>
            <p:cNvSpPr>
              <a:spLocks/>
            </p:cNvSpPr>
            <p:nvPr/>
          </p:nvSpPr>
          <p:spPr>
            <a:xfrm rot="0">
              <a:off x="7270115" y="5622290"/>
              <a:ext cx="3288030" cy="498475"/>
            </a:xfrm>
            <a:prstGeom prst="roundRect">
              <a:avLst>
                <a:gd name="adj" fmla="val 1235"/>
              </a:avLst>
            </a:prstGeom>
            <a:solidFill>
              <a:srgbClr val="F8F9FA"/>
            </a:solidFill>
            <a:ln>
              <a:noFill/>
              <a:prstDash/>
            </a:ln>
          </p:spPr>
          <p:txBody>
            <a:bodyPr wrap="square" lIns="0" tIns="0" rIns="0" bIns="0" vert="horz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pic>
          <p:nvPicPr>
            <p:cNvPr id="44" name="그림 25" descr="C:/Users/Kim dong gwan/AppData/Roaming/PolarisOffice/ETemp/17048_16254952/fImage5453157041.png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7556500" y="5661025"/>
              <a:ext cx="3210560" cy="572135"/>
            </a:xfrm>
            <a:prstGeom prst="rect"/>
            <a:noFill/>
          </p:spPr>
        </p:pic>
        <p:sp>
          <p:nvSpPr>
            <p:cNvPr id="46" name="도형 29"/>
            <p:cNvSpPr>
              <a:spLocks/>
            </p:cNvSpPr>
            <p:nvPr/>
          </p:nvSpPr>
          <p:spPr>
            <a:xfrm rot="0">
              <a:off x="8157210" y="5676265"/>
              <a:ext cx="709930" cy="244475"/>
            </a:xfrm>
            <a:prstGeom prst="roundRect">
              <a:avLst>
                <a:gd name="adj" fmla="val 1235"/>
              </a:avLst>
            </a:prstGeom>
            <a:solidFill>
              <a:srgbClr val="F8F9FA"/>
            </a:solidFill>
            <a:ln>
              <a:noFill/>
              <a:prstDash/>
            </a:ln>
          </p:spPr>
          <p:txBody>
            <a:bodyPr wrap="square" lIns="0" tIns="0" rIns="0" bIns="0" vert="horz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48" name="도형 31"/>
            <p:cNvSpPr>
              <a:spLocks/>
            </p:cNvSpPr>
            <p:nvPr/>
          </p:nvSpPr>
          <p:spPr>
            <a:xfrm rot="0">
              <a:off x="10043160" y="5657215"/>
              <a:ext cx="709930" cy="244475"/>
            </a:xfrm>
            <a:prstGeom prst="roundRect">
              <a:avLst>
                <a:gd name="adj" fmla="val 1235"/>
              </a:avLst>
            </a:prstGeom>
            <a:solidFill>
              <a:srgbClr val="F8F9FA"/>
            </a:solidFill>
            <a:ln>
              <a:noFill/>
              <a:prstDash/>
            </a:ln>
          </p:spPr>
          <p:txBody>
            <a:bodyPr wrap="square" lIns="0" tIns="0" rIns="0" bIns="0" vert="horz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49" name="도형 32"/>
            <p:cNvSpPr>
              <a:spLocks/>
            </p:cNvSpPr>
            <p:nvPr/>
          </p:nvSpPr>
          <p:spPr>
            <a:xfrm rot="0">
              <a:off x="9099550" y="5911215"/>
              <a:ext cx="709930" cy="244475"/>
            </a:xfrm>
            <a:prstGeom prst="roundRect">
              <a:avLst>
                <a:gd name="adj" fmla="val 1235"/>
              </a:avLst>
            </a:prstGeom>
            <a:solidFill>
              <a:srgbClr val="F8F9FA"/>
            </a:solidFill>
            <a:ln>
              <a:noFill/>
              <a:prstDash/>
            </a:ln>
          </p:spPr>
          <p:txBody>
            <a:bodyPr wrap="square" lIns="0" tIns="0" rIns="0" bIns="0" vert="horz" anchor="t">
              <a:noAutofit/>
            </a:bodyPr>
            <a:lstStyle/>
            <a:p>
              <a:pPr marL="0" indent="0"/>
              <a:endParaRPr lang="ko-KR" altLang="en-US"/>
            </a:p>
          </p:txBody>
        </p:sp>
      </p:grpSp>
      <p:sp>
        <p:nvSpPr>
          <p:cNvPr id="45" name="텍스트 상자 28"/>
          <p:cNvSpPr txBox="1">
            <a:spLocks/>
          </p:cNvSpPr>
          <p:nvPr/>
        </p:nvSpPr>
        <p:spPr>
          <a:xfrm rot="0">
            <a:off x="8128635" y="5611495"/>
            <a:ext cx="1499235" cy="33464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핵심</a:t>
            </a:r>
            <a:r>
              <a:rPr lang="ko-KR" sz="10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</a:t>
            </a:r>
            <a:r>
              <a:rPr lang="ko-KR" sz="10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상업 및 업무 상권</a:t>
            </a:r>
            <a:endParaRPr lang="ko-KR" altLang="en-US" sz="10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2" name="도형 39"/>
          <p:cNvSpPr>
            <a:spLocks/>
          </p:cNvSpPr>
          <p:nvPr/>
        </p:nvSpPr>
        <p:spPr>
          <a:xfrm rot="0">
            <a:off x="10478135" y="5539105"/>
            <a:ext cx="709930" cy="244475"/>
          </a:xfrm>
          <a:prstGeom prst="roundRect">
            <a:avLst>
              <a:gd name="adj" fmla="val 1235"/>
            </a:avLst>
          </a:prstGeom>
          <a:solidFill>
            <a:srgbClr val="F8F9FA"/>
          </a:solidFill>
          <a:ln>
            <a:noFill/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1" name="텍스트 상자 34"/>
          <p:cNvSpPr txBox="1">
            <a:spLocks/>
          </p:cNvSpPr>
          <p:nvPr/>
        </p:nvSpPr>
        <p:spPr>
          <a:xfrm rot="0">
            <a:off x="10029190" y="5610860"/>
            <a:ext cx="1499235" cy="33464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0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유동집중 </a:t>
            </a:r>
            <a:r>
              <a:rPr lang="ko-KR" sz="10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주거 배후</a:t>
            </a:r>
            <a:r>
              <a:rPr lang="ko-KR" sz="10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지</a:t>
            </a:r>
            <a:endParaRPr lang="ko-KR" altLang="en-US" sz="10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3" name="텍스트 상자 40"/>
          <p:cNvSpPr txBox="1">
            <a:spLocks/>
          </p:cNvSpPr>
          <p:nvPr/>
        </p:nvSpPr>
        <p:spPr>
          <a:xfrm rot="0">
            <a:off x="9077960" y="5864225"/>
            <a:ext cx="1499235" cy="33464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0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주거 </a:t>
            </a:r>
            <a:r>
              <a:rPr lang="ko-KR" sz="10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생활 밀착 상권</a:t>
            </a:r>
            <a:endParaRPr lang="ko-KR" altLang="en-US" sz="10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714500"/>
            <a:ext cx="5353050" cy="4619625"/>
          </a:xfrm>
          <a:prstGeom prst="roundRect">
            <a:avLst>
              <a:gd name="adj" fmla="val 653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714500"/>
            <a:ext cx="5353050" cy="38100"/>
          </a:xfrm>
          <a:prstGeom prst="roundRect">
            <a:avLst>
              <a:gd name="adj" fmla="val 78546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1"/>
          <a:srcRect l="-2089" r="-2089" t="0" b="0"/>
          <a:stretch/>
        </p:blipFill>
        <p:spPr>
          <a:xfrm>
            <a:off x="762000" y="2333625"/>
            <a:ext cx="4953000" cy="8890"/>
          </a:xfrm>
          <a:prstGeom prst="rect">
            <a:avLst/>
          </a:prstGeom>
        </p:spPr>
      </p:pic>
      <p:pic>
        <p:nvPicPr>
          <p:cNvPr id="8" name="Image 1"/>
          <p:cNvPicPr>
            <a:picLocks noChangeAspect="1"/>
          </p:cNvPicPr>
          <p:nvPr/>
        </p:nvPicPr>
        <p:blipFill>
          <a:blip r:embed="rId2"/>
          <a:srcRect l="-2089" r="-2089" t="0" b="0"/>
          <a:stretch/>
        </p:blipFill>
        <p:spPr>
          <a:xfrm>
            <a:off x="762000" y="2714625"/>
            <a:ext cx="4953000" cy="8890"/>
          </a:xfrm>
          <a:prstGeom prst="rect">
            <a:avLst/>
          </a:prstGeom>
        </p:spPr>
      </p:pic>
      <p:pic>
        <p:nvPicPr>
          <p:cNvPr id="9" name="Image 2"/>
          <p:cNvPicPr>
            <a:picLocks noChangeAspect="1"/>
          </p:cNvPicPr>
          <p:nvPr/>
        </p:nvPicPr>
        <p:blipFill>
          <a:blip r:embed="rId3"/>
          <a:srcRect l="-2089" r="-2089" t="0" b="0"/>
          <a:stretch/>
        </p:blipFill>
        <p:spPr>
          <a:xfrm>
            <a:off x="762000" y="3429000"/>
            <a:ext cx="4953000" cy="8890"/>
          </a:xfrm>
          <a:prstGeom prst="rect">
            <a:avLst/>
          </a:prstGeom>
        </p:spPr>
      </p:pic>
      <p:pic>
        <p:nvPicPr>
          <p:cNvPr id="10" name="Image 3"/>
          <p:cNvPicPr>
            <a:picLocks noChangeAspect="1"/>
          </p:cNvPicPr>
          <p:nvPr/>
        </p:nvPicPr>
        <p:blipFill>
          <a:blip r:embed="rId4"/>
          <a:srcRect l="-2089" r="-2089" t="0" b="0"/>
          <a:stretch/>
        </p:blipFill>
        <p:spPr>
          <a:xfrm>
            <a:off x="762000" y="3952875"/>
            <a:ext cx="4953000" cy="8890"/>
          </a:xfrm>
          <a:prstGeom prst="rect">
            <a:avLst/>
          </a:prstGeom>
        </p:spPr>
      </p:pic>
      <p:pic>
        <p:nvPicPr>
          <p:cNvPr id="11" name="Image 4"/>
          <p:cNvPicPr>
            <a:picLocks noChangeAspect="1"/>
          </p:cNvPicPr>
          <p:nvPr/>
        </p:nvPicPr>
        <p:blipFill>
          <a:blip r:embed="rId5"/>
          <a:srcRect l="-2089" r="-2089" t="0" b="0"/>
          <a:stretch/>
        </p:blipFill>
        <p:spPr>
          <a:xfrm>
            <a:off x="762000" y="4476750"/>
            <a:ext cx="4953000" cy="8890"/>
          </a:xfrm>
          <a:prstGeom prst="rect">
            <a:avLst/>
          </a:prstGeom>
        </p:spPr>
      </p:pic>
      <p:pic>
        <p:nvPicPr>
          <p:cNvPr id="12" name="Image 5"/>
          <p:cNvPicPr>
            <a:picLocks noChangeAspect="1"/>
          </p:cNvPicPr>
          <p:nvPr/>
        </p:nvPicPr>
        <p:blipFill>
          <a:blip r:embed="rId6"/>
          <a:srcRect l="-2089" r="-2089" t="0" b="0"/>
          <a:stretch/>
        </p:blipFill>
        <p:spPr>
          <a:xfrm>
            <a:off x="762000" y="5238750"/>
            <a:ext cx="4953000" cy="8890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762000" y="5715000"/>
            <a:ext cx="4953000" cy="419100"/>
          </a:xfrm>
          <a:prstGeom prst="roundRect">
            <a:avLst>
              <a:gd name="adj" fmla="val 59547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6286500" y="1714500"/>
            <a:ext cx="5353050" cy="3191510"/>
          </a:xfrm>
          <a:prstGeom prst="roundRect">
            <a:avLst>
              <a:gd name="adj" fmla="val 136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000"/>
              </a:srgbClr>
            </a:outerShdw>
          </a:effectLst>
        </p:spPr>
      </p:sp>
      <p:sp>
        <p:nvSpPr>
          <p:cNvPr id="15" name="Shape 7"/>
          <p:cNvSpPr/>
          <p:nvPr/>
        </p:nvSpPr>
        <p:spPr>
          <a:xfrm>
            <a:off x="6286500" y="1714500"/>
            <a:ext cx="5353050" cy="38100"/>
          </a:xfrm>
          <a:prstGeom prst="roundRect">
            <a:avLst>
              <a:gd name="adj" fmla="val 113717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pic>
        <p:nvPicPr>
          <p:cNvPr id="16" name="Image 6"/>
          <p:cNvPicPr>
            <a:picLocks noChangeAspect="1"/>
          </p:cNvPicPr>
          <p:nvPr/>
        </p:nvPicPr>
        <p:blipFill>
          <a:blip r:embed="rId7"/>
          <a:srcRect l="-2089" r="-2089" t="0" b="0"/>
          <a:stretch/>
        </p:blipFill>
        <p:spPr>
          <a:xfrm>
            <a:off x="6477000" y="2333625"/>
            <a:ext cx="4953000" cy="8890"/>
          </a:xfrm>
          <a:prstGeom prst="rect">
            <a:avLst/>
          </a:prstGeom>
        </p:spPr>
      </p:pic>
      <p:pic>
        <p:nvPicPr>
          <p:cNvPr id="17" name="Image 7"/>
          <p:cNvPicPr>
            <a:picLocks noChangeAspect="1"/>
          </p:cNvPicPr>
          <p:nvPr/>
        </p:nvPicPr>
        <p:blipFill>
          <a:blip r:embed="rId8"/>
          <a:srcRect l="-2089" r="-2089" t="0" b="0"/>
          <a:stretch/>
        </p:blipFill>
        <p:spPr>
          <a:xfrm>
            <a:off x="6477000" y="2714625"/>
            <a:ext cx="4953000" cy="8890"/>
          </a:xfrm>
          <a:prstGeom prst="rect">
            <a:avLst/>
          </a:prstGeom>
        </p:spPr>
      </p:pic>
      <p:pic>
        <p:nvPicPr>
          <p:cNvPr id="18" name="Image 8"/>
          <p:cNvPicPr>
            <a:picLocks noChangeAspect="1"/>
          </p:cNvPicPr>
          <p:nvPr/>
        </p:nvPicPr>
        <p:blipFill>
          <a:blip r:embed="rId9"/>
          <a:srcRect l="-2089" r="-2089" t="0" b="0"/>
          <a:stretch/>
        </p:blipFill>
        <p:spPr>
          <a:xfrm>
            <a:off x="6477000" y="3286125"/>
            <a:ext cx="4953000" cy="8890"/>
          </a:xfrm>
          <a:prstGeom prst="rect">
            <a:avLst/>
          </a:prstGeom>
        </p:spPr>
      </p:pic>
      <p:pic>
        <p:nvPicPr>
          <p:cNvPr id="19" name="Image 9"/>
          <p:cNvPicPr>
            <a:picLocks noChangeAspect="1"/>
          </p:cNvPicPr>
          <p:nvPr/>
        </p:nvPicPr>
        <p:blipFill>
          <a:blip r:embed="rId10"/>
          <a:srcRect l="-2089" r="-2089" t="0" b="0"/>
          <a:stretch/>
        </p:blipFill>
        <p:spPr>
          <a:xfrm>
            <a:off x="6477000" y="3810000"/>
            <a:ext cx="4953000" cy="8890"/>
          </a:xfrm>
          <a:prstGeom prst="rect">
            <a:avLst/>
          </a:prstGeom>
        </p:spPr>
      </p:pic>
      <p:pic>
        <p:nvPicPr>
          <p:cNvPr id="20" name="Image 10"/>
          <p:cNvPicPr>
            <a:picLocks noChangeAspect="1"/>
          </p:cNvPicPr>
          <p:nvPr/>
        </p:nvPicPr>
        <p:blipFill>
          <a:blip r:embed="rId11"/>
          <a:srcRect l="-2089" r="-2089" t="0" b="0"/>
          <a:stretch/>
        </p:blipFill>
        <p:spPr>
          <a:xfrm>
            <a:off x="6477000" y="4334510"/>
            <a:ext cx="4953000" cy="8890"/>
          </a:xfrm>
          <a:prstGeom prst="rect">
            <a:avLst/>
          </a:prstGeom>
        </p:spPr>
      </p:pic>
      <p:sp>
        <p:nvSpPr>
          <p:cNvPr id="21" name="Shape 8"/>
          <p:cNvSpPr/>
          <p:nvPr/>
        </p:nvSpPr>
        <p:spPr>
          <a:xfrm>
            <a:off x="6286500" y="5143500"/>
            <a:ext cx="5353050" cy="1162050"/>
          </a:xfrm>
          <a:prstGeom prst="roundRect">
            <a:avLst>
              <a:gd name="adj" fmla="val 10318"/>
            </a:avLst>
          </a:prstGeom>
          <a:solidFill>
            <a:srgbClr val="FFF5F5"/>
          </a:solidFill>
          <a:ln w="12700">
            <a:solidFill>
              <a:srgbClr val="FFD6D6"/>
            </a:solidFill>
            <a:prstDash val="solid"/>
          </a:ln>
        </p:spPr>
      </p:sp>
      <p:sp>
        <p:nvSpPr>
          <p:cNvPr id="24" name="Text 11"/>
          <p:cNvSpPr txBox="1"/>
          <p:nvPr/>
        </p:nvSpPr>
        <p:spPr>
          <a:xfrm>
            <a:off x="5715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구성 &amp; 데이터셋 구조</a:t>
            </a:r>
            <a:endParaRPr lang="en-US" sz="3000" dirty="0"/>
          </a:p>
        </p:txBody>
      </p:sp>
      <p:pic>
        <p:nvPicPr>
          <p:cNvPr id="25" name="Image 11"/>
          <p:cNvPicPr>
            <a:picLocks noChangeAspect="1"/>
          </p:cNvPicPr>
          <p:nvPr/>
        </p:nvPicPr>
        <p:blipFill>
          <a:blip r:embed="rId12"/>
          <a:srcRect l="-1282" r="-1282" t="0" b="0"/>
          <a:stretch/>
        </p:blipFill>
        <p:spPr>
          <a:xfrm>
            <a:off x="762000" y="1966595"/>
            <a:ext cx="219710" cy="190500"/>
          </a:xfrm>
          <a:prstGeom prst="rect">
            <a:avLst/>
          </a:prstGeom>
        </p:spPr>
      </p:pic>
      <p:sp>
        <p:nvSpPr>
          <p:cNvPr id="26" name="Text 12"/>
          <p:cNvSpPr txBox="1"/>
          <p:nvPr/>
        </p:nvSpPr>
        <p:spPr>
          <a:xfrm>
            <a:off x="1047750" y="1924050"/>
            <a:ext cx="39243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피처(X변수) 구성 </a:t>
            </a:r>
            <a:pPr algn="l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[총 19개]</a:t>
            </a:r>
            <a:endParaRPr lang="en-US" sz="1500" dirty="0"/>
          </a:p>
        </p:txBody>
      </p:sp>
      <p:sp>
        <p:nvSpPr>
          <p:cNvPr id="27" name="Text 13"/>
          <p:cNvSpPr txBox="1"/>
          <p:nvPr/>
        </p:nvSpPr>
        <p:spPr>
          <a:xfrm>
            <a:off x="723900" y="242887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200" dirty="0"/>
          </a:p>
        </p:txBody>
      </p:sp>
      <p:sp>
        <p:nvSpPr>
          <p:cNvPr id="28" name="Text 14"/>
          <p:cNvSpPr txBox="1"/>
          <p:nvPr/>
        </p:nvSpPr>
        <p:spPr>
          <a:xfrm>
            <a:off x="1676400" y="24288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수</a:t>
            </a:r>
            <a:endParaRPr lang="en-US" sz="1200" dirty="0"/>
          </a:p>
        </p:txBody>
      </p:sp>
      <p:sp>
        <p:nvSpPr>
          <p:cNvPr id="29" name="Text 15"/>
          <p:cNvSpPr txBox="1"/>
          <p:nvPr/>
        </p:nvSpPr>
        <p:spPr>
          <a:xfrm>
            <a:off x="2667000" y="2428875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</a:t>
            </a:r>
            <a:endParaRPr lang="en-US" sz="1200" dirty="0"/>
          </a:p>
        </p:txBody>
      </p:sp>
      <p:sp>
        <p:nvSpPr>
          <p:cNvPr id="30" name="Text 16"/>
          <p:cNvSpPr txBox="1"/>
          <p:nvPr/>
        </p:nvSpPr>
        <p:spPr>
          <a:xfrm>
            <a:off x="723900" y="29718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기초</a:t>
            </a:r>
            <a:endParaRPr lang="en-US" sz="1200" dirty="0"/>
          </a:p>
        </p:txBody>
      </p:sp>
      <p:sp>
        <p:nvSpPr>
          <p:cNvPr id="31" name="Text 17"/>
          <p:cNvSpPr txBox="1"/>
          <p:nvPr/>
        </p:nvSpPr>
        <p:spPr>
          <a:xfrm>
            <a:off x="1676400" y="29718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</a:t>
            </a:r>
            <a:endParaRPr lang="en-US" sz="1200" dirty="0"/>
          </a:p>
        </p:txBody>
      </p:sp>
      <p:sp>
        <p:nvSpPr>
          <p:cNvPr id="32" name="Text 18"/>
          <p:cNvSpPr txBox="1"/>
          <p:nvPr/>
        </p:nvSpPr>
        <p:spPr>
          <a:xfrm>
            <a:off x="2667000" y="2857500"/>
            <a:ext cx="3238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전체_임대시세, 프랜차이즈_점포_수,</a:t>
            </a:r>
            <a:endParaRPr lang="en-US" sz="1100" dirty="0"/>
          </a:p>
        </p:txBody>
      </p:sp>
      <p:sp>
        <p:nvSpPr>
          <p:cNvPr id="33" name="Text 19"/>
          <p:cNvSpPr txBox="1"/>
          <p:nvPr/>
        </p:nvSpPr>
        <p:spPr>
          <a:xfrm>
            <a:off x="2667000" y="3057525"/>
            <a:ext cx="3238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개업_점포_수</a:t>
            </a:r>
            <a:endParaRPr lang="en-US" sz="1100" dirty="0"/>
          </a:p>
        </p:txBody>
      </p:sp>
      <p:sp>
        <p:nvSpPr>
          <p:cNvPr id="34" name="Text 20"/>
          <p:cNvSpPr txBox="1"/>
          <p:nvPr/>
        </p:nvSpPr>
        <p:spPr>
          <a:xfrm>
            <a:off x="723900" y="357187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집객시설</a:t>
            </a:r>
            <a:endParaRPr lang="en-US" sz="1200" dirty="0"/>
          </a:p>
        </p:txBody>
      </p:sp>
      <p:sp>
        <p:nvSpPr>
          <p:cNvPr id="35" name="Text 21"/>
          <p:cNvSpPr txBox="1"/>
          <p:nvPr/>
        </p:nvSpPr>
        <p:spPr>
          <a:xfrm>
            <a:off x="1676400" y="35718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</a:t>
            </a:r>
            <a:endParaRPr lang="en-US" sz="1200" dirty="0"/>
          </a:p>
        </p:txBody>
      </p:sp>
      <p:sp>
        <p:nvSpPr>
          <p:cNvPr id="36" name="Text 22"/>
          <p:cNvSpPr txBox="1"/>
          <p:nvPr/>
        </p:nvSpPr>
        <p:spPr>
          <a:xfrm>
            <a:off x="2667000" y="3571875"/>
            <a:ext cx="3238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교통·교육·의료·공공·상업시설_수</a:t>
            </a:r>
            <a:endParaRPr lang="en-US" sz="1100" dirty="0"/>
          </a:p>
        </p:txBody>
      </p:sp>
      <p:sp>
        <p:nvSpPr>
          <p:cNvPr id="37" name="Text 23"/>
          <p:cNvSpPr txBox="1"/>
          <p:nvPr/>
        </p:nvSpPr>
        <p:spPr>
          <a:xfrm>
            <a:off x="723900" y="409575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효율성</a:t>
            </a:r>
            <a:endParaRPr lang="en-US" sz="1200" dirty="0"/>
          </a:p>
        </p:txBody>
      </p:sp>
      <p:sp>
        <p:nvSpPr>
          <p:cNvPr id="38" name="Text 24"/>
          <p:cNvSpPr txBox="1"/>
          <p:nvPr/>
        </p:nvSpPr>
        <p:spPr>
          <a:xfrm>
            <a:off x="1676400" y="409575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</a:t>
            </a:r>
            <a:endParaRPr lang="en-US" sz="1200" dirty="0"/>
          </a:p>
        </p:txBody>
      </p:sp>
      <p:sp>
        <p:nvSpPr>
          <p:cNvPr id="39" name="Text 25"/>
          <p:cNvSpPr txBox="1"/>
          <p:nvPr/>
        </p:nvSpPr>
        <p:spPr>
          <a:xfrm>
            <a:off x="2667000" y="4095750"/>
            <a:ext cx="3238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임대료대비수익성(추정매출액/전체_임대시세)</a:t>
            </a:r>
            <a:endParaRPr lang="en-US" sz="1100" dirty="0"/>
          </a:p>
        </p:txBody>
      </p:sp>
      <p:sp>
        <p:nvSpPr>
          <p:cNvPr id="40" name="Text 26"/>
          <p:cNvSpPr txBox="1"/>
          <p:nvPr/>
        </p:nvSpPr>
        <p:spPr>
          <a:xfrm>
            <a:off x="723900" y="471487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모멘텀</a:t>
            </a:r>
            <a:endParaRPr lang="en-US" sz="1200" dirty="0"/>
          </a:p>
        </p:txBody>
      </p:sp>
      <p:sp>
        <p:nvSpPr>
          <p:cNvPr id="41" name="Text 27"/>
          <p:cNvSpPr txBox="1"/>
          <p:nvPr/>
        </p:nvSpPr>
        <p:spPr>
          <a:xfrm>
            <a:off x="1676400" y="47148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</a:t>
            </a:r>
            <a:endParaRPr lang="en-US" sz="1200" dirty="0"/>
          </a:p>
        </p:txBody>
      </p:sp>
      <p:sp>
        <p:nvSpPr>
          <p:cNvPr id="42" name="Text 28"/>
          <p:cNvSpPr txBox="1"/>
          <p:nvPr/>
        </p:nvSpPr>
        <p:spPr>
          <a:xfrm>
            <a:off x="2667000" y="4619625"/>
            <a:ext cx="3124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개업률·추정매출액·총유동인구_수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YoY · QoQ · diff_roll4</a:t>
            </a:r>
            <a:endParaRPr lang="en-US" sz="1100" dirty="0"/>
          </a:p>
        </p:txBody>
      </p:sp>
      <p:sp>
        <p:nvSpPr>
          <p:cNvPr id="43" name="Text 29"/>
          <p:cNvSpPr txBox="1"/>
          <p:nvPr/>
        </p:nvSpPr>
        <p:spPr>
          <a:xfrm>
            <a:off x="723900" y="538099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더미</a:t>
            </a:r>
            <a:endParaRPr lang="en-US" sz="1200" dirty="0"/>
          </a:p>
        </p:txBody>
      </p:sp>
      <p:sp>
        <p:nvSpPr>
          <p:cNvPr id="44" name="Text 30"/>
          <p:cNvSpPr txBox="1"/>
          <p:nvPr/>
        </p:nvSpPr>
        <p:spPr>
          <a:xfrm>
            <a:off x="1676400" y="538099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</a:t>
            </a:r>
            <a:endParaRPr lang="en-US" sz="1200" dirty="0"/>
          </a:p>
        </p:txBody>
      </p:sp>
      <p:sp>
        <p:nvSpPr>
          <p:cNvPr id="45" name="Text 31"/>
          <p:cNvSpPr txBox="1"/>
          <p:nvPr/>
        </p:nvSpPr>
        <p:spPr>
          <a:xfrm>
            <a:off x="2667000" y="5380990"/>
            <a:ext cx="3162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IS_RENT_MISSING(전체_임대시세 더미변수)</a:t>
            </a:r>
            <a:endParaRPr lang="en-US" sz="1100" dirty="0"/>
          </a:p>
        </p:txBody>
      </p:sp>
      <p:sp>
        <p:nvSpPr>
          <p:cNvPr id="46" name="Text 32"/>
          <p:cNvSpPr txBox="1"/>
          <p:nvPr/>
        </p:nvSpPr>
        <p:spPr>
          <a:xfrm>
            <a:off x="905510" y="5829300"/>
            <a:ext cx="48583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※ Y 구성 재료 변수 제외 · </a:t>
            </a:r>
            <a:pPr algn="l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변화율 및 구조 중심</a:t>
            </a:r>
            <a:pPr algn="l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피처 구성</a:t>
            </a:r>
            <a:endParaRPr lang="en-US" sz="1000" dirty="0"/>
          </a:p>
        </p:txBody>
      </p:sp>
      <p:pic>
        <p:nvPicPr>
          <p:cNvPr id="47" name="Image 12"/>
          <p:cNvPicPr>
            <a:picLocks noChangeAspect="1"/>
          </p:cNvPicPr>
          <p:nvPr/>
        </p:nvPicPr>
        <p:blipFill>
          <a:blip r:embed="rId13"/>
          <a:srcRect l="-1648" r="-1648" t="0" b="0"/>
          <a:stretch/>
        </p:blipFill>
        <p:spPr>
          <a:xfrm>
            <a:off x="6477000" y="1966595"/>
            <a:ext cx="172085" cy="190500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6762750" y="1924050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시계열(h)별 데이터셋 구조</a:t>
            </a:r>
            <a:endParaRPr lang="en-US" sz="1500" dirty="0"/>
          </a:p>
        </p:txBody>
      </p:sp>
      <p:sp>
        <p:nvSpPr>
          <p:cNvPr id="49" name="Text 34"/>
          <p:cNvSpPr txBox="1"/>
          <p:nvPr/>
        </p:nvSpPr>
        <p:spPr>
          <a:xfrm>
            <a:off x="6438900" y="242887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</a:t>
            </a:r>
            <a:endParaRPr lang="en-US" sz="1200" dirty="0"/>
          </a:p>
        </p:txBody>
      </p:sp>
      <p:sp>
        <p:nvSpPr>
          <p:cNvPr id="50" name="Text 35"/>
          <p:cNvSpPr txBox="1"/>
          <p:nvPr/>
        </p:nvSpPr>
        <p:spPr>
          <a:xfrm>
            <a:off x="7581900" y="2428875"/>
            <a:ext cx="1791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범위 (학습 피처)</a:t>
            </a:r>
            <a:endParaRPr lang="en-US" sz="1200" dirty="0"/>
          </a:p>
        </p:txBody>
      </p:sp>
      <p:sp>
        <p:nvSpPr>
          <p:cNvPr id="51" name="Text 36"/>
          <p:cNvSpPr txBox="1"/>
          <p:nvPr/>
        </p:nvSpPr>
        <p:spPr>
          <a:xfrm>
            <a:off x="9486900" y="2428875"/>
            <a:ext cx="1791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 범위 (타겟 변수)</a:t>
            </a:r>
            <a:endParaRPr lang="en-US" sz="1200" dirty="0"/>
          </a:p>
        </p:txBody>
      </p:sp>
      <p:sp>
        <p:nvSpPr>
          <p:cNvPr id="52" name="Shape 37"/>
          <p:cNvSpPr/>
          <p:nvPr/>
        </p:nvSpPr>
        <p:spPr>
          <a:xfrm>
            <a:off x="6477000" y="2905125"/>
            <a:ext cx="952500" cy="286385"/>
          </a:xfrm>
          <a:prstGeom prst="roundRect">
            <a:avLst>
              <a:gd name="adj" fmla="val 85197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8"/>
          <p:cNvSpPr txBox="1"/>
          <p:nvPr/>
        </p:nvSpPr>
        <p:spPr>
          <a:xfrm>
            <a:off x="6448425" y="2905125"/>
            <a:ext cx="1010285" cy="28638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25400" rIns="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 = 1</a:t>
            </a:r>
            <a:endParaRPr lang="en-US" sz="1300" dirty="0"/>
          </a:p>
        </p:txBody>
      </p:sp>
      <p:sp>
        <p:nvSpPr>
          <p:cNvPr id="54" name="Text 39"/>
          <p:cNvSpPr txBox="1"/>
          <p:nvPr/>
        </p:nvSpPr>
        <p:spPr>
          <a:xfrm>
            <a:off x="7581900" y="2924175"/>
            <a:ext cx="1791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2021Q1 ~ 2025Q2</a:t>
            </a:r>
            <a:endParaRPr lang="en-US" sz="1200" dirty="0"/>
          </a:p>
        </p:txBody>
      </p:sp>
      <p:sp>
        <p:nvSpPr>
          <p:cNvPr id="55" name="Text 40"/>
          <p:cNvSpPr txBox="1"/>
          <p:nvPr/>
        </p:nvSpPr>
        <p:spPr>
          <a:xfrm>
            <a:off x="9486900" y="2924175"/>
            <a:ext cx="1791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2021Q2 ~ 2025Q3</a:t>
            </a:r>
            <a:endParaRPr lang="en-US" sz="1200" dirty="0"/>
          </a:p>
        </p:txBody>
      </p:sp>
      <p:sp>
        <p:nvSpPr>
          <p:cNvPr id="56" name="Shape 41"/>
          <p:cNvSpPr/>
          <p:nvPr/>
        </p:nvSpPr>
        <p:spPr>
          <a:xfrm>
            <a:off x="6477000" y="3429000"/>
            <a:ext cx="952500" cy="286385"/>
          </a:xfrm>
          <a:prstGeom prst="roundRect">
            <a:avLst>
              <a:gd name="adj" fmla="val 85197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2"/>
          <p:cNvSpPr txBox="1"/>
          <p:nvPr/>
        </p:nvSpPr>
        <p:spPr>
          <a:xfrm>
            <a:off x="6448425" y="3429000"/>
            <a:ext cx="1010285" cy="28638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25400" rIns="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 = 2</a:t>
            </a:r>
            <a:endParaRPr lang="en-US" sz="1300" dirty="0"/>
          </a:p>
        </p:txBody>
      </p:sp>
      <p:sp>
        <p:nvSpPr>
          <p:cNvPr id="58" name="Text 43"/>
          <p:cNvSpPr txBox="1"/>
          <p:nvPr/>
        </p:nvSpPr>
        <p:spPr>
          <a:xfrm>
            <a:off x="7581900" y="3448050"/>
            <a:ext cx="1791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2021Q1 ~ 2025Q1</a:t>
            </a:r>
            <a:endParaRPr lang="en-US" sz="1200" dirty="0"/>
          </a:p>
        </p:txBody>
      </p:sp>
      <p:sp>
        <p:nvSpPr>
          <p:cNvPr id="59" name="Text 44"/>
          <p:cNvSpPr txBox="1"/>
          <p:nvPr/>
        </p:nvSpPr>
        <p:spPr>
          <a:xfrm>
            <a:off x="9486900" y="3448050"/>
            <a:ext cx="1791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2021Q3 ~ 2025Q3</a:t>
            </a:r>
            <a:endParaRPr lang="en-US" sz="1200" dirty="0"/>
          </a:p>
        </p:txBody>
      </p:sp>
      <p:sp>
        <p:nvSpPr>
          <p:cNvPr id="60" name="Shape 45"/>
          <p:cNvSpPr/>
          <p:nvPr/>
        </p:nvSpPr>
        <p:spPr>
          <a:xfrm>
            <a:off x="6477000" y="3952875"/>
            <a:ext cx="952500" cy="286385"/>
          </a:xfrm>
          <a:prstGeom prst="roundRect">
            <a:avLst>
              <a:gd name="adj" fmla="val 85197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46"/>
          <p:cNvSpPr txBox="1"/>
          <p:nvPr/>
        </p:nvSpPr>
        <p:spPr>
          <a:xfrm>
            <a:off x="6448425" y="3952875"/>
            <a:ext cx="1010285" cy="28638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25400" rIns="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 = 3</a:t>
            </a:r>
            <a:endParaRPr lang="en-US" sz="1300" dirty="0"/>
          </a:p>
        </p:txBody>
      </p:sp>
      <p:sp>
        <p:nvSpPr>
          <p:cNvPr id="62" name="Text 47"/>
          <p:cNvSpPr txBox="1"/>
          <p:nvPr/>
        </p:nvSpPr>
        <p:spPr>
          <a:xfrm>
            <a:off x="7581900" y="3971925"/>
            <a:ext cx="1791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2021Q1 ~ 2024Q4</a:t>
            </a:r>
            <a:endParaRPr lang="en-US" sz="1200" dirty="0"/>
          </a:p>
        </p:txBody>
      </p:sp>
      <p:sp>
        <p:nvSpPr>
          <p:cNvPr id="63" name="Text 48"/>
          <p:cNvSpPr txBox="1"/>
          <p:nvPr/>
        </p:nvSpPr>
        <p:spPr>
          <a:xfrm>
            <a:off x="9486900" y="3971925"/>
            <a:ext cx="1791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2021Q4 ~ 2025Q3</a:t>
            </a:r>
            <a:endParaRPr lang="en-US" sz="1200" dirty="0"/>
          </a:p>
        </p:txBody>
      </p:sp>
      <p:sp>
        <p:nvSpPr>
          <p:cNvPr id="64" name="Shape 49"/>
          <p:cNvSpPr/>
          <p:nvPr/>
        </p:nvSpPr>
        <p:spPr>
          <a:xfrm>
            <a:off x="6477000" y="4476750"/>
            <a:ext cx="952500" cy="286385"/>
          </a:xfrm>
          <a:prstGeom prst="roundRect">
            <a:avLst>
              <a:gd name="adj" fmla="val 85197"/>
            </a:avLst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50"/>
          <p:cNvSpPr txBox="1"/>
          <p:nvPr/>
        </p:nvSpPr>
        <p:spPr>
          <a:xfrm>
            <a:off x="6448425" y="4476750"/>
            <a:ext cx="1010285" cy="28638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25400" rIns="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 = 4</a:t>
            </a:r>
            <a:endParaRPr lang="en-US" sz="1300" dirty="0"/>
          </a:p>
        </p:txBody>
      </p:sp>
      <p:sp>
        <p:nvSpPr>
          <p:cNvPr id="66" name="Text 51"/>
          <p:cNvSpPr txBox="1"/>
          <p:nvPr/>
        </p:nvSpPr>
        <p:spPr>
          <a:xfrm>
            <a:off x="7581900" y="4495800"/>
            <a:ext cx="1791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2021Q1 ~ 2024Q3</a:t>
            </a:r>
            <a:endParaRPr lang="en-US" sz="1200" dirty="0"/>
          </a:p>
        </p:txBody>
      </p:sp>
      <p:sp>
        <p:nvSpPr>
          <p:cNvPr id="67" name="Text 52"/>
          <p:cNvSpPr txBox="1"/>
          <p:nvPr/>
        </p:nvSpPr>
        <p:spPr>
          <a:xfrm>
            <a:off x="9486900" y="4495800"/>
            <a:ext cx="1791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2022Q1 ~ 2025Q3</a:t>
            </a:r>
            <a:endParaRPr lang="en-US" sz="1200" dirty="0"/>
          </a:p>
        </p:txBody>
      </p:sp>
      <p:pic>
        <p:nvPicPr>
          <p:cNvPr id="68" name="Image 13"/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6523990" y="5353050"/>
            <a:ext cx="209550" cy="209550"/>
          </a:xfrm>
          <a:prstGeom prst="rect">
            <a:avLst/>
          </a:prstGeom>
        </p:spPr>
      </p:pic>
      <p:sp>
        <p:nvSpPr>
          <p:cNvPr id="69" name="Text 53"/>
          <p:cNvSpPr txBox="1"/>
          <p:nvPr/>
        </p:nvSpPr>
        <p:spPr>
          <a:xfrm>
            <a:off x="6858000" y="5334000"/>
            <a:ext cx="47631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시작점 변동 주의 (2020년 데이터 소실)</a:t>
            </a:r>
            <a:endParaRPr lang="en-US" sz="1300" dirty="0"/>
          </a:p>
        </p:txBody>
      </p:sp>
      <p:sp>
        <p:nvSpPr>
          <p:cNvPr id="70" name="Text 54"/>
          <p:cNvSpPr txBox="1"/>
          <p:nvPr/>
        </p:nvSpPr>
        <p:spPr>
          <a:xfrm>
            <a:off x="6858000" y="5667375"/>
            <a:ext cx="46488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YoY(전년동기대비) 파생변수 생성 과정에서 초기 4개 분기(2020년) 데이터가 소실되어, 모든 모델의 실질적인 학습 시작점은 </a:t>
            </a:r>
            <a:pPr algn="l" indent="0" marL="0">
              <a:buNone/>
            </a:pPr>
            <a:r>
              <a:rPr lang="en-US" sz="11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2021Q1</a:t>
            </a:r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고정됨.</a:t>
            </a:r>
            <a:endParaRPr lang="en-US" sz="1100" dirty="0"/>
          </a:p>
        </p:txBody>
      </p:sp>
      <p:sp>
        <p:nvSpPr>
          <p:cNvPr id="72" name="텍스트 상자 41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머신러닝 예측 모델 선정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3" name="도형 42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4" name="텍스트 상자 43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4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714500"/>
            <a:ext cx="3448050" cy="1066800"/>
          </a:xfrm>
          <a:prstGeom prst="roundRect">
            <a:avLst>
              <a:gd name="adj" fmla="val 12241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1500" y="1714500"/>
            <a:ext cx="3448050" cy="1066800"/>
          </a:xfrm>
          <a:prstGeom prst="roundRect">
            <a:avLst>
              <a:gd name="adj" fmla="val 12241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91500" y="1714500"/>
            <a:ext cx="3448050" cy="1066800"/>
          </a:xfrm>
          <a:prstGeom prst="roundRect">
            <a:avLst>
              <a:gd name="adj" fmla="val 12241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" y="3524250"/>
            <a:ext cx="11068050" cy="2333625"/>
          </a:xfrm>
          <a:prstGeom prst="roundRect">
            <a:avLst>
              <a:gd name="adj" fmla="val 255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500" y="3524250"/>
            <a:ext cx="11068050" cy="38100"/>
          </a:xfrm>
          <a:prstGeom prst="roundRect">
            <a:avLst>
              <a:gd name="adj" fmla="val 155490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" y="6001385"/>
            <a:ext cx="11068050" cy="590550"/>
          </a:xfrm>
          <a:prstGeom prst="roundRect">
            <a:avLst>
              <a:gd name="adj" fmla="val 39948"/>
            </a:avLst>
          </a:prstGeom>
          <a:solidFill>
            <a:srgbClr val="E8EEFF"/>
          </a:solidFill>
          <a:ln w="12700">
            <a:solidFill>
              <a:srgbClr val="1A35B5"/>
            </a:solidFill>
            <a:prstDash val="solid"/>
          </a:ln>
        </p:spPr>
      </p:sp>
      <p:pic>
        <p:nvPicPr>
          <p:cNvPr id="11" name="Image 0"/>
          <p:cNvPicPr>
            <a:picLocks noChangeAspect="1"/>
          </p:cNvPicPr>
          <p:nvPr/>
        </p:nvPicPr>
        <p:blipFill>
          <a:blip r:embed="rId1"/>
          <a:srcRect l="-393" r="-393" t="0" b="0"/>
          <a:stretch/>
        </p:blipFill>
        <p:spPr>
          <a:xfrm>
            <a:off x="571500" y="1714500"/>
            <a:ext cx="57785" cy="10477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95500" y="3524250"/>
            <a:ext cx="2419350" cy="2286000"/>
          </a:xfrm>
          <a:prstGeom prst="rect">
            <a:avLst/>
          </a:prstGeom>
          <a:solidFill>
            <a:srgbClr val="F4F7FF"/>
          </a:solidFill>
          <a:ln w="25400">
            <a:solidFill>
              <a:srgbClr val="D1DEFF"/>
            </a:solidFill>
            <a:prstDash val="solid"/>
          </a:ln>
        </p:spPr>
      </p:sp>
      <p:pic>
        <p:nvPicPr>
          <p:cNvPr id="13" name="Image 1"/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571500" y="4048125"/>
            <a:ext cx="11049000" cy="8890"/>
          </a:xfrm>
          <a:prstGeom prst="rect">
            <a:avLst/>
          </a:prstGeom>
        </p:spPr>
      </p:pic>
      <p:pic>
        <p:nvPicPr>
          <p:cNvPr id="14" name="Image 2"/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571500" y="4476750"/>
            <a:ext cx="11049000" cy="8890"/>
          </a:xfrm>
          <a:prstGeom prst="rect">
            <a:avLst/>
          </a:prstGeom>
        </p:spPr>
      </p:pic>
      <p:pic>
        <p:nvPicPr>
          <p:cNvPr id="15" name="Image 3"/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571500" y="4906010"/>
            <a:ext cx="11049000" cy="8890"/>
          </a:xfrm>
          <a:prstGeom prst="rect">
            <a:avLst/>
          </a:prstGeom>
        </p:spPr>
      </p:pic>
      <p:pic>
        <p:nvPicPr>
          <p:cNvPr id="16" name="Image 4"/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571500" y="5334000"/>
            <a:ext cx="11049000" cy="889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1500" y="952500"/>
            <a:ext cx="602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하이퍼파라미터 튜닝</a:t>
            </a:r>
            <a:endParaRPr lang="en-US" sz="3000" dirty="0"/>
          </a:p>
        </p:txBody>
      </p:sp>
      <p:pic>
        <p:nvPicPr>
          <p:cNvPr id="20" name="Image 5"/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8990" y="1919605"/>
            <a:ext cx="190500" cy="1905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95375" y="1886585"/>
            <a:ext cx="2057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 대상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808990" y="2286000"/>
            <a:ext cx="323532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-37" kern="0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 · XGBoost · CatBoost</a:t>
            </a:r>
            <a:endParaRPr lang="en-US" sz="1400" dirty="0"/>
          </a:p>
        </p:txBody>
      </p:sp>
      <p:pic>
        <p:nvPicPr>
          <p:cNvPr id="23" name="Image 6"/>
          <p:cNvPicPr>
            <a:picLocks noChangeAspect="1"/>
          </p:cNvPicPr>
          <p:nvPr/>
        </p:nvPicPr>
        <p:blipFill>
          <a:blip r:embed="rId7"/>
          <a:srcRect l="-1648" r="-1648" t="0" b="0"/>
          <a:stretch/>
        </p:blipFill>
        <p:spPr>
          <a:xfrm>
            <a:off x="4619625" y="1919605"/>
            <a:ext cx="172085" cy="1905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906010" y="1886585"/>
            <a:ext cx="1981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Baseline 모델</a:t>
            </a:r>
            <a:endParaRPr lang="en-US" sz="1300" dirty="0"/>
          </a:p>
        </p:txBody>
      </p:sp>
      <p:sp>
        <p:nvSpPr>
          <p:cNvPr id="25" name="Text 16"/>
          <p:cNvSpPr txBox="1"/>
          <p:nvPr/>
        </p:nvSpPr>
        <p:spPr>
          <a:xfrm>
            <a:off x="4619625" y="2286000"/>
            <a:ext cx="316293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-37" kern="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HistGBM</a:t>
            </a:r>
            <a:endParaRPr lang="en-US" sz="1400" dirty="0"/>
          </a:p>
        </p:txBody>
      </p:sp>
      <p:pic>
        <p:nvPicPr>
          <p:cNvPr id="26" name="Image 7"/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429625" y="1919605"/>
            <a:ext cx="190500" cy="1905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8715375" y="1886585"/>
            <a:ext cx="2057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 방법</a:t>
            </a:r>
            <a:endParaRPr lang="en-US" sz="1300" dirty="0"/>
          </a:p>
        </p:txBody>
      </p:sp>
      <p:sp>
        <p:nvSpPr>
          <p:cNvPr id="28" name="Text 18"/>
          <p:cNvSpPr txBox="1"/>
          <p:nvPr/>
        </p:nvSpPr>
        <p:spPr>
          <a:xfrm>
            <a:off x="8429625" y="2286000"/>
            <a:ext cx="316293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-37" kern="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Optuna </a:t>
            </a:r>
            <a:pPr algn="l" indent="0" marL="0">
              <a:buNone/>
            </a:pPr>
            <a:r>
              <a:rPr lang="en-US" sz="1200" b="1" spc="-37" kern="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(50 trials)</a:t>
            </a:r>
            <a:endParaRPr lang="en-US" sz="1400" dirty="0"/>
          </a:p>
        </p:txBody>
      </p:sp>
      <p:pic>
        <p:nvPicPr>
          <p:cNvPr id="29" name="Image 8"/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71500" y="3176905"/>
            <a:ext cx="190500" cy="19050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57885" y="3143885"/>
            <a:ext cx="39243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h별 CV Spearman 성능 비교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533400" y="3715385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시계열 (h)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2770505" y="3715385"/>
            <a:ext cx="18021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CatBoost </a:t>
            </a:r>
            <a:endParaRPr lang="en-US" sz="1300" dirty="0"/>
          </a:p>
        </p:txBody>
      </p:sp>
      <p:pic>
        <p:nvPicPr>
          <p:cNvPr id="33" name="Image 9"/>
          <p:cNvPicPr>
            <a:picLocks noChangeAspect="1"/>
          </p:cNvPicPr>
          <p:nvPr/>
        </p:nvPicPr>
        <p:blipFill>
          <a:blip r:embed="rId10"/>
          <a:srcRect l="-33" r="-33" t="0" b="0"/>
          <a:stretch/>
        </p:blipFill>
        <p:spPr>
          <a:xfrm>
            <a:off x="3630295" y="3780790"/>
            <a:ext cx="172085" cy="15240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4429125" y="3715385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200" dirty="0"/>
          </a:p>
        </p:txBody>
      </p:sp>
      <p:sp>
        <p:nvSpPr>
          <p:cNvPr id="35" name="Text 23"/>
          <p:cNvSpPr txBox="1"/>
          <p:nvPr/>
        </p:nvSpPr>
        <p:spPr>
          <a:xfrm>
            <a:off x="6810375" y="3715385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200" dirty="0"/>
          </a:p>
        </p:txBody>
      </p:sp>
      <p:sp>
        <p:nvSpPr>
          <p:cNvPr id="36" name="Text 24"/>
          <p:cNvSpPr txBox="1"/>
          <p:nvPr/>
        </p:nvSpPr>
        <p:spPr>
          <a:xfrm>
            <a:off x="9191625" y="3715385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HistGBM (Base)</a:t>
            </a:r>
            <a:endParaRPr lang="en-US" sz="1200" dirty="0"/>
          </a:p>
        </p:txBody>
      </p:sp>
      <p:sp>
        <p:nvSpPr>
          <p:cNvPr id="37" name="Text 25"/>
          <p:cNvSpPr txBox="1"/>
          <p:nvPr/>
        </p:nvSpPr>
        <p:spPr>
          <a:xfrm>
            <a:off x="533400" y="4191000"/>
            <a:ext cx="1600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 = 1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2048510" y="4191000"/>
            <a:ext cx="24771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0.9476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4429125" y="419100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0.9442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6810375" y="419100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0.9444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9191625" y="419100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0.9400</a:t>
            </a:r>
            <a:endParaRPr lang="en-US" sz="1200" dirty="0"/>
          </a:p>
        </p:txBody>
      </p:sp>
      <p:sp>
        <p:nvSpPr>
          <p:cNvPr id="42" name="Text 30"/>
          <p:cNvSpPr txBox="1"/>
          <p:nvPr/>
        </p:nvSpPr>
        <p:spPr>
          <a:xfrm>
            <a:off x="533400" y="4619625"/>
            <a:ext cx="1600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 = 2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2048510" y="4619625"/>
            <a:ext cx="24771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0.9445</a:t>
            </a:r>
            <a:endParaRPr lang="en-US" sz="1300" dirty="0"/>
          </a:p>
        </p:txBody>
      </p:sp>
      <p:sp>
        <p:nvSpPr>
          <p:cNvPr id="44" name="Text 32"/>
          <p:cNvSpPr txBox="1"/>
          <p:nvPr/>
        </p:nvSpPr>
        <p:spPr>
          <a:xfrm>
            <a:off x="4429125" y="4619625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0.9401</a:t>
            </a:r>
            <a:endParaRPr lang="en-US" sz="1200" dirty="0"/>
          </a:p>
        </p:txBody>
      </p:sp>
      <p:sp>
        <p:nvSpPr>
          <p:cNvPr id="45" name="Text 33"/>
          <p:cNvSpPr txBox="1"/>
          <p:nvPr/>
        </p:nvSpPr>
        <p:spPr>
          <a:xfrm>
            <a:off x="6810375" y="4619625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0.9425</a:t>
            </a:r>
            <a:endParaRPr lang="en-US" sz="1200" dirty="0"/>
          </a:p>
        </p:txBody>
      </p:sp>
      <p:sp>
        <p:nvSpPr>
          <p:cNvPr id="46" name="Text 34"/>
          <p:cNvSpPr txBox="1"/>
          <p:nvPr/>
        </p:nvSpPr>
        <p:spPr>
          <a:xfrm>
            <a:off x="9191625" y="4619625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0.9358</a:t>
            </a:r>
            <a:endParaRPr lang="en-US" sz="1200" dirty="0"/>
          </a:p>
        </p:txBody>
      </p:sp>
      <p:sp>
        <p:nvSpPr>
          <p:cNvPr id="47" name="Text 35"/>
          <p:cNvSpPr txBox="1"/>
          <p:nvPr/>
        </p:nvSpPr>
        <p:spPr>
          <a:xfrm>
            <a:off x="533400" y="5048250"/>
            <a:ext cx="1600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 = 3</a:t>
            </a:r>
            <a:endParaRPr lang="en-US" sz="1200" dirty="0"/>
          </a:p>
        </p:txBody>
      </p:sp>
      <p:sp>
        <p:nvSpPr>
          <p:cNvPr id="48" name="Text 36"/>
          <p:cNvSpPr txBox="1"/>
          <p:nvPr/>
        </p:nvSpPr>
        <p:spPr>
          <a:xfrm>
            <a:off x="2048510" y="5048250"/>
            <a:ext cx="24771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0.9407</a:t>
            </a:r>
            <a:endParaRPr lang="en-US" sz="1300" dirty="0"/>
          </a:p>
        </p:txBody>
      </p:sp>
      <p:sp>
        <p:nvSpPr>
          <p:cNvPr id="49" name="Text 37"/>
          <p:cNvSpPr txBox="1"/>
          <p:nvPr/>
        </p:nvSpPr>
        <p:spPr>
          <a:xfrm>
            <a:off x="4429125" y="504825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0.9367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6810375" y="504825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0.9393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9191625" y="504825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0.9347</a:t>
            </a:r>
            <a:endParaRPr lang="en-US" sz="1200" dirty="0"/>
          </a:p>
        </p:txBody>
      </p:sp>
      <p:sp>
        <p:nvSpPr>
          <p:cNvPr id="52" name="Text 40"/>
          <p:cNvSpPr txBox="1"/>
          <p:nvPr/>
        </p:nvSpPr>
        <p:spPr>
          <a:xfrm>
            <a:off x="533400" y="5477510"/>
            <a:ext cx="1600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 = 4</a:t>
            </a:r>
            <a:endParaRPr lang="en-US" sz="1200" dirty="0"/>
          </a:p>
        </p:txBody>
      </p:sp>
      <p:sp>
        <p:nvSpPr>
          <p:cNvPr id="53" name="Text 41"/>
          <p:cNvSpPr txBox="1"/>
          <p:nvPr/>
        </p:nvSpPr>
        <p:spPr>
          <a:xfrm>
            <a:off x="2048510" y="5477510"/>
            <a:ext cx="24771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0.9397</a:t>
            </a:r>
            <a:endParaRPr lang="en-US" sz="1300" dirty="0"/>
          </a:p>
        </p:txBody>
      </p:sp>
      <p:sp>
        <p:nvSpPr>
          <p:cNvPr id="54" name="Text 42"/>
          <p:cNvSpPr txBox="1"/>
          <p:nvPr/>
        </p:nvSpPr>
        <p:spPr>
          <a:xfrm>
            <a:off x="4429125" y="547751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0.9356</a:t>
            </a:r>
            <a:endParaRPr lang="en-US" sz="1200" dirty="0"/>
          </a:p>
        </p:txBody>
      </p:sp>
      <p:sp>
        <p:nvSpPr>
          <p:cNvPr id="55" name="Text 43"/>
          <p:cNvSpPr txBox="1"/>
          <p:nvPr/>
        </p:nvSpPr>
        <p:spPr>
          <a:xfrm>
            <a:off x="6810375" y="547751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0.9377</a:t>
            </a:r>
            <a:endParaRPr lang="en-US" sz="1200" dirty="0"/>
          </a:p>
        </p:txBody>
      </p:sp>
      <p:sp>
        <p:nvSpPr>
          <p:cNvPr id="56" name="Text 44"/>
          <p:cNvSpPr txBox="1"/>
          <p:nvPr/>
        </p:nvSpPr>
        <p:spPr>
          <a:xfrm>
            <a:off x="9191625" y="5477510"/>
            <a:ext cx="247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0.9324</a:t>
            </a:r>
            <a:endParaRPr lang="en-US" sz="1200" dirty="0"/>
          </a:p>
        </p:txBody>
      </p:sp>
      <p:pic>
        <p:nvPicPr>
          <p:cNvPr id="57" name="Image 10"/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238500" y="6172200"/>
            <a:ext cx="228600" cy="228600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3619500" y="6153150"/>
            <a:ext cx="7735570" cy="27749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CatBoost 모델이 h=1~4 전 구간 1위 기록</a:t>
            </a:r>
            <a:endParaRPr lang="ko-KR" altLang="en-US" sz="15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0" name="텍스트 상자 44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머신러닝 예측 모델 선정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1" name="도형 45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2" name="텍스트 상자 46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4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/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571500" y="1905000"/>
            <a:ext cx="2133600" cy="1714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81300" y="1905000"/>
            <a:ext cx="2152650" cy="1762125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81300" y="1905000"/>
            <a:ext cx="2152650" cy="38100"/>
          </a:xfrm>
          <a:prstGeom prst="roundRect">
            <a:avLst>
              <a:gd name="adj" fmla="val 20591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91100" y="1905000"/>
            <a:ext cx="2152650" cy="1762125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91100" y="1905000"/>
            <a:ext cx="2152650" cy="38100"/>
          </a:xfrm>
          <a:prstGeom prst="roundRect">
            <a:avLst>
              <a:gd name="adj" fmla="val 20591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00900" y="1905000"/>
            <a:ext cx="2152650" cy="1762125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200900" y="1905000"/>
            <a:ext cx="2152650" cy="38100"/>
          </a:xfrm>
          <a:prstGeom prst="roundRect">
            <a:avLst>
              <a:gd name="adj" fmla="val 20591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410700" y="1905000"/>
            <a:ext cx="2152650" cy="1762125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410700" y="1905000"/>
            <a:ext cx="2152650" cy="38100"/>
          </a:xfrm>
          <a:prstGeom prst="roundRect">
            <a:avLst>
              <a:gd name="adj" fmla="val 20591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2000" y="4000500"/>
            <a:ext cx="10772775" cy="1066800"/>
          </a:xfrm>
          <a:prstGeom prst="roundRect">
            <a:avLst>
              <a:gd name="adj" fmla="val 18362"/>
            </a:avLst>
          </a:prstGeom>
          <a:solidFill>
            <a:srgbClr val="FFFFFF"/>
          </a:solidFill>
          <a:ln w="12700">
            <a:solidFill>
              <a:srgbClr val="C4D3FA"/>
            </a:solidFill>
            <a:prstDash val="solid"/>
          </a:ln>
          <a:effectLst>
            <a:outerShdw sx="100000" sy="100000" kx="0" ky="0" algn="bl" rotWithShape="0" blurRad="139700" dist="38100" dir="16200000">
              <a:srgbClr val="1a35b5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62000" y="4000500"/>
            <a:ext cx="95250" cy="1066800"/>
          </a:xfrm>
          <a:prstGeom prst="roundRect">
            <a:avLst>
              <a:gd name="adj" fmla="val 206043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2000" y="5334000"/>
            <a:ext cx="10772775" cy="972185"/>
          </a:xfrm>
          <a:prstGeom prst="roundRect">
            <a:avLst>
              <a:gd name="adj" fmla="val 22135"/>
            </a:avLst>
          </a:prstGeom>
          <a:solidFill>
            <a:srgbClr val="FFF5F5"/>
          </a:solidFill>
          <a:ln w="12700">
            <a:solidFill>
              <a:srgbClr val="FFD6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2000" y="5334000"/>
            <a:ext cx="95250" cy="972185"/>
          </a:xfrm>
          <a:prstGeom prst="roundRect">
            <a:avLst>
              <a:gd name="adj" fmla="val 226243"/>
            </a:avLst>
          </a:prstGeom>
          <a:solidFill>
            <a:srgbClr val="D94040"/>
          </a:solidFill>
          <a:ln w="12700">
            <a:solidFill>
              <a:srgbClr val="D9404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51990" y="2133600"/>
            <a:ext cx="600075" cy="247650"/>
          </a:xfrm>
          <a:prstGeom prst="roundRect">
            <a:avLst>
              <a:gd name="adj" fmla="val 369004"/>
            </a:avLst>
          </a:prstGeom>
          <a:solidFill>
            <a:srgbClr val="FFB3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" b="-5"/>
          <a:stretch>
            <a:fillRect/>
          </a:stretch>
        </p:blipFill>
        <p:spPr>
          <a:xfrm rot="0">
            <a:off x="857885" y="4000500"/>
            <a:ext cx="10666095" cy="1048385"/>
          </a:xfrm>
          <a:prstGeom prst="rect"/>
          <a:noFill/>
        </p:spPr>
      </p:pic>
      <p:sp>
        <p:nvSpPr>
          <p:cNvPr id="22" name="Text 18"/>
          <p:cNvSpPr txBox="1"/>
          <p:nvPr/>
        </p:nvSpPr>
        <p:spPr>
          <a:xfrm>
            <a:off x="762000" y="952500"/>
            <a:ext cx="781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성능 비교 &amp; 최종 모델 선정</a:t>
            </a:r>
            <a:endParaRPr lang="en-US" sz="3000" dirty="0"/>
          </a:p>
        </p:txBody>
      </p:sp>
      <p:sp>
        <p:nvSpPr>
          <p:cNvPr id="23" name="Text 19"/>
          <p:cNvSpPr txBox="1"/>
          <p:nvPr/>
        </p:nvSpPr>
        <p:spPr>
          <a:xfrm>
            <a:off x="762000" y="1477010"/>
            <a:ext cx="7734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평가 지표 (h=1~4 Test 데이터 기준)</a:t>
            </a:r>
            <a:endParaRPr lang="en-US" sz="1200" dirty="0"/>
          </a:p>
        </p:txBody>
      </p:sp>
      <p:pic>
        <p:nvPicPr>
          <p:cNvPr id="24" name="Image 2"/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762000" y="2133600"/>
            <a:ext cx="257175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914525" y="2162810"/>
            <a:ext cx="6769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762000" y="2523490"/>
            <a:ext cx="18288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Spearman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762000" y="2809875"/>
            <a:ext cx="1892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순위 상관계수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762000" y="3094990"/>
            <a:ext cx="18230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E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 활력 순위의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1DE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안정성 측정</a:t>
            </a:r>
            <a:endParaRPr lang="en-US" sz="1000" dirty="0"/>
          </a:p>
        </p:txBody>
      </p:sp>
      <p:pic>
        <p:nvPicPr>
          <p:cNvPr id="29" name="Image 3"/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971800" y="213360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2971800" y="2523490"/>
            <a:ext cx="1828800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Dir_Acc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2971800" y="2809875"/>
            <a:ext cx="1892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 정확도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2971800" y="3094990"/>
            <a:ext cx="18230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상승 및 하락 추세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예측의 정확성</a:t>
            </a:r>
            <a:endParaRPr lang="en-US" sz="1000" dirty="0"/>
          </a:p>
        </p:txBody>
      </p:sp>
      <p:pic>
        <p:nvPicPr>
          <p:cNvPr id="33" name="Image 4"/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181600" y="2133600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181600" y="2523490"/>
            <a:ext cx="1828800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Top_K_Hit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5181600" y="2809875"/>
            <a:ext cx="1892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 적중률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5181600" y="3094990"/>
            <a:ext cx="18230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 K개 상권의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포함 여부 판단</a:t>
            </a:r>
            <a:endParaRPr lang="en-US" sz="1000" dirty="0"/>
          </a:p>
        </p:txBody>
      </p:sp>
      <p:pic>
        <p:nvPicPr>
          <p:cNvPr id="37" name="Image 5"/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91400" y="2133600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391400" y="2523490"/>
            <a:ext cx="1828800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7391400" y="2809875"/>
            <a:ext cx="1892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제곱근 오차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7391400" y="3094990"/>
            <a:ext cx="18230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예측값과 실제값의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절대적 차이 크기</a:t>
            </a:r>
            <a:endParaRPr lang="en-US" sz="1000" dirty="0"/>
          </a:p>
        </p:txBody>
      </p:sp>
      <p:pic>
        <p:nvPicPr>
          <p:cNvPr id="41" name="Image 6"/>
          <p:cNvPicPr>
            <a:picLocks noChangeAspect="1"/>
          </p:cNvPicPr>
          <p:nvPr/>
        </p:nvPicPr>
        <p:blipFill>
          <a:blip r:embed="rId7"/>
          <a:srcRect l="-133" r="-133" t="0" b="0"/>
          <a:stretch/>
        </p:blipFill>
        <p:spPr>
          <a:xfrm>
            <a:off x="9601200" y="2133600"/>
            <a:ext cx="172085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601200" y="2523490"/>
            <a:ext cx="1828800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</a:t>
            </a:r>
            <a:endParaRPr lang="en-US" sz="1600" dirty="0"/>
          </a:p>
        </p:txBody>
      </p:sp>
      <p:sp>
        <p:nvSpPr>
          <p:cNvPr id="43" name="Text 34"/>
          <p:cNvSpPr txBox="1"/>
          <p:nvPr/>
        </p:nvSpPr>
        <p:spPr>
          <a:xfrm>
            <a:off x="9601200" y="2809875"/>
            <a:ext cx="1892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결정계수</a:t>
            </a:r>
            <a:endParaRPr lang="en-US" sz="1100" dirty="0"/>
          </a:p>
        </p:txBody>
      </p:sp>
      <p:sp>
        <p:nvSpPr>
          <p:cNvPr id="44" name="Text 35"/>
          <p:cNvSpPr txBox="1"/>
          <p:nvPr/>
        </p:nvSpPr>
        <p:spPr>
          <a:xfrm>
            <a:off x="9601200" y="3094990"/>
            <a:ext cx="19221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독립변수가 종속변수를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설명하는 설명력</a:t>
            </a:r>
            <a:endParaRPr lang="en-US" sz="1000" dirty="0"/>
          </a:p>
        </p:txBody>
      </p:sp>
      <p:pic>
        <p:nvPicPr>
          <p:cNvPr id="45" name="Image 7"/>
          <p:cNvPicPr>
            <a:picLocks noChangeAspect="1"/>
          </p:cNvPicPr>
          <p:nvPr/>
        </p:nvPicPr>
        <p:blipFill>
          <a:blip r:embed="rId8"/>
          <a:srcRect l="-281" r="-281" t="0" b="0"/>
          <a:stretch/>
        </p:blipFill>
        <p:spPr>
          <a:xfrm>
            <a:off x="1238250" y="4334510"/>
            <a:ext cx="409575" cy="36195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1857375" y="4619625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선행 예측 기간에서 Spearman(0.95 이상), Dir_Acc 등 주요 지표가 타 모델 대비 압도적으로 우수함.</a:t>
            </a:r>
            <a:endParaRPr lang="en-US" sz="1200" dirty="0"/>
          </a:p>
        </p:txBody>
      </p:sp>
      <p:pic>
        <p:nvPicPr>
          <p:cNvPr id="48" name="Image 8"/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238250" y="5619750"/>
            <a:ext cx="342900" cy="3429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857375" y="5524500"/>
            <a:ext cx="8686800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-37" kern="0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 : Top_K_Hit 지표 약점 발견</a:t>
            </a:r>
            <a:endParaRPr lang="en-US" sz="1600" dirty="0"/>
          </a:p>
        </p:txBody>
      </p:sp>
      <p:sp>
        <p:nvSpPr>
          <p:cNvPr id="52" name="도형 50"/>
          <p:cNvSpPr>
            <a:spLocks/>
          </p:cNvSpPr>
          <p:nvPr/>
        </p:nvSpPr>
        <p:spPr>
          <a:xfrm rot="0">
            <a:off x="3023235" y="4155440"/>
            <a:ext cx="1929765" cy="490220"/>
          </a:xfrm>
          <a:prstGeom prst="roundRect"/>
          <a:solidFill>
            <a:srgbClr val="1A35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0" name="Text 39"/>
          <p:cNvSpPr txBox="1"/>
          <p:nvPr/>
        </p:nvSpPr>
        <p:spPr>
          <a:xfrm>
            <a:off x="1857375" y="5857875"/>
            <a:ext cx="973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CV 검증(0.73~0.80) 대비 Test 환경(0.50~0.75)에서 적중률이 다소 하락함. 단기적/절대적 순위 변동 예측 시 유의가 필요함.</a:t>
            </a:r>
            <a:endParaRPr lang="en-US" sz="1200" dirty="0"/>
          </a:p>
        </p:txBody>
      </p:sp>
      <p:sp>
        <p:nvSpPr>
          <p:cNvPr id="46" name="Text 36"/>
          <p:cNvSpPr txBox="1">
            <a:spLocks/>
          </p:cNvSpPr>
          <p:nvPr/>
        </p:nvSpPr>
        <p:spPr>
          <a:xfrm rot="0">
            <a:off x="1857375" y="4237990"/>
            <a:ext cx="8687435" cy="3536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900" spc="-3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CatBoost, </a:t>
            </a:r>
            <a:r>
              <a:rPr lang="en-US" sz="1900" spc="-30" b="1">
                <a:solidFill>
                  <a:srgbClr val="FFFFFF"/>
                </a:solidFill>
                <a:latin typeface="Noto Sans KR" charset="0"/>
                <a:ea typeface="Noto Sans KR" charset="0"/>
                <a:cs typeface="Noto Sans KR" charset="0"/>
              </a:rPr>
              <a:t>h=1~4 전 구간 1위</a:t>
            </a:r>
            <a:r>
              <a:rPr lang="en-US" sz="1900" spc="-3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달성 → 최종 모델 선정</a:t>
            </a:r>
            <a:endParaRPr lang="ko-KR" altLang="en-US" sz="19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3" name="텍스트 상자 77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머신러닝 예측 모델 선정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4" name="도형 78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5" name="텍스트 상자 79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4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583565" y="2094230"/>
            <a:ext cx="1943735" cy="991235"/>
          </a:xfrm>
          <a:prstGeom prst="roundRect">
            <a:avLst>
              <a:gd name="adj" fmla="val 14206"/>
            </a:avLst>
          </a:prstGeom>
          <a:solidFill>
            <a:srgbClr val="E8EEFF"/>
          </a:solidFill>
          <a:ln w="25400" cap="flat" cmpd="sng">
            <a:solidFill>
              <a:srgbClr val="1A35B5">
                <a:alpha val="100000"/>
              </a:srgbClr>
            </a:solidFill>
            <a:prstDash val="solid"/>
          </a:ln>
          <a:effectLst>
            <a:outerShdw sx="100000" sy="100000" blurRad="101600" dist="38100" dir="16200000" rotWithShape="0" algn="bl">
              <a:srgbClr val="1A35B5">
                <a:alpha val="9803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2964815" y="2094230"/>
            <a:ext cx="1924685" cy="972820"/>
          </a:xfrm>
          <a:prstGeom prst="roundRect">
            <a:avLst>
              <a:gd name="adj" fmla="val 14757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sx="100000" sy="100000" blurRad="50800" dist="25400" dir="16200000" rotWithShape="0" algn="bl">
              <a:srgbClr val="000000">
                <a:alpha val="1960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5346065" y="2094230"/>
            <a:ext cx="1924685" cy="972820"/>
          </a:xfrm>
          <a:prstGeom prst="roundRect">
            <a:avLst>
              <a:gd name="adj" fmla="val 14757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sx="100000" sy="100000" blurRad="50800" dist="25400" dir="16200000" rotWithShape="0" algn="bl">
              <a:srgbClr val="000000">
                <a:alpha val="1960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/>
          </p:cNvSpPr>
          <p:nvPr/>
        </p:nvSpPr>
        <p:spPr>
          <a:xfrm rot="0">
            <a:off x="7727315" y="2094230"/>
            <a:ext cx="2019935" cy="972820"/>
          </a:xfrm>
          <a:prstGeom prst="roundRect">
            <a:avLst>
              <a:gd name="adj" fmla="val 14757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sx="100000" sy="100000" blurRad="50800" dist="25400" dir="16200000" rotWithShape="0" algn="bl">
              <a:srgbClr val="000000">
                <a:alpha val="1960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/>
          </p:cNvSpPr>
          <p:nvPr/>
        </p:nvSpPr>
        <p:spPr>
          <a:xfrm rot="0">
            <a:off x="10204450" y="2094230"/>
            <a:ext cx="1810385" cy="953135"/>
          </a:xfrm>
          <a:prstGeom prst="roundRect">
            <a:avLst>
              <a:gd name="adj" fmla="val 15355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blurRad="101600" dist="38100" dir="16200000" rotWithShape="0" algn="bl">
              <a:srgbClr val="1A35B5">
                <a:alpha val="20000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0" name="Rect 0"/>
          <p:cNvSpPr>
            <a:spLocks/>
          </p:cNvSpPr>
          <p:nvPr/>
        </p:nvSpPr>
        <p:spPr>
          <a:xfrm rot="0">
            <a:off x="762000" y="3666490"/>
            <a:ext cx="10688320" cy="2515235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sx="100000" sy="100000" blurRad="139700" dist="38100" dir="16200000" rotWithShape="0" algn="bl">
              <a:srgbClr val="000000">
                <a:alpha val="1960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762000" y="3666490"/>
            <a:ext cx="10688320" cy="29210"/>
          </a:xfrm>
          <a:prstGeom prst="roundRect">
            <a:avLst>
              <a:gd name="adj" fmla="val 146630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>
            <a:spLocks/>
          </p:cNvSpPr>
          <p:nvPr/>
        </p:nvSpPr>
        <p:spPr>
          <a:xfrm rot="0">
            <a:off x="762000" y="6286500"/>
            <a:ext cx="10668635" cy="401320"/>
          </a:xfrm>
          <a:prstGeom prst="roundRect">
            <a:avLst>
              <a:gd name="adj" fmla="val 65232"/>
            </a:avLst>
          </a:prstGeom>
          <a:solidFill>
            <a:srgbClr val="1A35B5">
              <a:alpha val="5887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4286885" y="3695700"/>
            <a:ext cx="2191385" cy="2419985"/>
          </a:xfrm>
          <a:prstGeom prst="rect"/>
          <a:solidFill>
            <a:srgbClr val="F8FA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14" name="Picture " descr="C:/Users/Kim dong gwan/AppData/Roaming/PolarisOffice/ETemp/17048_16254952/fImage3171738846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 rot="0">
            <a:off x="952500" y="4191000"/>
            <a:ext cx="10287635" cy="9525"/>
          </a:xfrm>
          <a:prstGeom prst="rect"/>
          <a:noFill/>
        </p:spPr>
      </p:pic>
      <p:pic>
        <p:nvPicPr>
          <p:cNvPr id="15" name="Picture " descr="C:/Users/Kim dong gwan/AppData/Roaming/PolarisOffice/ETemp/17048_16254952/fImage3161739633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 rot="0">
            <a:off x="952500" y="4714875"/>
            <a:ext cx="10287635" cy="9525"/>
          </a:xfrm>
          <a:prstGeom prst="rect"/>
          <a:noFill/>
        </p:spPr>
      </p:pic>
      <p:pic>
        <p:nvPicPr>
          <p:cNvPr id="16" name="Picture " descr="C:/Users/Kim dong gwan/AppData/Roaming/PolarisOffice/ETemp/17048_16254952/fImage31617406500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 rot="0">
            <a:off x="952500" y="5191125"/>
            <a:ext cx="10287635" cy="9525"/>
          </a:xfrm>
          <a:prstGeom prst="rect"/>
          <a:noFill/>
        </p:spPr>
      </p:pic>
      <p:pic>
        <p:nvPicPr>
          <p:cNvPr id="17" name="Picture " descr="C:/Users/Kim dong gwan/AppData/Roaming/PolarisOffice/ETemp/17048_16254952/fImage31617419169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 rot="0">
            <a:off x="952500" y="5667375"/>
            <a:ext cx="10287635" cy="9525"/>
          </a:xfrm>
          <a:prstGeom prst="rect"/>
          <a:noFill/>
        </p:spPr>
      </p:pic>
      <p:sp>
        <p:nvSpPr>
          <p:cNvPr id="20" name="Rect 0"/>
          <p:cNvSpPr txBox="1">
            <a:spLocks/>
          </p:cNvSpPr>
          <p:nvPr/>
        </p:nvSpPr>
        <p:spPr>
          <a:xfrm rot="0">
            <a:off x="762000" y="952500"/>
            <a:ext cx="8412480" cy="45783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30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CatBoost 최종 모델 선정 및 학습 프로세스</a:t>
            </a:r>
            <a:endParaRPr lang="ko-KR" altLang="en-US" sz="30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21" name="Picture " descr="C:/Users/Kim dong gwan/AppData/Roaming/PolarisOffice/ETemp/17048_16254952/fImage139117455724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64" r="-1064"/>
          <a:stretch>
            <a:fillRect/>
          </a:stretch>
        </p:blipFill>
        <p:spPr>
          <a:xfrm rot="0">
            <a:off x="762000" y="1764665"/>
            <a:ext cx="220345" cy="172720"/>
          </a:xfrm>
          <a:prstGeom prst="rect"/>
          <a:noFill/>
        </p:spPr>
      </p:pic>
      <p:sp>
        <p:nvSpPr>
          <p:cNvPr id="22" name="Rect 0"/>
          <p:cNvSpPr txBox="1">
            <a:spLocks/>
          </p:cNvSpPr>
          <p:nvPr/>
        </p:nvSpPr>
        <p:spPr>
          <a:xfrm rot="0">
            <a:off x="1047750" y="1714500"/>
            <a:ext cx="3092450" cy="24828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 b="1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CatBoost 학습 및 예측 파이프라인</a:t>
            </a:r>
            <a:endParaRPr lang="ko-KR" altLang="en-US" sz="1300" b="1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 rot="0">
            <a:off x="594995" y="2320290"/>
            <a:ext cx="1883410" cy="6489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① Optuna 튜닝</a:t>
            </a:r>
            <a:endParaRPr lang="ko-KR" altLang="en-US" sz="12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rtl="0" algn="ctr" defTabSz="914400" eaLnBrk="1" latinLnBrk="0" hangingPunct="1">
              <a:buFontTx/>
              <a:buNone/>
            </a:pPr>
            <a:r>
              <a:rPr sz="1000" b="1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h별 최적</a:t>
            </a:r>
            <a:endParaRPr lang="ko-KR" altLang="en-US" sz="1000" b="1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rtl="0" algn="ctr" defTabSz="914400" eaLnBrk="1" latinLnBrk="0" hangingPunct="1">
              <a:buFontTx/>
              <a:buNone/>
            </a:pPr>
            <a:r>
              <a:rPr sz="1000" b="1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하이퍼파라미터 설정</a:t>
            </a:r>
            <a:endParaRPr lang="ko-KR" altLang="en-US" sz="1000" b="1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24" name="Picture " descr="C:/Users/Kim dong gwan/AppData/Roaming/PolarisOffice/ETemp/17048_16254952/fImage46217481478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 rot="0">
            <a:off x="2631440" y="2489200"/>
            <a:ext cx="123825" cy="191135"/>
          </a:xfrm>
          <a:prstGeom prst="rect"/>
          <a:noFill/>
        </p:spPr>
      </p:pic>
      <p:sp>
        <p:nvSpPr>
          <p:cNvPr id="25" name="Rect 0"/>
          <p:cNvSpPr txBox="1">
            <a:spLocks/>
          </p:cNvSpPr>
          <p:nvPr/>
        </p:nvSpPr>
        <p:spPr>
          <a:xfrm rot="0">
            <a:off x="2976245" y="2311400"/>
            <a:ext cx="1883410" cy="6489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② 전체 재학습</a:t>
            </a:r>
            <a:endParaRPr lang="ko-KR" altLang="en-US" sz="1200" b="1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rtl="0" algn="ctr" defTabSz="914400" eaLnBrk="1" latinLnBrk="0" hangingPunct="1">
              <a:buFontTx/>
              <a:buNone/>
            </a:pP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Train 데이터: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rtl="0" algn="ctr" defTabSz="914400" eaLnBrk="1" latinLnBrk="0" hangingPunct="1">
              <a:buFontTx/>
              <a:buNone/>
            </a:pP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2021Q1 ~ 2025Q2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26" name="Picture " descr="C:/Users/Kim dong gwan/AppData/Roaming/PolarisOffice/ETemp/17048_16254952/fImage46217509358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 rot="0">
            <a:off x="5012055" y="2489200"/>
            <a:ext cx="123825" cy="191135"/>
          </a:xfrm>
          <a:prstGeom prst="rect"/>
          <a:noFill/>
        </p:spPr>
      </p:pic>
      <p:sp>
        <p:nvSpPr>
          <p:cNvPr id="27" name="Rect 0"/>
          <p:cNvSpPr txBox="1">
            <a:spLocks/>
          </p:cNvSpPr>
          <p:nvPr/>
        </p:nvSpPr>
        <p:spPr>
          <a:xfrm rot="0">
            <a:off x="5358130" y="2311400"/>
            <a:ext cx="1883410" cy="6489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③ 최종 예측 입력</a:t>
            </a:r>
            <a:endParaRPr lang="ko-KR" altLang="en-US" sz="1200" b="1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rtl="0" algn="ctr" defTabSz="914400" eaLnBrk="1" latinLnBrk="0" hangingPunct="1">
              <a:buFontTx/>
              <a:buNone/>
            </a:pP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X 데이터: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rtl="0" algn="ctr" defTabSz="914400" eaLnBrk="1" latinLnBrk="0" hangingPunct="1">
              <a:buFontTx/>
              <a:buNone/>
            </a:pP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2025Q3 입력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28" name="Picture " descr="C:/Users/Kim dong gwan/AppData/Roaming/PolarisOffice/ETemp/17048_16254952/fImage46217526962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 rot="0">
            <a:off x="7394575" y="2489200"/>
            <a:ext cx="123825" cy="191135"/>
          </a:xfrm>
          <a:prstGeom prst="rect"/>
          <a:noFill/>
        </p:spPr>
      </p:pic>
      <p:sp>
        <p:nvSpPr>
          <p:cNvPr id="29" name="Rect 0"/>
          <p:cNvSpPr txBox="1">
            <a:spLocks/>
          </p:cNvSpPr>
          <p:nvPr/>
        </p:nvSpPr>
        <p:spPr>
          <a:xfrm rot="0">
            <a:off x="7786370" y="2311400"/>
            <a:ext cx="1883410" cy="6489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④ 예측 출력</a:t>
            </a:r>
            <a:endParaRPr lang="ko-KR" altLang="en-US" sz="1200" b="1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rtl="0" algn="ctr" defTabSz="914400" eaLnBrk="1" latinLnBrk="0" hangingPunct="1">
              <a:buFontTx/>
              <a:buNone/>
            </a:pPr>
            <a:r>
              <a:rPr sz="9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h=1→25Q4 | h=2→26Q1</a:t>
            </a:r>
            <a:endParaRPr lang="ko-KR" altLang="en-US" sz="9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rtl="0" algn="ctr" defTabSz="914400" eaLnBrk="1" latinLnBrk="0" hangingPunct="1">
              <a:buFontTx/>
              <a:buNone/>
            </a:pPr>
            <a:r>
              <a:rPr sz="9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h=3→26Q2 | h=4→26Q3</a:t>
            </a:r>
            <a:endParaRPr lang="ko-KR" altLang="en-US" sz="9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30" name="Picture " descr="C:/Users/Kim dong gwan/AppData/Roaming/PolarisOffice/ETemp/17048_16254952/fImage46717544464.png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3" r="-1923"/>
          <a:stretch>
            <a:fillRect/>
          </a:stretch>
        </p:blipFill>
        <p:spPr>
          <a:xfrm rot="0">
            <a:off x="9870440" y="2489200"/>
            <a:ext cx="123825" cy="191135"/>
          </a:xfrm>
          <a:prstGeom prst="rect"/>
          <a:noFill/>
        </p:spPr>
      </p:pic>
      <p:sp>
        <p:nvSpPr>
          <p:cNvPr id="31" name="Rect 0"/>
          <p:cNvSpPr txBox="1">
            <a:spLocks/>
          </p:cNvSpPr>
          <p:nvPr/>
        </p:nvSpPr>
        <p:spPr>
          <a:xfrm rot="0">
            <a:off x="10217150" y="2311400"/>
            <a:ext cx="1783715" cy="68643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⑤ 결과 산출</a:t>
            </a:r>
            <a:endParaRPr lang="ko-KR" altLang="en-US" sz="12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rtl="0" algn="ctr" defTabSz="914400" eaLnBrk="1" latinLnBrk="0" hangingPunct="1">
              <a:buFontTx/>
              <a:buNone/>
            </a:pPr>
            <a:r>
              <a:rPr sz="1000" b="1">
                <a:solidFill>
                  <a:srgbClr val="E8EEFF"/>
                </a:solidFill>
                <a:latin typeface="Noto Sans KR" charset="0"/>
                <a:ea typeface="Noto Sans KR" charset="0"/>
                <a:sym typeface="맑은 고딕" charset="0"/>
              </a:rPr>
              <a:t>424개 행정동</a:t>
            </a:r>
            <a:endParaRPr lang="ko-KR" altLang="en-US" sz="1000" b="1">
              <a:solidFill>
                <a:srgbClr val="E8EEFF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rtl="0" algn="ctr" defTabSz="914400" eaLnBrk="1" latinLnBrk="0" hangingPunct="1">
              <a:buFontTx/>
              <a:buNone/>
            </a:pPr>
            <a:r>
              <a:rPr sz="1000" b="1">
                <a:solidFill>
                  <a:srgbClr val="E8EEFF"/>
                </a:solidFill>
                <a:latin typeface="Noto Sans KR" charset="0"/>
                <a:ea typeface="Noto Sans KR" charset="0"/>
                <a:sym typeface="맑은 고딕" charset="0"/>
              </a:rPr>
              <a:t>상권활력점수 순위</a:t>
            </a:r>
            <a:endParaRPr lang="ko-KR" altLang="en-US" sz="1000" b="1">
              <a:solidFill>
                <a:srgbClr val="E8EE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32" name="Picture " descr="C:/Users/Kim dong gwan/AppData/Roaming/PolarisOffice/ETemp/17048_16254952/fImage76517565705.png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62000" y="3383915"/>
            <a:ext cx="172720" cy="172720"/>
          </a:xfrm>
          <a:prstGeom prst="rect"/>
          <a:noFill/>
        </p:spPr>
      </p:pic>
      <p:sp>
        <p:nvSpPr>
          <p:cNvPr id="33" name="Rect 0"/>
          <p:cNvSpPr txBox="1">
            <a:spLocks/>
          </p:cNvSpPr>
          <p:nvPr/>
        </p:nvSpPr>
        <p:spPr>
          <a:xfrm rot="0">
            <a:off x="1047750" y="3333750"/>
            <a:ext cx="4001135" cy="24828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예측 시계열(h)별 최종 성능 결과</a:t>
            </a:r>
            <a:endParaRPr lang="ko-KR" altLang="en-US" sz="13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4" name="Rect 0"/>
          <p:cNvSpPr txBox="1">
            <a:spLocks/>
          </p:cNvSpPr>
          <p:nvPr/>
        </p:nvSpPr>
        <p:spPr>
          <a:xfrm rot="0">
            <a:off x="914400" y="3857625"/>
            <a:ext cx="1220470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시계열 (h)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5" name="Rect 0"/>
          <p:cNvSpPr txBox="1">
            <a:spLocks/>
          </p:cNvSpPr>
          <p:nvPr/>
        </p:nvSpPr>
        <p:spPr>
          <a:xfrm rot="0">
            <a:off x="2217420" y="3857625"/>
            <a:ext cx="185229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예측 시점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6" name="Rect 0"/>
          <p:cNvSpPr txBox="1">
            <a:spLocks/>
          </p:cNvSpPr>
          <p:nvPr/>
        </p:nvSpPr>
        <p:spPr>
          <a:xfrm rot="0">
            <a:off x="4243070" y="3857625"/>
            <a:ext cx="2279015" cy="2393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Spearman (핵심)</a:t>
            </a:r>
            <a:endParaRPr lang="ko-KR" altLang="en-US" sz="12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6718935" y="3857625"/>
            <a:ext cx="227901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Dir_Acc (방향성)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8" name="Rect 0"/>
          <p:cNvSpPr txBox="1">
            <a:spLocks/>
          </p:cNvSpPr>
          <p:nvPr/>
        </p:nvSpPr>
        <p:spPr>
          <a:xfrm rot="0">
            <a:off x="9102090" y="3857625"/>
            <a:ext cx="2180590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R²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9" name="Rect 0"/>
          <p:cNvSpPr txBox="1">
            <a:spLocks/>
          </p:cNvSpPr>
          <p:nvPr/>
        </p:nvSpPr>
        <p:spPr>
          <a:xfrm rot="0">
            <a:off x="914400" y="4381500"/>
            <a:ext cx="1220470" cy="24828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3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h = 1</a:t>
            </a:r>
            <a:endParaRPr lang="ko-KR" altLang="en-US" sz="13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0" name="Rect 0"/>
          <p:cNvSpPr txBox="1">
            <a:spLocks/>
          </p:cNvSpPr>
          <p:nvPr/>
        </p:nvSpPr>
        <p:spPr>
          <a:xfrm rot="0">
            <a:off x="2247900" y="4381500"/>
            <a:ext cx="1791970" cy="2393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>2025Q4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1" name="Rect 0"/>
          <p:cNvSpPr txBox="1">
            <a:spLocks/>
          </p:cNvSpPr>
          <p:nvPr/>
        </p:nvSpPr>
        <p:spPr>
          <a:xfrm rot="0">
            <a:off x="4243070" y="4381500"/>
            <a:ext cx="2279015" cy="25844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4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0.9553</a:t>
            </a:r>
            <a:endParaRPr lang="ko-KR" altLang="en-US" sz="14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2" name="Rect 0"/>
          <p:cNvSpPr txBox="1">
            <a:spLocks/>
          </p:cNvSpPr>
          <p:nvPr/>
        </p:nvSpPr>
        <p:spPr>
          <a:xfrm rot="0">
            <a:off x="6718935" y="4381500"/>
            <a:ext cx="2279015" cy="2393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0.9009</a:t>
            </a:r>
            <a:endParaRPr lang="ko-KR" altLang="en-US" sz="120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3" name="Rect 0"/>
          <p:cNvSpPr txBox="1">
            <a:spLocks/>
          </p:cNvSpPr>
          <p:nvPr/>
        </p:nvSpPr>
        <p:spPr>
          <a:xfrm rot="0">
            <a:off x="9102090" y="4381500"/>
            <a:ext cx="2180590" cy="2393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0.9089</a:t>
            </a:r>
            <a:endParaRPr lang="ko-KR" altLang="en-US" sz="120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4" name="Rect 0"/>
          <p:cNvSpPr txBox="1">
            <a:spLocks/>
          </p:cNvSpPr>
          <p:nvPr/>
        </p:nvSpPr>
        <p:spPr>
          <a:xfrm rot="0">
            <a:off x="914400" y="4858385"/>
            <a:ext cx="1220470" cy="24828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3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h = 2</a:t>
            </a:r>
            <a:endParaRPr lang="ko-KR" altLang="en-US" sz="13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5" name="Rect 0"/>
          <p:cNvSpPr txBox="1">
            <a:spLocks/>
          </p:cNvSpPr>
          <p:nvPr/>
        </p:nvSpPr>
        <p:spPr>
          <a:xfrm rot="0">
            <a:off x="2247900" y="4858385"/>
            <a:ext cx="1791970" cy="2393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>2026Q1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6" name="Rect 0"/>
          <p:cNvSpPr txBox="1">
            <a:spLocks/>
          </p:cNvSpPr>
          <p:nvPr/>
        </p:nvSpPr>
        <p:spPr>
          <a:xfrm rot="0">
            <a:off x="4243070" y="4858385"/>
            <a:ext cx="2279015" cy="25844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4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0.9525</a:t>
            </a:r>
            <a:endParaRPr lang="ko-KR" altLang="en-US" sz="14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7" name="Rect 0"/>
          <p:cNvSpPr txBox="1">
            <a:spLocks/>
          </p:cNvSpPr>
          <p:nvPr/>
        </p:nvSpPr>
        <p:spPr>
          <a:xfrm rot="0">
            <a:off x="6718935" y="4858385"/>
            <a:ext cx="2279015" cy="2393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0.9027</a:t>
            </a:r>
            <a:endParaRPr lang="ko-KR" altLang="en-US" sz="120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8" name="Rect 0"/>
          <p:cNvSpPr txBox="1">
            <a:spLocks/>
          </p:cNvSpPr>
          <p:nvPr/>
        </p:nvSpPr>
        <p:spPr>
          <a:xfrm rot="0">
            <a:off x="9102090" y="4858385"/>
            <a:ext cx="2180590" cy="2393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0.9059</a:t>
            </a:r>
            <a:endParaRPr lang="ko-KR" altLang="en-US" sz="120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9" name="Rect 0"/>
          <p:cNvSpPr txBox="1">
            <a:spLocks/>
          </p:cNvSpPr>
          <p:nvPr/>
        </p:nvSpPr>
        <p:spPr>
          <a:xfrm rot="0">
            <a:off x="914400" y="5334000"/>
            <a:ext cx="1220470" cy="24828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3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h = 3</a:t>
            </a:r>
            <a:endParaRPr lang="ko-KR" altLang="en-US" sz="13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0" name="Rect 0"/>
          <p:cNvSpPr txBox="1">
            <a:spLocks/>
          </p:cNvSpPr>
          <p:nvPr/>
        </p:nvSpPr>
        <p:spPr>
          <a:xfrm rot="0">
            <a:off x="2247900" y="5334000"/>
            <a:ext cx="1791970" cy="2393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>2026Q2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1" name="Rect 0"/>
          <p:cNvSpPr txBox="1">
            <a:spLocks/>
          </p:cNvSpPr>
          <p:nvPr/>
        </p:nvSpPr>
        <p:spPr>
          <a:xfrm rot="0">
            <a:off x="4243070" y="5334000"/>
            <a:ext cx="2279015" cy="25844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4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0.9501</a:t>
            </a:r>
            <a:endParaRPr lang="ko-KR" altLang="en-US" sz="14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2" name="Rect 0"/>
          <p:cNvSpPr txBox="1">
            <a:spLocks/>
          </p:cNvSpPr>
          <p:nvPr/>
        </p:nvSpPr>
        <p:spPr>
          <a:xfrm rot="0">
            <a:off x="6718935" y="5334000"/>
            <a:ext cx="2279015" cy="2393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0.8992</a:t>
            </a:r>
            <a:endParaRPr lang="ko-KR" altLang="en-US" sz="120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3" name="Rect 0"/>
          <p:cNvSpPr txBox="1">
            <a:spLocks/>
          </p:cNvSpPr>
          <p:nvPr/>
        </p:nvSpPr>
        <p:spPr>
          <a:xfrm rot="0">
            <a:off x="9102090" y="5334000"/>
            <a:ext cx="2180590" cy="2393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0.9000</a:t>
            </a:r>
            <a:endParaRPr lang="ko-KR" altLang="en-US" sz="120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4" name="Rect 0"/>
          <p:cNvSpPr txBox="1">
            <a:spLocks/>
          </p:cNvSpPr>
          <p:nvPr/>
        </p:nvSpPr>
        <p:spPr>
          <a:xfrm rot="0">
            <a:off x="914400" y="5810250"/>
            <a:ext cx="1220470" cy="24828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3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h = 4</a:t>
            </a:r>
            <a:endParaRPr lang="ko-KR" altLang="en-US" sz="13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5" name="Rect 0"/>
          <p:cNvSpPr txBox="1">
            <a:spLocks/>
          </p:cNvSpPr>
          <p:nvPr/>
        </p:nvSpPr>
        <p:spPr>
          <a:xfrm rot="0">
            <a:off x="2247900" y="5810250"/>
            <a:ext cx="1791970" cy="2393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>2026Q3</a:t>
            </a:r>
            <a:endParaRPr lang="ko-KR" altLang="en-US" sz="1200" b="1">
              <a:solidFill>
                <a:srgbClr val="444444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6" name="Rect 0"/>
          <p:cNvSpPr txBox="1">
            <a:spLocks/>
          </p:cNvSpPr>
          <p:nvPr/>
        </p:nvSpPr>
        <p:spPr>
          <a:xfrm rot="0">
            <a:off x="4243070" y="5810250"/>
            <a:ext cx="2279015" cy="25844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4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0.9553</a:t>
            </a:r>
            <a:endParaRPr lang="ko-KR" altLang="en-US" sz="14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7" name="Rect 0"/>
          <p:cNvSpPr txBox="1">
            <a:spLocks/>
          </p:cNvSpPr>
          <p:nvPr/>
        </p:nvSpPr>
        <p:spPr>
          <a:xfrm rot="0">
            <a:off x="6718935" y="5810250"/>
            <a:ext cx="2279015" cy="2393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0.9064</a:t>
            </a:r>
            <a:endParaRPr lang="ko-KR" altLang="en-US" sz="120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8" name="Rect 0"/>
          <p:cNvSpPr txBox="1">
            <a:spLocks/>
          </p:cNvSpPr>
          <p:nvPr/>
        </p:nvSpPr>
        <p:spPr>
          <a:xfrm rot="0">
            <a:off x="9102090" y="5810250"/>
            <a:ext cx="2180590" cy="2393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0.9075</a:t>
            </a:r>
            <a:endParaRPr lang="ko-KR" altLang="en-US" sz="1200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59" name="Picture " descr="C:/Users/Kim dong gwan/AppData/Roaming/PolarisOffice/ETemp/17048_16254952/fImage1109178381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52500" y="6421755"/>
            <a:ext cx="172720" cy="172720"/>
          </a:xfrm>
          <a:prstGeom prst="rect"/>
          <a:noFill/>
        </p:spPr>
      </p:pic>
      <p:sp>
        <p:nvSpPr>
          <p:cNvPr id="60" name="Rect 0"/>
          <p:cNvSpPr txBox="1">
            <a:spLocks/>
          </p:cNvSpPr>
          <p:nvPr/>
        </p:nvSpPr>
        <p:spPr>
          <a:xfrm rot="0">
            <a:off x="1238250" y="6381750"/>
            <a:ext cx="1017905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00" b="1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CatBoost 모델 적용 결과, </a:t>
            </a: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모든 선행 예측 기간(h=1~4)에서 Spearman 계수 0.95 이상의 높은 예측 정확도</a:t>
            </a:r>
            <a:r>
              <a:rPr sz="1100" b="1">
                <a:solidFill>
                  <a:srgbClr val="333333"/>
                </a:solidFill>
                <a:latin typeface="Noto Sans KR" charset="0"/>
                <a:ea typeface="Noto Sans KR" charset="0"/>
                <a:sym typeface="맑은 고딕" charset="0"/>
              </a:rPr>
              <a:t>를 달성하며 안정적인 성능 확보.</a:t>
            </a:r>
            <a:endParaRPr lang="ko-KR" altLang="en-US" sz="1100" b="1">
              <a:solidFill>
                <a:srgbClr val="333333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2" name="텍스트 상자 59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모델 </a:t>
            </a: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학습 평가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3" name="도형 60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4" name="텍스트 상자 61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5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619250"/>
            <a:ext cx="5638800" cy="4019550"/>
          </a:xfrm>
          <a:prstGeom prst="roundRect">
            <a:avLst>
              <a:gd name="adj" fmla="val 1294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77000" y="1619250"/>
            <a:ext cx="5210175" cy="12573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77000" y="1619250"/>
            <a:ext cx="57785" cy="1257300"/>
          </a:xfrm>
          <a:prstGeom prst="roundRect">
            <a:avLst>
              <a:gd name="adj" fmla="val 192401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77000" y="3000375"/>
            <a:ext cx="5210175" cy="12573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7000" y="3000375"/>
            <a:ext cx="57785" cy="1257300"/>
          </a:xfrm>
          <a:prstGeom prst="roundRect">
            <a:avLst>
              <a:gd name="adj" fmla="val 192401"/>
            </a:avLst>
          </a:prstGeom>
          <a:solidFill>
            <a:srgbClr val="4A65E5"/>
          </a:solidFill>
          <a:ln w="12700">
            <a:solidFill>
              <a:srgbClr val="4A65E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7000" y="4381500"/>
            <a:ext cx="5210175" cy="12573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7000" y="4381500"/>
            <a:ext cx="57785" cy="1257300"/>
          </a:xfrm>
          <a:prstGeom prst="roundRect">
            <a:avLst>
              <a:gd name="adj" fmla="val 192401"/>
            </a:avLst>
          </a:prstGeom>
          <a:solidFill>
            <a:srgbClr val="888888"/>
          </a:solidFill>
          <a:ln w="12700">
            <a:solidFill>
              <a:srgbClr val="88888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" y="5810250"/>
            <a:ext cx="11087100" cy="800100"/>
          </a:xfrm>
          <a:prstGeom prst="roundRect">
            <a:avLst>
              <a:gd name="adj" fmla="val 21769"/>
            </a:avLst>
          </a:prstGeom>
          <a:solidFill>
            <a:srgbClr val="E8EEFF"/>
          </a:solidFill>
          <a:ln w="25400">
            <a:solidFill>
              <a:srgbClr val="1A35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1500" y="952500"/>
            <a:ext cx="781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변수 중요도 분석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62000" y="1762125"/>
            <a:ext cx="34105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h별 상위 5개 주요 피처 SHAP Value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(Mean |SHAP|)</a:t>
            </a:r>
            <a:endParaRPr lang="en-US" sz="1200" dirty="0"/>
          </a:p>
        </p:txBody>
      </p:sp>
      <p:pic>
        <p:nvPicPr>
          <p:cNvPr id="21" name="Image 4"/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62750" y="1857375"/>
            <a:ext cx="1143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144385" y="1837690"/>
            <a:ext cx="447675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 구조와 브랜드 검증이 핵심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7144385" y="2190750"/>
            <a:ext cx="4363085" cy="45783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임대료대비수익성</a:t>
            </a:r>
            <a:r>
              <a:rPr lang="en-US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및 </a:t>
            </a:r>
            <a:r>
              <a:rPr lang="en-US" sz="12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프랜차이즈 점포 수</a:t>
            </a:r>
            <a:r>
              <a:rPr lang="en-US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가 h=1~4 전 구간 압도적 1·2위 기여. 상권의 </a:t>
            </a:r>
            <a:r>
              <a:rPr lang="ko-KR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미래</a:t>
            </a:r>
            <a:r>
              <a:rPr lang="en-US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</a:t>
            </a:r>
            <a:r>
              <a:rPr lang="ko-KR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활력</a:t>
            </a:r>
            <a:r>
              <a:rPr lang="en-US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을 판단하는 가장 중요한 기준임.</a:t>
            </a:r>
            <a:endParaRPr lang="ko-KR" altLang="en-US" sz="12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4" name="Image 5"/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6762750" y="3238500"/>
            <a:ext cx="142875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144385" y="3219450"/>
            <a:ext cx="447675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집객시설 5종의 안정적 기여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7144385" y="3571875"/>
            <a:ext cx="436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교통·교육·의료·공공·상업시설 수가 중위권에서 안정적 유지. </a:t>
            </a:r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 인프라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상권 활력에 꾸준히 기여하고 있음을 확인.</a:t>
            </a:r>
            <a:endParaRPr lang="en-US" sz="1200" dirty="0"/>
          </a:p>
        </p:txBody>
      </p:sp>
      <p:pic>
        <p:nvPicPr>
          <p:cNvPr id="27" name="Image 6"/>
          <p:cNvPicPr>
            <a:picLocks noChangeAspect="1"/>
          </p:cNvPicPr>
          <p:nvPr/>
        </p:nvPicPr>
        <p:blipFill>
          <a:blip r:embed="rId7"/>
          <a:srcRect l="0" r="0" t="-80" b="-80"/>
          <a:stretch/>
        </p:blipFill>
        <p:spPr>
          <a:xfrm>
            <a:off x="6762750" y="4619625"/>
            <a:ext cx="142875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144385" y="4600575"/>
            <a:ext cx="447675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변화율 변수 기여도 미미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7144385" y="4953000"/>
            <a:ext cx="4363085" cy="45783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YoY·QoQ·Roll4 등 모든 단기 diff 계열 변수의 기여도는 </a:t>
            </a:r>
            <a:r>
              <a:rPr lang="ko-KR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작음.</a:t>
            </a:r>
            <a:r>
              <a:rPr lang="en-US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</a:t>
            </a:r>
            <a:endParaRPr lang="ko-KR" altLang="en-US" sz="12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l">
              <a:buFontTx/>
              <a:buNone/>
            </a:pPr>
            <a:r>
              <a:rPr lang="en-US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상권의 미래는 </a:t>
            </a:r>
            <a:r>
              <a:rPr lang="en-US" sz="1200" b="1">
                <a:solidFill>
                  <a:srgbClr val="D94040"/>
                </a:solidFill>
                <a:latin typeface="Noto Sans KR" charset="0"/>
                <a:ea typeface="Noto Sans KR" charset="0"/>
                <a:cs typeface="Noto Sans KR" charset="0"/>
              </a:rPr>
              <a:t>단기 등락보다 구조적 체력</a:t>
            </a:r>
            <a:r>
              <a:rPr lang="en-US" sz="12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에 의해 좌우됨.</a:t>
            </a:r>
            <a:endParaRPr lang="ko-KR" altLang="en-US" sz="12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30" name="Image 7"/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57885" y="6057900"/>
            <a:ext cx="200025" cy="2667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333500" y="5952490"/>
            <a:ext cx="10192385" cy="24828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3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종합 해석 : 모델은 </a:t>
            </a:r>
            <a:r>
              <a:rPr lang="ko-KR" sz="13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상권의 “매출,</a:t>
            </a:r>
            <a:r>
              <a:rPr lang="ko-KR" sz="13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유동인구, 개업률의 변화</a:t>
            </a:r>
            <a:r>
              <a:rPr lang="ko-KR" sz="13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”</a:t>
            </a:r>
            <a:r>
              <a:rPr lang="ko-KR" sz="13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보다</a:t>
            </a:r>
            <a:r>
              <a:rPr lang="ko-KR" sz="13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“</a:t>
            </a:r>
            <a:r>
              <a:rPr lang="ko-KR" sz="13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현재 수익 효율과</a:t>
            </a:r>
            <a:r>
              <a:rPr lang="ko-KR" sz="13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프랜차이즈 </a:t>
            </a:r>
            <a:r>
              <a:rPr lang="ko-KR" sz="13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집적도</a:t>
            </a:r>
            <a:r>
              <a:rPr lang="ko-KR" sz="13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”</a:t>
            </a:r>
            <a:r>
              <a:rPr lang="ko-KR" sz="13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를 가장 신뢰할 수 있는 신호로 학습</a:t>
            </a:r>
            <a:endParaRPr lang="ko-KR" altLang="en-US" sz="13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2" name="Text 22"/>
          <p:cNvSpPr txBox="1">
            <a:spLocks/>
          </p:cNvSpPr>
          <p:nvPr/>
        </p:nvSpPr>
        <p:spPr>
          <a:xfrm rot="0">
            <a:off x="1333500" y="6238875"/>
            <a:ext cx="1019238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h=1~4 전 구간에서 변수 중요도 순위가 거의 동일하게 나타</a:t>
            </a:r>
            <a:r>
              <a:rPr lang="ko-KR" sz="120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남.</a:t>
            </a:r>
            <a:endParaRPr lang="ko-KR" altLang="en-US" sz="1200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4" name="텍스트 상자 55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모델 </a:t>
            </a: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학습 평가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5" name="도형 56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6" name="텍스트 상자 57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5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37" name="그림 1" descr="C:/Users/Kim dong gwan/AppData/Roaming/PolarisOffice/ETemp/2992_14485488/fImage113251158841.png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" b="-16"/>
          <a:stretch>
            <a:fillRect/>
          </a:stretch>
        </p:blipFill>
        <p:spPr>
          <a:xfrm rot="0">
            <a:off x="452120" y="1702435"/>
            <a:ext cx="5758180" cy="39833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619250"/>
            <a:ext cx="2905125" cy="723900"/>
          </a:xfrm>
          <a:prstGeom prst="roundRect">
            <a:avLst>
              <a:gd name="adj" fmla="val 19936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619250"/>
            <a:ext cx="38100" cy="723900"/>
          </a:xfrm>
          <a:prstGeom prst="roundRect">
            <a:avLst>
              <a:gd name="adj" fmla="val 375938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2476500"/>
            <a:ext cx="2876550" cy="180975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" y="2476500"/>
            <a:ext cx="2876550" cy="38100"/>
          </a:xfrm>
          <a:prstGeom prst="roundRect">
            <a:avLst>
              <a:gd name="adj" fmla="val 150375"/>
            </a:avLst>
          </a:prstGeom>
          <a:solidFill>
            <a:srgbClr val="1A7A4A"/>
          </a:solidFill>
          <a:ln w="12700">
            <a:solidFill>
              <a:srgbClr val="1A7A4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" y="4381500"/>
            <a:ext cx="2876550" cy="180975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" y="4381500"/>
            <a:ext cx="2876550" cy="38100"/>
          </a:xfrm>
          <a:prstGeom prst="roundRect">
            <a:avLst>
              <a:gd name="adj" fmla="val 150375"/>
            </a:avLst>
          </a:prstGeom>
          <a:solidFill>
            <a:srgbClr val="D94040"/>
          </a:solidFill>
          <a:ln w="12700">
            <a:solidFill>
              <a:srgbClr val="D9404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" y="952500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전체 상권활력 예측 순위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14375" y="1762125"/>
            <a:ext cx="2963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기준: 2025Q3 Y점수 기준 상위 424개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14375" y="1962150"/>
            <a:ext cx="2799715" cy="20066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9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(상위 대다수 핵심상</a:t>
            </a:r>
            <a:r>
              <a:rPr lang="ko-KR" sz="9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업 </a:t>
            </a:r>
            <a:r>
              <a:rPr lang="en-US" sz="9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Cluster 0)</a:t>
            </a:r>
            <a:endParaRPr lang="ko-KR" altLang="en-US" sz="9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1"/>
          <a:srcRect l="-1282" r="-1282" t="0" b="0"/>
          <a:stretch/>
        </p:blipFill>
        <p:spPr>
          <a:xfrm>
            <a:off x="762000" y="2680970"/>
            <a:ext cx="219710" cy="1905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47750" y="2647950"/>
            <a:ext cx="24371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주요 상승 </a:t>
            </a:r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(전체 424개 기준)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14375" y="3000375"/>
            <a:ext cx="2572385" cy="314325"/>
          </a:xfrm>
          <a:prstGeom prst="roundRect">
            <a:avLst>
              <a:gd name="adj" fmla="val 70472"/>
            </a:avLst>
          </a:prstGeom>
          <a:solidFill>
            <a:srgbClr val="1A7A4A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8990" y="3057525"/>
            <a:ext cx="17005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고척1동 </a:t>
            </a:r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221위 → 107위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758440" y="3057525"/>
            <a:ext cx="514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114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14375" y="3390900"/>
            <a:ext cx="2572385" cy="314325"/>
          </a:xfrm>
          <a:prstGeom prst="roundRect">
            <a:avLst>
              <a:gd name="adj" fmla="val 70472"/>
            </a:avLst>
          </a:prstGeom>
          <a:solidFill>
            <a:srgbClr val="1A7A4A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8990" y="3448050"/>
            <a:ext cx="17005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일원1동 </a:t>
            </a:r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323위 → 211위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758440" y="3448050"/>
            <a:ext cx="514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112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14375" y="3780790"/>
            <a:ext cx="2572385" cy="314325"/>
          </a:xfrm>
          <a:prstGeom prst="roundRect">
            <a:avLst>
              <a:gd name="adj" fmla="val 70472"/>
            </a:avLst>
          </a:prstGeom>
          <a:solidFill>
            <a:srgbClr val="1A7A4A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8990" y="3838575"/>
            <a:ext cx="17005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홍제3동 </a:t>
            </a:r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275위 → 169위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758440" y="3838575"/>
            <a:ext cx="514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106</a:t>
            </a:r>
            <a:endParaRPr lang="en-US" sz="1100" dirty="0"/>
          </a:p>
        </p:txBody>
      </p:sp>
      <p:pic>
        <p:nvPicPr>
          <p:cNvPr id="27" name="Image 1"/>
          <p:cNvPicPr>
            <a:picLocks noChangeAspect="1"/>
          </p:cNvPicPr>
          <p:nvPr/>
        </p:nvPicPr>
        <p:blipFill>
          <a:blip r:embed="rId2"/>
          <a:srcRect l="-1282" r="-1282" t="0" b="0"/>
          <a:stretch/>
        </p:blipFill>
        <p:spPr>
          <a:xfrm>
            <a:off x="762000" y="4586605"/>
            <a:ext cx="219710" cy="1905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047750" y="4552950"/>
            <a:ext cx="24371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주요 하락 </a:t>
            </a:r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(전체 424개 기준)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14375" y="4906010"/>
            <a:ext cx="2572385" cy="314325"/>
          </a:xfrm>
          <a:prstGeom prst="roundRect">
            <a:avLst>
              <a:gd name="adj" fmla="val 70472"/>
            </a:avLst>
          </a:prstGeom>
          <a:solidFill>
            <a:srgbClr val="D94040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08990" y="4962525"/>
            <a:ext cx="1847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용산2가동 </a:t>
            </a:r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176위 → 294위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2758440" y="4962525"/>
            <a:ext cx="514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118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14375" y="5295900"/>
            <a:ext cx="2572385" cy="314325"/>
          </a:xfrm>
          <a:prstGeom prst="roundRect">
            <a:avLst>
              <a:gd name="adj" fmla="val 70472"/>
            </a:avLst>
          </a:prstGeom>
          <a:solidFill>
            <a:srgbClr val="D94040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08990" y="5353050"/>
            <a:ext cx="17005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성산1동 </a:t>
            </a:r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125위 → 242위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2758440" y="5353050"/>
            <a:ext cx="514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117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714375" y="5686425"/>
            <a:ext cx="2572385" cy="314325"/>
          </a:xfrm>
          <a:prstGeom prst="roundRect">
            <a:avLst>
              <a:gd name="adj" fmla="val 70472"/>
            </a:avLst>
          </a:prstGeom>
          <a:solidFill>
            <a:srgbClr val="D94040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08990" y="5743575"/>
            <a:ext cx="159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청구동 </a:t>
            </a:r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231위 → 342위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2758440" y="5743575"/>
            <a:ext cx="514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111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3629025" y="1628775"/>
            <a:ext cx="8001000" cy="361950"/>
          </a:xfrm>
          <a:prstGeom prst="roundRect">
            <a:avLst>
              <a:gd name="adj" fmla="val 106327"/>
            </a:avLst>
          </a:prstGeom>
          <a:solidFill>
            <a:srgbClr val="1A35B5"/>
          </a:solidFill>
          <a:ln/>
        </p:spPr>
      </p:sp>
      <p:sp>
        <p:nvSpPr>
          <p:cNvPr id="39" name="Shape 35"/>
          <p:cNvSpPr/>
          <p:nvPr/>
        </p:nvSpPr>
        <p:spPr>
          <a:xfrm>
            <a:off x="3629025" y="1971675"/>
            <a:ext cx="8001000" cy="19050"/>
          </a:xfrm>
          <a:prstGeom prst="roundRect">
            <a:avLst>
              <a:gd name="adj" fmla="val 2005054"/>
            </a:avLst>
          </a:prstGeom>
          <a:solidFill>
            <a:srgbClr val="0F2070"/>
          </a:solidFill>
          <a:ln w="12700">
            <a:solidFill>
              <a:srgbClr val="0F2070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3590925" y="170561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현재순위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4520565" y="170561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행정동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6066790" y="17056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h=1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7115175" y="17056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h=2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8162925" y="17056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h=3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9210675" y="17056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h=4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10258425" y="170561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변동(h4)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3629025" y="1990725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4"/>
          <p:cNvSpPr/>
          <p:nvPr/>
        </p:nvSpPr>
        <p:spPr>
          <a:xfrm>
            <a:off x="3629025" y="2238375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3590925" y="201930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4520565" y="201930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역삼1동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6066790" y="20193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7115175" y="20193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8162925" y="20193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9210675" y="20193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55" name="Text 51"/>
          <p:cNvSpPr txBox="1"/>
          <p:nvPr/>
        </p:nvSpPr>
        <p:spPr>
          <a:xfrm>
            <a:off x="10258425" y="201930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3629025" y="224790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7" name="Shape 53"/>
          <p:cNvSpPr/>
          <p:nvPr/>
        </p:nvSpPr>
        <p:spPr>
          <a:xfrm>
            <a:off x="3629025" y="249555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3590925" y="227711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59" name="Text 55"/>
          <p:cNvSpPr txBox="1"/>
          <p:nvPr/>
        </p:nvSpPr>
        <p:spPr>
          <a:xfrm>
            <a:off x="4520565" y="227711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구로3동</a:t>
            </a:r>
            <a:endParaRPr lang="en-US" sz="1000" dirty="0"/>
          </a:p>
        </p:txBody>
      </p:sp>
      <p:sp>
        <p:nvSpPr>
          <p:cNvPr id="60" name="Text 56"/>
          <p:cNvSpPr txBox="1"/>
          <p:nvPr/>
        </p:nvSpPr>
        <p:spPr>
          <a:xfrm>
            <a:off x="6066790" y="22771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61" name="Text 57"/>
          <p:cNvSpPr txBox="1"/>
          <p:nvPr/>
        </p:nvSpPr>
        <p:spPr>
          <a:xfrm>
            <a:off x="7115175" y="22771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62" name="Text 58"/>
          <p:cNvSpPr txBox="1"/>
          <p:nvPr/>
        </p:nvSpPr>
        <p:spPr>
          <a:xfrm>
            <a:off x="8162925" y="22771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63" name="Text 59"/>
          <p:cNvSpPr txBox="1"/>
          <p:nvPr/>
        </p:nvSpPr>
        <p:spPr>
          <a:xfrm>
            <a:off x="9210675" y="22771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64" name="Text 60"/>
          <p:cNvSpPr txBox="1"/>
          <p:nvPr/>
        </p:nvSpPr>
        <p:spPr>
          <a:xfrm>
            <a:off x="10258425" y="227711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00" dirty="0"/>
          </a:p>
        </p:txBody>
      </p:sp>
      <p:sp>
        <p:nvSpPr>
          <p:cNvPr id="65" name="Shape 61"/>
          <p:cNvSpPr/>
          <p:nvPr/>
        </p:nvSpPr>
        <p:spPr>
          <a:xfrm>
            <a:off x="3629025" y="2505710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2"/>
          <p:cNvSpPr/>
          <p:nvPr/>
        </p:nvSpPr>
        <p:spPr>
          <a:xfrm>
            <a:off x="3629025" y="275336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3590925" y="253365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68" name="Text 64"/>
          <p:cNvSpPr txBox="1"/>
          <p:nvPr/>
        </p:nvSpPr>
        <p:spPr>
          <a:xfrm>
            <a:off x="4520565" y="253365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대치4동</a:t>
            </a:r>
            <a:endParaRPr lang="en-US" sz="1000" dirty="0"/>
          </a:p>
        </p:txBody>
      </p:sp>
      <p:sp>
        <p:nvSpPr>
          <p:cNvPr id="69" name="Text 65"/>
          <p:cNvSpPr txBox="1"/>
          <p:nvPr/>
        </p:nvSpPr>
        <p:spPr>
          <a:xfrm>
            <a:off x="6066790" y="25336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70" name="Text 66"/>
          <p:cNvSpPr txBox="1"/>
          <p:nvPr/>
        </p:nvSpPr>
        <p:spPr>
          <a:xfrm>
            <a:off x="7115175" y="25336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71" name="Text 67"/>
          <p:cNvSpPr txBox="1"/>
          <p:nvPr/>
        </p:nvSpPr>
        <p:spPr>
          <a:xfrm>
            <a:off x="8162925" y="25336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72" name="Text 68"/>
          <p:cNvSpPr txBox="1"/>
          <p:nvPr/>
        </p:nvSpPr>
        <p:spPr>
          <a:xfrm>
            <a:off x="9210675" y="25336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73" name="Text 69"/>
          <p:cNvSpPr txBox="1"/>
          <p:nvPr/>
        </p:nvSpPr>
        <p:spPr>
          <a:xfrm>
            <a:off x="10258425" y="253365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1</a:t>
            </a:r>
            <a:endParaRPr lang="en-US" sz="1000" dirty="0"/>
          </a:p>
        </p:txBody>
      </p:sp>
      <p:sp>
        <p:nvSpPr>
          <p:cNvPr id="74" name="Shape 70"/>
          <p:cNvSpPr/>
          <p:nvPr/>
        </p:nvSpPr>
        <p:spPr>
          <a:xfrm>
            <a:off x="3629025" y="276225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5" name="Shape 71"/>
          <p:cNvSpPr/>
          <p:nvPr/>
        </p:nvSpPr>
        <p:spPr>
          <a:xfrm>
            <a:off x="3629025" y="300990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3590925" y="2790825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77" name="Text 73"/>
          <p:cNvSpPr txBox="1"/>
          <p:nvPr/>
        </p:nvSpPr>
        <p:spPr>
          <a:xfrm>
            <a:off x="4520565" y="2790825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소공동</a:t>
            </a:r>
            <a:endParaRPr lang="en-US" sz="1000" dirty="0"/>
          </a:p>
        </p:txBody>
      </p:sp>
      <p:sp>
        <p:nvSpPr>
          <p:cNvPr id="78" name="Text 74"/>
          <p:cNvSpPr txBox="1"/>
          <p:nvPr/>
        </p:nvSpPr>
        <p:spPr>
          <a:xfrm>
            <a:off x="6066790" y="27908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5"/>
          <p:cNvSpPr txBox="1"/>
          <p:nvPr/>
        </p:nvSpPr>
        <p:spPr>
          <a:xfrm>
            <a:off x="7115175" y="27908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80" name="Text 76"/>
          <p:cNvSpPr txBox="1"/>
          <p:nvPr/>
        </p:nvSpPr>
        <p:spPr>
          <a:xfrm>
            <a:off x="8162925" y="27908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81" name="Text 77"/>
          <p:cNvSpPr txBox="1"/>
          <p:nvPr/>
        </p:nvSpPr>
        <p:spPr>
          <a:xfrm>
            <a:off x="9210675" y="27908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  <p:sp>
        <p:nvSpPr>
          <p:cNvPr id="82" name="Text 78"/>
          <p:cNvSpPr txBox="1"/>
          <p:nvPr/>
        </p:nvSpPr>
        <p:spPr>
          <a:xfrm>
            <a:off x="10258425" y="2790825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3</a:t>
            </a:r>
            <a:endParaRPr lang="en-US" sz="1000" dirty="0"/>
          </a:p>
        </p:txBody>
      </p:sp>
      <p:sp>
        <p:nvSpPr>
          <p:cNvPr id="83" name="Shape 79"/>
          <p:cNvSpPr/>
          <p:nvPr/>
        </p:nvSpPr>
        <p:spPr>
          <a:xfrm>
            <a:off x="3629025" y="3019425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80"/>
          <p:cNvSpPr/>
          <p:nvPr/>
        </p:nvSpPr>
        <p:spPr>
          <a:xfrm>
            <a:off x="3629025" y="3267075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3590925" y="304800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86" name="Text 82"/>
          <p:cNvSpPr txBox="1"/>
          <p:nvPr/>
        </p:nvSpPr>
        <p:spPr>
          <a:xfrm>
            <a:off x="4520565" y="304800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문래동</a:t>
            </a:r>
            <a:endParaRPr lang="en-US" sz="1000" dirty="0"/>
          </a:p>
        </p:txBody>
      </p:sp>
      <p:sp>
        <p:nvSpPr>
          <p:cNvPr id="87" name="Text 83"/>
          <p:cNvSpPr txBox="1"/>
          <p:nvPr/>
        </p:nvSpPr>
        <p:spPr>
          <a:xfrm>
            <a:off x="6066790" y="30480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en-US" sz="1000" dirty="0"/>
          </a:p>
        </p:txBody>
      </p:sp>
      <p:sp>
        <p:nvSpPr>
          <p:cNvPr id="88" name="Text 84"/>
          <p:cNvSpPr txBox="1"/>
          <p:nvPr/>
        </p:nvSpPr>
        <p:spPr>
          <a:xfrm>
            <a:off x="7115175" y="30480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1000" dirty="0"/>
          </a:p>
        </p:txBody>
      </p:sp>
      <p:sp>
        <p:nvSpPr>
          <p:cNvPr id="89" name="Text 85"/>
          <p:cNvSpPr txBox="1"/>
          <p:nvPr/>
        </p:nvSpPr>
        <p:spPr>
          <a:xfrm>
            <a:off x="8162925" y="30480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en-US" sz="1000" dirty="0"/>
          </a:p>
        </p:txBody>
      </p:sp>
      <p:sp>
        <p:nvSpPr>
          <p:cNvPr id="90" name="Text 86"/>
          <p:cNvSpPr txBox="1"/>
          <p:nvPr/>
        </p:nvSpPr>
        <p:spPr>
          <a:xfrm>
            <a:off x="9210675" y="30480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en-US" sz="1000" dirty="0"/>
          </a:p>
        </p:txBody>
      </p:sp>
      <p:sp>
        <p:nvSpPr>
          <p:cNvPr id="91" name="Text 87"/>
          <p:cNvSpPr txBox="1"/>
          <p:nvPr/>
        </p:nvSpPr>
        <p:spPr>
          <a:xfrm>
            <a:off x="10258425" y="304800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23</a:t>
            </a:r>
            <a:endParaRPr lang="en-US" sz="1000" dirty="0"/>
          </a:p>
        </p:txBody>
      </p:sp>
      <p:sp>
        <p:nvSpPr>
          <p:cNvPr id="92" name="Shape 88"/>
          <p:cNvSpPr/>
          <p:nvPr/>
        </p:nvSpPr>
        <p:spPr>
          <a:xfrm>
            <a:off x="3629025" y="327660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3" name="Shape 89"/>
          <p:cNvSpPr/>
          <p:nvPr/>
        </p:nvSpPr>
        <p:spPr>
          <a:xfrm>
            <a:off x="3629025" y="352425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94" name="Text 90"/>
          <p:cNvSpPr txBox="1"/>
          <p:nvPr/>
        </p:nvSpPr>
        <p:spPr>
          <a:xfrm>
            <a:off x="3590925" y="330581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95" name="Text 91"/>
          <p:cNvSpPr txBox="1"/>
          <p:nvPr/>
        </p:nvSpPr>
        <p:spPr>
          <a:xfrm>
            <a:off x="4520565" y="330581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회현동</a:t>
            </a:r>
            <a:endParaRPr lang="en-US" sz="1000" dirty="0"/>
          </a:p>
        </p:txBody>
      </p:sp>
      <p:sp>
        <p:nvSpPr>
          <p:cNvPr id="96" name="Text 92"/>
          <p:cNvSpPr txBox="1"/>
          <p:nvPr/>
        </p:nvSpPr>
        <p:spPr>
          <a:xfrm>
            <a:off x="6066790" y="33058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97" name="Text 93"/>
          <p:cNvSpPr txBox="1"/>
          <p:nvPr/>
        </p:nvSpPr>
        <p:spPr>
          <a:xfrm>
            <a:off x="7115175" y="33058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  <p:sp>
        <p:nvSpPr>
          <p:cNvPr id="98" name="Text 94"/>
          <p:cNvSpPr txBox="1"/>
          <p:nvPr/>
        </p:nvSpPr>
        <p:spPr>
          <a:xfrm>
            <a:off x="8162925" y="33058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  <p:sp>
        <p:nvSpPr>
          <p:cNvPr id="99" name="Text 95"/>
          <p:cNvSpPr txBox="1"/>
          <p:nvPr/>
        </p:nvSpPr>
        <p:spPr>
          <a:xfrm>
            <a:off x="9210675" y="33058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100" name="Text 96"/>
          <p:cNvSpPr txBox="1"/>
          <p:nvPr/>
        </p:nvSpPr>
        <p:spPr>
          <a:xfrm>
            <a:off x="10258425" y="330581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00" dirty="0"/>
          </a:p>
        </p:txBody>
      </p:sp>
      <p:sp>
        <p:nvSpPr>
          <p:cNvPr id="101" name="Shape 97"/>
          <p:cNvSpPr/>
          <p:nvPr/>
        </p:nvSpPr>
        <p:spPr>
          <a:xfrm>
            <a:off x="3629025" y="3534410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Shape 98"/>
          <p:cNvSpPr/>
          <p:nvPr/>
        </p:nvSpPr>
        <p:spPr>
          <a:xfrm>
            <a:off x="3629025" y="378206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03" name="Text 99"/>
          <p:cNvSpPr txBox="1"/>
          <p:nvPr/>
        </p:nvSpPr>
        <p:spPr>
          <a:xfrm>
            <a:off x="3590925" y="356235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  <p:sp>
        <p:nvSpPr>
          <p:cNvPr id="104" name="Text 100"/>
          <p:cNvSpPr txBox="1"/>
          <p:nvPr/>
        </p:nvSpPr>
        <p:spPr>
          <a:xfrm>
            <a:off x="4520565" y="356235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방이2동</a:t>
            </a:r>
            <a:endParaRPr lang="en-US" sz="1000" dirty="0"/>
          </a:p>
        </p:txBody>
      </p:sp>
      <p:sp>
        <p:nvSpPr>
          <p:cNvPr id="105" name="Text 101"/>
          <p:cNvSpPr txBox="1"/>
          <p:nvPr/>
        </p:nvSpPr>
        <p:spPr>
          <a:xfrm>
            <a:off x="6066790" y="35623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  <p:sp>
        <p:nvSpPr>
          <p:cNvPr id="106" name="Text 102"/>
          <p:cNvSpPr txBox="1"/>
          <p:nvPr/>
        </p:nvSpPr>
        <p:spPr>
          <a:xfrm>
            <a:off x="7115175" y="35623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  <p:sp>
        <p:nvSpPr>
          <p:cNvPr id="107" name="Text 103"/>
          <p:cNvSpPr txBox="1"/>
          <p:nvPr/>
        </p:nvSpPr>
        <p:spPr>
          <a:xfrm>
            <a:off x="8162925" y="35623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  <p:sp>
        <p:nvSpPr>
          <p:cNvPr id="108" name="Text 104"/>
          <p:cNvSpPr txBox="1"/>
          <p:nvPr/>
        </p:nvSpPr>
        <p:spPr>
          <a:xfrm>
            <a:off x="9210675" y="35623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109" name="Text 105"/>
          <p:cNvSpPr txBox="1"/>
          <p:nvPr/>
        </p:nvSpPr>
        <p:spPr>
          <a:xfrm>
            <a:off x="10258425" y="356235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3</a:t>
            </a:r>
            <a:endParaRPr lang="en-US" sz="1000" dirty="0"/>
          </a:p>
        </p:txBody>
      </p:sp>
      <p:sp>
        <p:nvSpPr>
          <p:cNvPr id="110" name="Shape 106"/>
          <p:cNvSpPr/>
          <p:nvPr/>
        </p:nvSpPr>
        <p:spPr>
          <a:xfrm>
            <a:off x="3629025" y="379095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1" name="Shape 107"/>
          <p:cNvSpPr/>
          <p:nvPr/>
        </p:nvSpPr>
        <p:spPr>
          <a:xfrm>
            <a:off x="3629025" y="403860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12" name="Text 108"/>
          <p:cNvSpPr txBox="1"/>
          <p:nvPr/>
        </p:nvSpPr>
        <p:spPr>
          <a:xfrm>
            <a:off x="3590925" y="3819525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  <p:sp>
        <p:nvSpPr>
          <p:cNvPr id="113" name="Text 109"/>
          <p:cNvSpPr txBox="1"/>
          <p:nvPr/>
        </p:nvSpPr>
        <p:spPr>
          <a:xfrm>
            <a:off x="4520565" y="3819525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역삼2동</a:t>
            </a:r>
            <a:endParaRPr lang="en-US" sz="1000" dirty="0"/>
          </a:p>
        </p:txBody>
      </p:sp>
      <p:sp>
        <p:nvSpPr>
          <p:cNvPr id="114" name="Text 110"/>
          <p:cNvSpPr txBox="1"/>
          <p:nvPr/>
        </p:nvSpPr>
        <p:spPr>
          <a:xfrm>
            <a:off x="6066790" y="38195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115" name="Text 111"/>
          <p:cNvSpPr txBox="1"/>
          <p:nvPr/>
        </p:nvSpPr>
        <p:spPr>
          <a:xfrm>
            <a:off x="7115175" y="38195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116" name="Text 112"/>
          <p:cNvSpPr txBox="1"/>
          <p:nvPr/>
        </p:nvSpPr>
        <p:spPr>
          <a:xfrm>
            <a:off x="8162925" y="38195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117" name="Text 113"/>
          <p:cNvSpPr txBox="1"/>
          <p:nvPr/>
        </p:nvSpPr>
        <p:spPr>
          <a:xfrm>
            <a:off x="9210675" y="38195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118" name="Text 114"/>
          <p:cNvSpPr txBox="1"/>
          <p:nvPr/>
        </p:nvSpPr>
        <p:spPr>
          <a:xfrm>
            <a:off x="10258425" y="3819525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3</a:t>
            </a:r>
            <a:endParaRPr lang="en-US" sz="1000" dirty="0"/>
          </a:p>
        </p:txBody>
      </p:sp>
      <p:sp>
        <p:nvSpPr>
          <p:cNvPr id="119" name="Shape 115"/>
          <p:cNvSpPr/>
          <p:nvPr/>
        </p:nvSpPr>
        <p:spPr>
          <a:xfrm>
            <a:off x="3629025" y="4048125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0" name="Shape 116"/>
          <p:cNvSpPr/>
          <p:nvPr/>
        </p:nvSpPr>
        <p:spPr>
          <a:xfrm>
            <a:off x="3629025" y="4295775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21" name="Text 117"/>
          <p:cNvSpPr txBox="1"/>
          <p:nvPr/>
        </p:nvSpPr>
        <p:spPr>
          <a:xfrm>
            <a:off x="3590925" y="407670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  <p:sp>
        <p:nvSpPr>
          <p:cNvPr id="122" name="Text 118"/>
          <p:cNvSpPr txBox="1"/>
          <p:nvPr/>
        </p:nvSpPr>
        <p:spPr>
          <a:xfrm>
            <a:off x="4520565" y="407670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명동</a:t>
            </a:r>
            <a:endParaRPr lang="en-US" sz="1000" dirty="0"/>
          </a:p>
        </p:txBody>
      </p:sp>
      <p:sp>
        <p:nvSpPr>
          <p:cNvPr id="123" name="Text 119"/>
          <p:cNvSpPr txBox="1"/>
          <p:nvPr/>
        </p:nvSpPr>
        <p:spPr>
          <a:xfrm>
            <a:off x="6066790" y="40767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  <p:sp>
        <p:nvSpPr>
          <p:cNvPr id="124" name="Text 120"/>
          <p:cNvSpPr txBox="1"/>
          <p:nvPr/>
        </p:nvSpPr>
        <p:spPr>
          <a:xfrm>
            <a:off x="7115175" y="40767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  <p:sp>
        <p:nvSpPr>
          <p:cNvPr id="125" name="Text 121"/>
          <p:cNvSpPr txBox="1"/>
          <p:nvPr/>
        </p:nvSpPr>
        <p:spPr>
          <a:xfrm>
            <a:off x="8162925" y="40767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  <p:sp>
        <p:nvSpPr>
          <p:cNvPr id="126" name="Text 122"/>
          <p:cNvSpPr txBox="1"/>
          <p:nvPr/>
        </p:nvSpPr>
        <p:spPr>
          <a:xfrm>
            <a:off x="9210675" y="40767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127" name="Text 123"/>
          <p:cNvSpPr txBox="1"/>
          <p:nvPr/>
        </p:nvSpPr>
        <p:spPr>
          <a:xfrm>
            <a:off x="10258425" y="407670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4</a:t>
            </a:r>
            <a:endParaRPr lang="en-US" sz="1000" dirty="0"/>
          </a:p>
        </p:txBody>
      </p:sp>
      <p:sp>
        <p:nvSpPr>
          <p:cNvPr id="128" name="Shape 124"/>
          <p:cNvSpPr/>
          <p:nvPr/>
        </p:nvSpPr>
        <p:spPr>
          <a:xfrm>
            <a:off x="3629025" y="430530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9" name="Shape 125"/>
          <p:cNvSpPr/>
          <p:nvPr/>
        </p:nvSpPr>
        <p:spPr>
          <a:xfrm>
            <a:off x="3629025" y="455295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30" name="Text 126"/>
          <p:cNvSpPr txBox="1"/>
          <p:nvPr/>
        </p:nvSpPr>
        <p:spPr>
          <a:xfrm>
            <a:off x="3590925" y="433451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131" name="Text 127"/>
          <p:cNvSpPr txBox="1"/>
          <p:nvPr/>
        </p:nvSpPr>
        <p:spPr>
          <a:xfrm>
            <a:off x="4520565" y="433451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서교동</a:t>
            </a:r>
            <a:endParaRPr lang="en-US" sz="1000" dirty="0"/>
          </a:p>
        </p:txBody>
      </p:sp>
      <p:sp>
        <p:nvSpPr>
          <p:cNvPr id="132" name="Text 128"/>
          <p:cNvSpPr txBox="1"/>
          <p:nvPr/>
        </p:nvSpPr>
        <p:spPr>
          <a:xfrm>
            <a:off x="6066790" y="43345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133" name="Text 129"/>
          <p:cNvSpPr txBox="1"/>
          <p:nvPr/>
        </p:nvSpPr>
        <p:spPr>
          <a:xfrm>
            <a:off x="7115175" y="43345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134" name="Text 130"/>
          <p:cNvSpPr txBox="1"/>
          <p:nvPr/>
        </p:nvSpPr>
        <p:spPr>
          <a:xfrm>
            <a:off x="8162925" y="43345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135" name="Text 131"/>
          <p:cNvSpPr txBox="1"/>
          <p:nvPr/>
        </p:nvSpPr>
        <p:spPr>
          <a:xfrm>
            <a:off x="9210675" y="43345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136" name="Text 132"/>
          <p:cNvSpPr txBox="1"/>
          <p:nvPr/>
        </p:nvSpPr>
        <p:spPr>
          <a:xfrm>
            <a:off x="10258425" y="433451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7</a:t>
            </a:r>
            <a:endParaRPr lang="en-US" sz="1000" dirty="0"/>
          </a:p>
        </p:txBody>
      </p:sp>
      <p:sp>
        <p:nvSpPr>
          <p:cNvPr id="137" name="Shape 133"/>
          <p:cNvSpPr/>
          <p:nvPr/>
        </p:nvSpPr>
        <p:spPr>
          <a:xfrm>
            <a:off x="3629025" y="4563110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Shape 134"/>
          <p:cNvSpPr/>
          <p:nvPr/>
        </p:nvSpPr>
        <p:spPr>
          <a:xfrm>
            <a:off x="3629025" y="481076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39" name="Text 135"/>
          <p:cNvSpPr txBox="1"/>
          <p:nvPr/>
        </p:nvSpPr>
        <p:spPr>
          <a:xfrm>
            <a:off x="3590925" y="459105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140" name="Text 136"/>
          <p:cNvSpPr txBox="1"/>
          <p:nvPr/>
        </p:nvSpPr>
        <p:spPr>
          <a:xfrm>
            <a:off x="4520565" y="459105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가산동</a:t>
            </a:r>
            <a:endParaRPr lang="en-US" sz="1000" dirty="0"/>
          </a:p>
        </p:txBody>
      </p:sp>
      <p:sp>
        <p:nvSpPr>
          <p:cNvPr id="141" name="Text 137"/>
          <p:cNvSpPr txBox="1"/>
          <p:nvPr/>
        </p:nvSpPr>
        <p:spPr>
          <a:xfrm>
            <a:off x="6066790" y="45910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  <p:sp>
        <p:nvSpPr>
          <p:cNvPr id="142" name="Text 138"/>
          <p:cNvSpPr txBox="1"/>
          <p:nvPr/>
        </p:nvSpPr>
        <p:spPr>
          <a:xfrm>
            <a:off x="7115175" y="45910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143" name="Text 139"/>
          <p:cNvSpPr txBox="1"/>
          <p:nvPr/>
        </p:nvSpPr>
        <p:spPr>
          <a:xfrm>
            <a:off x="8162925" y="45910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144" name="Text 140"/>
          <p:cNvSpPr txBox="1"/>
          <p:nvPr/>
        </p:nvSpPr>
        <p:spPr>
          <a:xfrm>
            <a:off x="9210675" y="45910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  <p:sp>
        <p:nvSpPr>
          <p:cNvPr id="145" name="Text 141"/>
          <p:cNvSpPr txBox="1"/>
          <p:nvPr/>
        </p:nvSpPr>
        <p:spPr>
          <a:xfrm>
            <a:off x="10258425" y="459105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2</a:t>
            </a:r>
            <a:endParaRPr lang="en-US" sz="1000" dirty="0"/>
          </a:p>
        </p:txBody>
      </p:sp>
      <p:sp>
        <p:nvSpPr>
          <p:cNvPr id="146" name="Shape 142"/>
          <p:cNvSpPr/>
          <p:nvPr/>
        </p:nvSpPr>
        <p:spPr>
          <a:xfrm>
            <a:off x="3629025" y="481965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7" name="Shape 143"/>
          <p:cNvSpPr/>
          <p:nvPr/>
        </p:nvSpPr>
        <p:spPr>
          <a:xfrm>
            <a:off x="3629025" y="506730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48" name="Text 144"/>
          <p:cNvSpPr txBox="1"/>
          <p:nvPr/>
        </p:nvSpPr>
        <p:spPr>
          <a:xfrm>
            <a:off x="3590925" y="4848225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149" name="Text 145"/>
          <p:cNvSpPr txBox="1"/>
          <p:nvPr/>
        </p:nvSpPr>
        <p:spPr>
          <a:xfrm>
            <a:off x="4520565" y="4848225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을지로동</a:t>
            </a:r>
            <a:endParaRPr lang="en-US" sz="1000" dirty="0"/>
          </a:p>
        </p:txBody>
      </p:sp>
      <p:sp>
        <p:nvSpPr>
          <p:cNvPr id="150" name="Text 146"/>
          <p:cNvSpPr txBox="1"/>
          <p:nvPr/>
        </p:nvSpPr>
        <p:spPr>
          <a:xfrm>
            <a:off x="6066790" y="48482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  <p:sp>
        <p:nvSpPr>
          <p:cNvPr id="151" name="Text 147"/>
          <p:cNvSpPr txBox="1"/>
          <p:nvPr/>
        </p:nvSpPr>
        <p:spPr>
          <a:xfrm>
            <a:off x="7115175" y="48482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  <p:sp>
        <p:nvSpPr>
          <p:cNvPr id="152" name="Text 148"/>
          <p:cNvSpPr txBox="1"/>
          <p:nvPr/>
        </p:nvSpPr>
        <p:spPr>
          <a:xfrm>
            <a:off x="8162925" y="48482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153" name="Text 149"/>
          <p:cNvSpPr txBox="1"/>
          <p:nvPr/>
        </p:nvSpPr>
        <p:spPr>
          <a:xfrm>
            <a:off x="9210675" y="48482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154" name="Text 150"/>
          <p:cNvSpPr txBox="1"/>
          <p:nvPr/>
        </p:nvSpPr>
        <p:spPr>
          <a:xfrm>
            <a:off x="10258425" y="4848225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00" dirty="0"/>
          </a:p>
        </p:txBody>
      </p:sp>
      <p:sp>
        <p:nvSpPr>
          <p:cNvPr id="155" name="Shape 151"/>
          <p:cNvSpPr/>
          <p:nvPr/>
        </p:nvSpPr>
        <p:spPr>
          <a:xfrm>
            <a:off x="3629025" y="5076825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6" name="Shape 152"/>
          <p:cNvSpPr/>
          <p:nvPr/>
        </p:nvSpPr>
        <p:spPr>
          <a:xfrm>
            <a:off x="3629025" y="5324475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57" name="Text 153"/>
          <p:cNvSpPr txBox="1"/>
          <p:nvPr/>
        </p:nvSpPr>
        <p:spPr>
          <a:xfrm>
            <a:off x="3590925" y="510540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  <p:sp>
        <p:nvSpPr>
          <p:cNvPr id="158" name="Text 154"/>
          <p:cNvSpPr txBox="1"/>
          <p:nvPr/>
        </p:nvSpPr>
        <p:spPr>
          <a:xfrm>
            <a:off x="4543425" y="5105400"/>
            <a:ext cx="16002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종로1234가동</a:t>
            </a:r>
            <a:endParaRPr lang="en-US" sz="1000" dirty="0"/>
          </a:p>
        </p:txBody>
      </p:sp>
      <p:sp>
        <p:nvSpPr>
          <p:cNvPr id="159" name="Text 155"/>
          <p:cNvSpPr txBox="1"/>
          <p:nvPr/>
        </p:nvSpPr>
        <p:spPr>
          <a:xfrm>
            <a:off x="6066790" y="51054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160" name="Text 156"/>
          <p:cNvSpPr txBox="1"/>
          <p:nvPr/>
        </p:nvSpPr>
        <p:spPr>
          <a:xfrm>
            <a:off x="7115175" y="51054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161" name="Text 157"/>
          <p:cNvSpPr txBox="1"/>
          <p:nvPr/>
        </p:nvSpPr>
        <p:spPr>
          <a:xfrm>
            <a:off x="8162925" y="51054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162" name="Text 158"/>
          <p:cNvSpPr txBox="1"/>
          <p:nvPr/>
        </p:nvSpPr>
        <p:spPr>
          <a:xfrm>
            <a:off x="9210675" y="51054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  <p:sp>
        <p:nvSpPr>
          <p:cNvPr id="163" name="Text 159"/>
          <p:cNvSpPr txBox="1"/>
          <p:nvPr/>
        </p:nvSpPr>
        <p:spPr>
          <a:xfrm>
            <a:off x="10258425" y="510540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5</a:t>
            </a:r>
            <a:endParaRPr lang="en-US" sz="1000" dirty="0"/>
          </a:p>
        </p:txBody>
      </p:sp>
      <p:sp>
        <p:nvSpPr>
          <p:cNvPr id="164" name="Shape 160"/>
          <p:cNvSpPr/>
          <p:nvPr/>
        </p:nvSpPr>
        <p:spPr>
          <a:xfrm>
            <a:off x="3629025" y="533400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5" name="Shape 161"/>
          <p:cNvSpPr/>
          <p:nvPr/>
        </p:nvSpPr>
        <p:spPr>
          <a:xfrm>
            <a:off x="3629025" y="558165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66" name="Text 162"/>
          <p:cNvSpPr txBox="1"/>
          <p:nvPr/>
        </p:nvSpPr>
        <p:spPr>
          <a:xfrm>
            <a:off x="3590925" y="536321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  <p:sp>
        <p:nvSpPr>
          <p:cNvPr id="167" name="Text 163"/>
          <p:cNvSpPr txBox="1"/>
          <p:nvPr/>
        </p:nvSpPr>
        <p:spPr>
          <a:xfrm>
            <a:off x="4520565" y="536321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서초2동</a:t>
            </a:r>
            <a:endParaRPr lang="en-US" sz="1000" dirty="0"/>
          </a:p>
        </p:txBody>
      </p:sp>
      <p:sp>
        <p:nvSpPr>
          <p:cNvPr id="168" name="Text 164"/>
          <p:cNvSpPr txBox="1"/>
          <p:nvPr/>
        </p:nvSpPr>
        <p:spPr>
          <a:xfrm>
            <a:off x="6066790" y="53632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000" dirty="0"/>
          </a:p>
        </p:txBody>
      </p:sp>
      <p:sp>
        <p:nvSpPr>
          <p:cNvPr id="169" name="Text 165"/>
          <p:cNvSpPr txBox="1"/>
          <p:nvPr/>
        </p:nvSpPr>
        <p:spPr>
          <a:xfrm>
            <a:off x="7115175" y="53632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  <p:sp>
        <p:nvSpPr>
          <p:cNvPr id="170" name="Text 166"/>
          <p:cNvSpPr txBox="1"/>
          <p:nvPr/>
        </p:nvSpPr>
        <p:spPr>
          <a:xfrm>
            <a:off x="8162925" y="53632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  <p:sp>
        <p:nvSpPr>
          <p:cNvPr id="171" name="Text 167"/>
          <p:cNvSpPr txBox="1"/>
          <p:nvPr/>
        </p:nvSpPr>
        <p:spPr>
          <a:xfrm>
            <a:off x="9210675" y="53632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000" dirty="0"/>
          </a:p>
        </p:txBody>
      </p:sp>
      <p:sp>
        <p:nvSpPr>
          <p:cNvPr id="172" name="Text 168"/>
          <p:cNvSpPr txBox="1"/>
          <p:nvPr/>
        </p:nvSpPr>
        <p:spPr>
          <a:xfrm>
            <a:off x="10258425" y="536321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1</a:t>
            </a:r>
            <a:endParaRPr lang="en-US" sz="1000" dirty="0"/>
          </a:p>
        </p:txBody>
      </p:sp>
      <p:sp>
        <p:nvSpPr>
          <p:cNvPr id="173" name="Shape 169"/>
          <p:cNvSpPr/>
          <p:nvPr/>
        </p:nvSpPr>
        <p:spPr>
          <a:xfrm>
            <a:off x="3629025" y="5591810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4" name="Shape 170"/>
          <p:cNvSpPr/>
          <p:nvPr/>
        </p:nvSpPr>
        <p:spPr>
          <a:xfrm>
            <a:off x="3629025" y="583946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75" name="Text 171"/>
          <p:cNvSpPr txBox="1"/>
          <p:nvPr/>
        </p:nvSpPr>
        <p:spPr>
          <a:xfrm>
            <a:off x="3590925" y="561975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000" dirty="0"/>
          </a:p>
        </p:txBody>
      </p:sp>
      <p:sp>
        <p:nvSpPr>
          <p:cNvPr id="176" name="Text 172"/>
          <p:cNvSpPr txBox="1"/>
          <p:nvPr/>
        </p:nvSpPr>
        <p:spPr>
          <a:xfrm>
            <a:off x="4520565" y="561975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논현1동</a:t>
            </a:r>
            <a:endParaRPr lang="en-US" sz="1000" dirty="0"/>
          </a:p>
        </p:txBody>
      </p:sp>
      <p:sp>
        <p:nvSpPr>
          <p:cNvPr id="177" name="Text 173"/>
          <p:cNvSpPr txBox="1"/>
          <p:nvPr/>
        </p:nvSpPr>
        <p:spPr>
          <a:xfrm>
            <a:off x="6066790" y="56197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178" name="Text 174"/>
          <p:cNvSpPr txBox="1"/>
          <p:nvPr/>
        </p:nvSpPr>
        <p:spPr>
          <a:xfrm>
            <a:off x="7115175" y="56197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179" name="Text 175"/>
          <p:cNvSpPr txBox="1"/>
          <p:nvPr/>
        </p:nvSpPr>
        <p:spPr>
          <a:xfrm>
            <a:off x="8162925" y="56197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000" dirty="0"/>
          </a:p>
        </p:txBody>
      </p:sp>
      <p:sp>
        <p:nvSpPr>
          <p:cNvPr id="180" name="Text 176"/>
          <p:cNvSpPr txBox="1"/>
          <p:nvPr/>
        </p:nvSpPr>
        <p:spPr>
          <a:xfrm>
            <a:off x="9210675" y="561975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  <p:sp>
        <p:nvSpPr>
          <p:cNvPr id="181" name="Text 177"/>
          <p:cNvSpPr txBox="1"/>
          <p:nvPr/>
        </p:nvSpPr>
        <p:spPr>
          <a:xfrm>
            <a:off x="10258425" y="561975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1</a:t>
            </a:r>
            <a:endParaRPr lang="en-US" sz="1000" dirty="0"/>
          </a:p>
        </p:txBody>
      </p:sp>
      <p:sp>
        <p:nvSpPr>
          <p:cNvPr id="182" name="Shape 178"/>
          <p:cNvSpPr/>
          <p:nvPr/>
        </p:nvSpPr>
        <p:spPr>
          <a:xfrm>
            <a:off x="3629025" y="5848350"/>
            <a:ext cx="8001000" cy="2571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3" name="Shape 179"/>
          <p:cNvSpPr/>
          <p:nvPr/>
        </p:nvSpPr>
        <p:spPr>
          <a:xfrm>
            <a:off x="3629025" y="6096000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84" name="Text 180"/>
          <p:cNvSpPr txBox="1"/>
          <p:nvPr/>
        </p:nvSpPr>
        <p:spPr>
          <a:xfrm>
            <a:off x="3590925" y="5876925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185" name="Text 181"/>
          <p:cNvSpPr txBox="1"/>
          <p:nvPr/>
        </p:nvSpPr>
        <p:spPr>
          <a:xfrm>
            <a:off x="4520565" y="5876925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서초4동</a:t>
            </a:r>
            <a:endParaRPr lang="en-US" sz="1000" dirty="0"/>
          </a:p>
        </p:txBody>
      </p:sp>
      <p:sp>
        <p:nvSpPr>
          <p:cNvPr id="186" name="Text 182"/>
          <p:cNvSpPr txBox="1"/>
          <p:nvPr/>
        </p:nvSpPr>
        <p:spPr>
          <a:xfrm>
            <a:off x="6066790" y="58769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1000" dirty="0"/>
          </a:p>
        </p:txBody>
      </p:sp>
      <p:sp>
        <p:nvSpPr>
          <p:cNvPr id="187" name="Text 183"/>
          <p:cNvSpPr txBox="1"/>
          <p:nvPr/>
        </p:nvSpPr>
        <p:spPr>
          <a:xfrm>
            <a:off x="7115175" y="58769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00" dirty="0"/>
          </a:p>
        </p:txBody>
      </p:sp>
      <p:sp>
        <p:nvSpPr>
          <p:cNvPr id="188" name="Text 184"/>
          <p:cNvSpPr txBox="1"/>
          <p:nvPr/>
        </p:nvSpPr>
        <p:spPr>
          <a:xfrm>
            <a:off x="8162925" y="58769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1000" dirty="0"/>
          </a:p>
        </p:txBody>
      </p:sp>
      <p:sp>
        <p:nvSpPr>
          <p:cNvPr id="189" name="Text 185"/>
          <p:cNvSpPr txBox="1"/>
          <p:nvPr/>
        </p:nvSpPr>
        <p:spPr>
          <a:xfrm>
            <a:off x="9210675" y="5876925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00" dirty="0"/>
          </a:p>
        </p:txBody>
      </p:sp>
      <p:sp>
        <p:nvSpPr>
          <p:cNvPr id="190" name="Text 186"/>
          <p:cNvSpPr txBox="1"/>
          <p:nvPr/>
        </p:nvSpPr>
        <p:spPr>
          <a:xfrm>
            <a:off x="10258425" y="5876925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4</a:t>
            </a:r>
            <a:endParaRPr lang="en-US" sz="1000" dirty="0"/>
          </a:p>
        </p:txBody>
      </p:sp>
      <p:sp>
        <p:nvSpPr>
          <p:cNvPr id="191" name="Shape 187"/>
          <p:cNvSpPr/>
          <p:nvPr/>
        </p:nvSpPr>
        <p:spPr>
          <a:xfrm>
            <a:off x="3629025" y="6105525"/>
            <a:ext cx="8001000" cy="257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2" name="Shape 188"/>
          <p:cNvSpPr/>
          <p:nvPr/>
        </p:nvSpPr>
        <p:spPr>
          <a:xfrm>
            <a:off x="3629025" y="6353175"/>
            <a:ext cx="800100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93" name="Text 189"/>
          <p:cNvSpPr txBox="1"/>
          <p:nvPr/>
        </p:nvSpPr>
        <p:spPr>
          <a:xfrm>
            <a:off x="3590925" y="613410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000" dirty="0"/>
          </a:p>
        </p:txBody>
      </p:sp>
      <p:sp>
        <p:nvSpPr>
          <p:cNvPr id="194" name="Text 190"/>
          <p:cNvSpPr txBox="1"/>
          <p:nvPr/>
        </p:nvSpPr>
        <p:spPr>
          <a:xfrm>
            <a:off x="4520565" y="613410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압구정동</a:t>
            </a:r>
            <a:endParaRPr lang="en-US" sz="1000" dirty="0"/>
          </a:p>
        </p:txBody>
      </p:sp>
      <p:sp>
        <p:nvSpPr>
          <p:cNvPr id="195" name="Text 191"/>
          <p:cNvSpPr txBox="1"/>
          <p:nvPr/>
        </p:nvSpPr>
        <p:spPr>
          <a:xfrm>
            <a:off x="6066790" y="61341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196" name="Text 192"/>
          <p:cNvSpPr txBox="1"/>
          <p:nvPr/>
        </p:nvSpPr>
        <p:spPr>
          <a:xfrm>
            <a:off x="7115175" y="61341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1000" dirty="0"/>
          </a:p>
        </p:txBody>
      </p:sp>
      <p:sp>
        <p:nvSpPr>
          <p:cNvPr id="197" name="Text 193"/>
          <p:cNvSpPr txBox="1"/>
          <p:nvPr/>
        </p:nvSpPr>
        <p:spPr>
          <a:xfrm>
            <a:off x="8162925" y="61341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198" name="Text 194"/>
          <p:cNvSpPr txBox="1"/>
          <p:nvPr/>
        </p:nvSpPr>
        <p:spPr>
          <a:xfrm>
            <a:off x="9210675" y="613410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199" name="Text 195"/>
          <p:cNvSpPr txBox="1"/>
          <p:nvPr/>
        </p:nvSpPr>
        <p:spPr>
          <a:xfrm>
            <a:off x="10258425" y="613410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1</a:t>
            </a:r>
            <a:endParaRPr lang="en-US" sz="1000" dirty="0"/>
          </a:p>
        </p:txBody>
      </p:sp>
      <p:sp>
        <p:nvSpPr>
          <p:cNvPr id="200" name="Shape 196"/>
          <p:cNvSpPr/>
          <p:nvPr/>
        </p:nvSpPr>
        <p:spPr>
          <a:xfrm>
            <a:off x="3629025" y="6362700"/>
            <a:ext cx="8001000" cy="24765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Text 197"/>
          <p:cNvSpPr txBox="1"/>
          <p:nvPr/>
        </p:nvSpPr>
        <p:spPr>
          <a:xfrm>
            <a:off x="3590925" y="6391910"/>
            <a:ext cx="1028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000" dirty="0"/>
          </a:p>
        </p:txBody>
      </p:sp>
      <p:sp>
        <p:nvSpPr>
          <p:cNvPr id="202" name="Text 198"/>
          <p:cNvSpPr txBox="1"/>
          <p:nvPr/>
        </p:nvSpPr>
        <p:spPr>
          <a:xfrm>
            <a:off x="4520565" y="6391910"/>
            <a:ext cx="164592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영등포동</a:t>
            </a:r>
            <a:endParaRPr lang="en-US" sz="1000" dirty="0"/>
          </a:p>
        </p:txBody>
      </p:sp>
      <p:sp>
        <p:nvSpPr>
          <p:cNvPr id="203" name="Text 199"/>
          <p:cNvSpPr txBox="1"/>
          <p:nvPr/>
        </p:nvSpPr>
        <p:spPr>
          <a:xfrm>
            <a:off x="6066790" y="63919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  <p:sp>
        <p:nvSpPr>
          <p:cNvPr id="204" name="Text 200"/>
          <p:cNvSpPr txBox="1"/>
          <p:nvPr/>
        </p:nvSpPr>
        <p:spPr>
          <a:xfrm>
            <a:off x="7115175" y="63919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205" name="Text 201"/>
          <p:cNvSpPr txBox="1"/>
          <p:nvPr/>
        </p:nvSpPr>
        <p:spPr>
          <a:xfrm>
            <a:off x="8162925" y="63919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  <p:sp>
        <p:nvSpPr>
          <p:cNvPr id="206" name="Text 202"/>
          <p:cNvSpPr txBox="1"/>
          <p:nvPr/>
        </p:nvSpPr>
        <p:spPr>
          <a:xfrm>
            <a:off x="9210675" y="6391910"/>
            <a:ext cx="112458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  <p:sp>
        <p:nvSpPr>
          <p:cNvPr id="207" name="Text 203"/>
          <p:cNvSpPr txBox="1"/>
          <p:nvPr/>
        </p:nvSpPr>
        <p:spPr>
          <a:xfrm>
            <a:off x="10258425" y="639191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5</a:t>
            </a:r>
            <a:endParaRPr lang="en-US" sz="1000" dirty="0"/>
          </a:p>
        </p:txBody>
      </p:sp>
      <p:sp>
        <p:nvSpPr>
          <p:cNvPr id="209" name="텍스트 상자 63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결과 </a:t>
            </a: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10" name="도형 64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11" name="텍스트 상자 65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762000" y="1714500"/>
            <a:ext cx="5163185" cy="1381125"/>
          </a:xfrm>
          <a:prstGeom prst="roundRect">
            <a:avLst>
              <a:gd name="adj" fmla="val 7308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sx="100000" sy="100000" blurRad="76200" dist="38100" dir="16200000" rotWithShape="0" algn="bl">
              <a:srgbClr val="000000">
                <a:alpha val="1960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762000" y="1714500"/>
            <a:ext cx="5163185" cy="38735"/>
          </a:xfrm>
          <a:prstGeom prst="roundRect">
            <a:avLst>
              <a:gd name="adj" fmla="val 262724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7" name="Picture " descr="C:/Users/Kim dong gwan/AppData/Roaming/PolarisOffice/ETemp/17048_16254952/fImage2061608328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 rot="0">
            <a:off x="1047750" y="2286000"/>
            <a:ext cx="4572635" cy="9525"/>
          </a:xfrm>
          <a:prstGeom prst="rect"/>
          <a:noFill/>
        </p:spPr>
      </p:pic>
      <p:sp>
        <p:nvSpPr>
          <p:cNvPr id="8" name="Rect 0"/>
          <p:cNvSpPr>
            <a:spLocks/>
          </p:cNvSpPr>
          <p:nvPr/>
        </p:nvSpPr>
        <p:spPr>
          <a:xfrm rot="0">
            <a:off x="6286500" y="1714500"/>
            <a:ext cx="5163185" cy="1381125"/>
          </a:xfrm>
          <a:prstGeom prst="roundRect">
            <a:avLst>
              <a:gd name="adj" fmla="val 7308"/>
            </a:avLst>
          </a:prstGeom>
          <a:solidFill>
            <a:srgbClr val="F8F9FA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sx="100000" sy="100000" blurRad="76200" dist="38100" dir="16200000" rotWithShape="0" algn="bl">
              <a:srgbClr val="000000">
                <a:alpha val="1960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/>
          </p:cNvSpPr>
          <p:nvPr/>
        </p:nvSpPr>
        <p:spPr>
          <a:xfrm rot="0">
            <a:off x="6286500" y="1714500"/>
            <a:ext cx="5163185" cy="38735"/>
          </a:xfrm>
          <a:prstGeom prst="roundRect">
            <a:avLst>
              <a:gd name="adj" fmla="val 262724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10" name="Picture " descr="C:/Users/Kim dong gwan/AppData/Roaming/PolarisOffice/ETemp/17048_16254952/fImage2061611682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3" r="-2083"/>
          <a:stretch>
            <a:fillRect/>
          </a:stretch>
        </p:blipFill>
        <p:spPr>
          <a:xfrm rot="0">
            <a:off x="6572885" y="2286000"/>
            <a:ext cx="4572635" cy="9525"/>
          </a:xfrm>
          <a:prstGeom prst="rect"/>
          <a:noFill/>
        </p:spPr>
      </p:pic>
      <p:sp>
        <p:nvSpPr>
          <p:cNvPr id="11" name="Rect 0"/>
          <p:cNvSpPr>
            <a:spLocks/>
          </p:cNvSpPr>
          <p:nvPr/>
        </p:nvSpPr>
        <p:spPr>
          <a:xfrm rot="0">
            <a:off x="762000" y="3715385"/>
            <a:ext cx="10688320" cy="3067685"/>
          </a:xfrm>
          <a:prstGeom prst="roundRect">
            <a:avLst>
              <a:gd name="adj" fmla="val 1481"/>
            </a:avLst>
          </a:prstGeom>
          <a:noFill/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sx="100000" sy="100000" blurRad="139700" dist="38100" dir="16200000" rotWithShape="0" algn="bl">
              <a:srgbClr val="000000">
                <a:alpha val="1960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 rot="0">
            <a:off x="762000" y="952500"/>
            <a:ext cx="7925435" cy="45783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30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유망 상권 선정 기준 &amp; 결과</a:t>
            </a:r>
            <a:endParaRPr lang="ko-KR" altLang="en-US" sz="30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15" name="Picture " descr="C:/Users/Kim dong gwan/AppData/Roaming/PolarisOffice/ETemp/17048_16254952/fImage8161616996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82" r="-1282"/>
          <a:stretch>
            <a:fillRect/>
          </a:stretch>
        </p:blipFill>
        <p:spPr>
          <a:xfrm rot="0">
            <a:off x="1047750" y="1938655"/>
            <a:ext cx="220345" cy="191135"/>
          </a:xfrm>
          <a:prstGeom prst="rect"/>
          <a:noFill/>
        </p:spPr>
      </p:pic>
      <p:sp>
        <p:nvSpPr>
          <p:cNvPr id="16" name="Rect 0"/>
          <p:cNvSpPr txBox="1">
            <a:spLocks/>
          </p:cNvSpPr>
          <p:nvPr/>
        </p:nvSpPr>
        <p:spPr>
          <a:xfrm rot="0">
            <a:off x="1380490" y="1905000"/>
            <a:ext cx="4001135" cy="2774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기준 1 : </a:t>
            </a:r>
            <a:r>
              <a:rPr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순위 </a:t>
            </a:r>
            <a:r>
              <a:rPr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지속 성장형</a:t>
            </a:r>
            <a:endParaRPr lang="ko-KR" altLang="en-US" sz="15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7" name="Rect 0"/>
          <p:cNvSpPr txBox="1">
            <a:spLocks/>
          </p:cNvSpPr>
          <p:nvPr/>
        </p:nvSpPr>
        <p:spPr>
          <a:xfrm rot="0">
            <a:off x="1238250" y="2428875"/>
            <a:ext cx="4572635" cy="24828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h=1~4 전 예측 구간에서 순위 </a:t>
            </a:r>
            <a:r>
              <a:rPr sz="12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지속 상승 또는 유지</a:t>
            </a:r>
            <a:endParaRPr lang="ko-KR" altLang="en-US" sz="12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8" name="Rect 0"/>
          <p:cNvSpPr txBox="1">
            <a:spLocks/>
          </p:cNvSpPr>
          <p:nvPr/>
        </p:nvSpPr>
        <p:spPr>
          <a:xfrm rot="0">
            <a:off x="1238250" y="2672715"/>
            <a:ext cx="4496435" cy="24828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단, </a:t>
            </a: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상권 </a:t>
            </a: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포화 가능성이 높</a:t>
            </a: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고 </a:t>
            </a: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순위 상승폭이 작은 행정동</a:t>
            </a:r>
            <a:r>
              <a:rPr lang="ko-KR"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들은</a:t>
            </a: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 제외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19" name="Picture " descr="C:/Users/Kim dong gwan/AppData/Roaming/PolarisOffice/ETemp/17048_16254952/fImage949162049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572885" y="1938655"/>
            <a:ext cx="238125" cy="191135"/>
          </a:xfrm>
          <a:prstGeom prst="rect"/>
          <a:noFill/>
        </p:spPr>
      </p:pic>
      <p:sp>
        <p:nvSpPr>
          <p:cNvPr id="20" name="Rect 0"/>
          <p:cNvSpPr txBox="1">
            <a:spLocks/>
          </p:cNvSpPr>
          <p:nvPr/>
        </p:nvSpPr>
        <p:spPr>
          <a:xfrm rot="0">
            <a:off x="6905625" y="1905000"/>
            <a:ext cx="4001135" cy="2774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기준 2 : </a:t>
            </a:r>
            <a:r>
              <a:rPr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클러스터 </a:t>
            </a:r>
            <a:r>
              <a:rPr lang="ko-KR"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별</a:t>
            </a:r>
            <a:r>
              <a:rPr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 상위 성장 상권</a:t>
            </a:r>
            <a:endParaRPr lang="ko-KR" altLang="en-US" sz="15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21" name="Rect 0"/>
          <p:cNvSpPr txBox="1">
            <a:spLocks/>
          </p:cNvSpPr>
          <p:nvPr/>
        </p:nvSpPr>
        <p:spPr>
          <a:xfrm rot="0">
            <a:off x="6762750" y="2428875"/>
            <a:ext cx="5161280" cy="24828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>클러스터 내 h=4</a:t>
            </a: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 </a:t>
            </a: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>기준</a:t>
            </a:r>
            <a:r>
              <a:rPr sz="1200" b="1">
                <a:solidFill>
                  <a:srgbClr val="444444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 </a:t>
            </a:r>
            <a:r>
              <a:rPr sz="12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순위상승 상위 10% &amp; 해당 클러스터 평균 Y 이상</a:t>
            </a:r>
            <a:endParaRPr lang="ko-KR" altLang="en-US" sz="12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 rot="0">
            <a:off x="6762750" y="2672715"/>
            <a:ext cx="4953000" cy="24828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 b="1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Cluster 1: 성산2동, 중계4동 / Cluster 2: 염창동, 명일2동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pic>
        <p:nvPicPr>
          <p:cNvPr id="23" name="Picture " descr="C:/Users/Kim dong gwan/AppData/Roaming/PolarisOffice/ETemp/17048_16254952/fImage124216242995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62000" y="3366770"/>
            <a:ext cx="191135" cy="191135"/>
          </a:xfrm>
          <a:prstGeom prst="rect"/>
          <a:noFill/>
        </p:spPr>
      </p:pic>
      <p:sp>
        <p:nvSpPr>
          <p:cNvPr id="24" name="Rect 0"/>
          <p:cNvSpPr txBox="1">
            <a:spLocks/>
          </p:cNvSpPr>
          <p:nvPr/>
        </p:nvSpPr>
        <p:spPr>
          <a:xfrm rot="0">
            <a:off x="1095375" y="3333750"/>
            <a:ext cx="4001135" cy="2774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최종 선정 7개 유망 행정동</a:t>
            </a:r>
            <a:endParaRPr lang="ko-KR" altLang="en-US" sz="15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25" name="Rect 0"/>
          <p:cNvSpPr>
            <a:spLocks/>
          </p:cNvSpPr>
          <p:nvPr/>
        </p:nvSpPr>
        <p:spPr>
          <a:xfrm rot="0">
            <a:off x="762000" y="3715385"/>
            <a:ext cx="10668635" cy="401320"/>
          </a:xfrm>
          <a:prstGeom prst="rect"/>
          <a:solidFill>
            <a:srgbClr val="1A35B5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26" name="Rect 0"/>
          <p:cNvSpPr>
            <a:spLocks/>
          </p:cNvSpPr>
          <p:nvPr/>
        </p:nvSpPr>
        <p:spPr>
          <a:xfrm rot="0">
            <a:off x="762000" y="4096385"/>
            <a:ext cx="10668635" cy="19685"/>
          </a:xfrm>
          <a:prstGeom prst="rect"/>
          <a:solidFill>
            <a:srgbClr val="0F2070"/>
          </a:solidFill>
          <a:ln w="12700" cap="flat" cmpd="sng">
            <a:solidFill>
              <a:srgbClr val="0F2070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27" name="Rect 0"/>
          <p:cNvSpPr txBox="1">
            <a:spLocks/>
          </p:cNvSpPr>
          <p:nvPr/>
        </p:nvSpPr>
        <p:spPr>
          <a:xfrm rot="0">
            <a:off x="708660" y="3804920"/>
            <a:ext cx="144081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행정동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28" name="Rect 0"/>
          <p:cNvSpPr txBox="1">
            <a:spLocks/>
          </p:cNvSpPr>
          <p:nvPr/>
        </p:nvSpPr>
        <p:spPr>
          <a:xfrm rot="0">
            <a:off x="2042160" y="3804920"/>
            <a:ext cx="144081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클러스터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29" name="Rect 0"/>
          <p:cNvSpPr txBox="1">
            <a:spLocks/>
          </p:cNvSpPr>
          <p:nvPr/>
        </p:nvSpPr>
        <p:spPr>
          <a:xfrm rot="0">
            <a:off x="3383280" y="3804920"/>
            <a:ext cx="123507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현재순위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 rot="0">
            <a:off x="4533900" y="380492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h=1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1" name="Rect 0"/>
          <p:cNvSpPr txBox="1">
            <a:spLocks/>
          </p:cNvSpPr>
          <p:nvPr/>
        </p:nvSpPr>
        <p:spPr>
          <a:xfrm rot="0">
            <a:off x="5486400" y="380492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h=2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2" name="Rect 0"/>
          <p:cNvSpPr txBox="1">
            <a:spLocks/>
          </p:cNvSpPr>
          <p:nvPr/>
        </p:nvSpPr>
        <p:spPr>
          <a:xfrm rot="0">
            <a:off x="6438900" y="380492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h=3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3" name="Rect 0"/>
          <p:cNvSpPr txBox="1">
            <a:spLocks/>
          </p:cNvSpPr>
          <p:nvPr/>
        </p:nvSpPr>
        <p:spPr>
          <a:xfrm rot="0">
            <a:off x="7391400" y="380492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h=4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4" name="Rect 0"/>
          <p:cNvSpPr txBox="1">
            <a:spLocks/>
          </p:cNvSpPr>
          <p:nvPr/>
        </p:nvSpPr>
        <p:spPr>
          <a:xfrm rot="0">
            <a:off x="8343900" y="3804920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변동(h4)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5" name="Rect 0"/>
          <p:cNvSpPr txBox="1">
            <a:spLocks/>
          </p:cNvSpPr>
          <p:nvPr/>
        </p:nvSpPr>
        <p:spPr>
          <a:xfrm rot="0">
            <a:off x="9448800" y="3804920"/>
            <a:ext cx="20580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FFFFFF"/>
                </a:solidFill>
                <a:latin typeface="Noto Sans KR" charset="0"/>
                <a:ea typeface="Noto Sans KR" charset="0"/>
                <a:sym typeface="맑은 고딕" charset="0"/>
              </a:rPr>
              <a:t>선정기준</a:t>
            </a:r>
            <a:endParaRPr lang="ko-KR" altLang="en-US" sz="1100" b="1">
              <a:solidFill>
                <a:srgbClr val="FFFFFF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6" name="Rect 0"/>
          <p:cNvSpPr>
            <a:spLocks/>
          </p:cNvSpPr>
          <p:nvPr/>
        </p:nvSpPr>
        <p:spPr>
          <a:xfrm rot="0">
            <a:off x="762000" y="4114800"/>
            <a:ext cx="10668635" cy="391160"/>
          </a:xfrm>
          <a:prstGeom prst="rect"/>
          <a:solidFill>
            <a:srgbClr val="FFFF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37" name="Rect 0"/>
          <p:cNvSpPr>
            <a:spLocks/>
          </p:cNvSpPr>
          <p:nvPr/>
        </p:nvSpPr>
        <p:spPr>
          <a:xfrm rot="0">
            <a:off x="762000" y="4495800"/>
            <a:ext cx="10668635" cy="9525"/>
          </a:xfrm>
          <a:prstGeom prst="rect"/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38" name="Rect 0"/>
          <p:cNvSpPr txBox="1">
            <a:spLocks/>
          </p:cNvSpPr>
          <p:nvPr/>
        </p:nvSpPr>
        <p:spPr>
          <a:xfrm rot="0">
            <a:off x="708660" y="4205605"/>
            <a:ext cx="144081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행당1동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39" name="Rect 0"/>
          <p:cNvSpPr txBox="1">
            <a:spLocks/>
          </p:cNvSpPr>
          <p:nvPr/>
        </p:nvSpPr>
        <p:spPr>
          <a:xfrm rot="0">
            <a:off x="2042160" y="4210050"/>
            <a:ext cx="144081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클러스터 </a:t>
            </a: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2</a:t>
            </a:r>
            <a:endParaRPr lang="ko-KR" altLang="en-US" sz="10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0" name="Rect 0"/>
          <p:cNvSpPr txBox="1">
            <a:spLocks/>
          </p:cNvSpPr>
          <p:nvPr/>
        </p:nvSpPr>
        <p:spPr>
          <a:xfrm rot="0">
            <a:off x="3390900" y="4205605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137위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1" name="Rect 0"/>
          <p:cNvSpPr txBox="1">
            <a:spLocks/>
          </p:cNvSpPr>
          <p:nvPr/>
        </p:nvSpPr>
        <p:spPr>
          <a:xfrm rot="0">
            <a:off x="4533900" y="420560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132위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2" name="Rect 0"/>
          <p:cNvSpPr txBox="1">
            <a:spLocks/>
          </p:cNvSpPr>
          <p:nvPr/>
        </p:nvSpPr>
        <p:spPr>
          <a:xfrm rot="0">
            <a:off x="5486400" y="420560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119위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3" name="Rect 0"/>
          <p:cNvSpPr txBox="1">
            <a:spLocks/>
          </p:cNvSpPr>
          <p:nvPr/>
        </p:nvSpPr>
        <p:spPr>
          <a:xfrm rot="0">
            <a:off x="6438900" y="420560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116위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4" name="Rect 0"/>
          <p:cNvSpPr txBox="1">
            <a:spLocks/>
          </p:cNvSpPr>
          <p:nvPr/>
        </p:nvSpPr>
        <p:spPr>
          <a:xfrm rot="0">
            <a:off x="7391400" y="420560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109위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5" name="Rect 0"/>
          <p:cNvSpPr txBox="1">
            <a:spLocks/>
          </p:cNvSpPr>
          <p:nvPr/>
        </p:nvSpPr>
        <p:spPr>
          <a:xfrm rot="0">
            <a:off x="8343900" y="4205605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1A7A4A"/>
                </a:solidFill>
                <a:latin typeface="Noto Sans KR" charset="0"/>
                <a:ea typeface="Noto Sans KR" charset="0"/>
                <a:sym typeface="맑은 고딕" charset="0"/>
              </a:rPr>
              <a:t>▲ 28</a:t>
            </a:r>
            <a:endParaRPr lang="ko-KR" altLang="en-US" sz="1100" b="1">
              <a:solidFill>
                <a:srgbClr val="1A7A4A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6" name="Rect 0"/>
          <p:cNvSpPr>
            <a:spLocks/>
          </p:cNvSpPr>
          <p:nvPr/>
        </p:nvSpPr>
        <p:spPr>
          <a:xfrm rot="0">
            <a:off x="10214610" y="4196080"/>
            <a:ext cx="534035" cy="220345"/>
          </a:xfrm>
          <a:prstGeom prst="roundRect">
            <a:avLst>
              <a:gd name="adj" fmla="val 144928"/>
            </a:avLst>
          </a:prstGeom>
          <a:solidFill>
            <a:srgbClr val="E8EE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47" name="Rect 0"/>
          <p:cNvSpPr txBox="1">
            <a:spLocks/>
          </p:cNvSpPr>
          <p:nvPr/>
        </p:nvSpPr>
        <p:spPr>
          <a:xfrm rot="0">
            <a:off x="10214610" y="4196080"/>
            <a:ext cx="591185" cy="220345"/>
          </a:xfrm>
          <a:prstGeom prst="rect"/>
          <a:solidFill>
            <a:srgbClr val="FFFFFF">
              <a:alpha val="0"/>
            </a:srgbClr>
          </a:solidFill>
          <a:ln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101600" tIns="25400" rIns="101600" bIns="2540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기준 1</a:t>
            </a:r>
            <a:endParaRPr lang="ko-KR" altLang="en-US" sz="9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48" name="Rect 0"/>
          <p:cNvSpPr>
            <a:spLocks/>
          </p:cNvSpPr>
          <p:nvPr/>
        </p:nvSpPr>
        <p:spPr>
          <a:xfrm rot="0">
            <a:off x="762000" y="4505325"/>
            <a:ext cx="10668635" cy="391160"/>
          </a:xfrm>
          <a:prstGeom prst="rect"/>
          <a:solidFill>
            <a:srgbClr val="F8F9FA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49" name="Rect 0"/>
          <p:cNvSpPr>
            <a:spLocks/>
          </p:cNvSpPr>
          <p:nvPr/>
        </p:nvSpPr>
        <p:spPr>
          <a:xfrm rot="0">
            <a:off x="762000" y="4886325"/>
            <a:ext cx="10668635" cy="9525"/>
          </a:xfrm>
          <a:prstGeom prst="rect"/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50" name="Rect 0"/>
          <p:cNvSpPr txBox="1">
            <a:spLocks/>
          </p:cNvSpPr>
          <p:nvPr/>
        </p:nvSpPr>
        <p:spPr>
          <a:xfrm rot="0">
            <a:off x="708660" y="4595495"/>
            <a:ext cx="144081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숭인2동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1" name="Rect 0"/>
          <p:cNvSpPr txBox="1">
            <a:spLocks/>
          </p:cNvSpPr>
          <p:nvPr/>
        </p:nvSpPr>
        <p:spPr>
          <a:xfrm rot="0">
            <a:off x="2042160" y="4600575"/>
            <a:ext cx="144081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클러스터 </a:t>
            </a: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2</a:t>
            </a:r>
            <a:endParaRPr lang="ko-KR" altLang="en-US" sz="10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2" name="Rect 0"/>
          <p:cNvSpPr txBox="1">
            <a:spLocks/>
          </p:cNvSpPr>
          <p:nvPr/>
        </p:nvSpPr>
        <p:spPr>
          <a:xfrm rot="0">
            <a:off x="3390900" y="4595495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198위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3" name="Rect 0"/>
          <p:cNvSpPr txBox="1">
            <a:spLocks/>
          </p:cNvSpPr>
          <p:nvPr/>
        </p:nvSpPr>
        <p:spPr>
          <a:xfrm rot="0">
            <a:off x="4533900" y="459549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173위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4" name="Rect 0"/>
          <p:cNvSpPr txBox="1">
            <a:spLocks/>
          </p:cNvSpPr>
          <p:nvPr/>
        </p:nvSpPr>
        <p:spPr>
          <a:xfrm rot="0">
            <a:off x="5486400" y="459549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167위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5" name="Rect 0"/>
          <p:cNvSpPr txBox="1">
            <a:spLocks/>
          </p:cNvSpPr>
          <p:nvPr/>
        </p:nvSpPr>
        <p:spPr>
          <a:xfrm rot="0">
            <a:off x="6438900" y="459549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158위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6" name="Rect 0"/>
          <p:cNvSpPr txBox="1">
            <a:spLocks/>
          </p:cNvSpPr>
          <p:nvPr/>
        </p:nvSpPr>
        <p:spPr>
          <a:xfrm rot="0">
            <a:off x="7391400" y="459549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154위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7" name="Rect 0"/>
          <p:cNvSpPr txBox="1">
            <a:spLocks/>
          </p:cNvSpPr>
          <p:nvPr/>
        </p:nvSpPr>
        <p:spPr>
          <a:xfrm rot="0">
            <a:off x="8343900" y="4595495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1A7A4A"/>
                </a:solidFill>
                <a:latin typeface="Noto Sans KR" charset="0"/>
                <a:ea typeface="Noto Sans KR" charset="0"/>
                <a:sym typeface="맑은 고딕" charset="0"/>
              </a:rPr>
              <a:t>▲ 44</a:t>
            </a:r>
            <a:endParaRPr lang="ko-KR" altLang="en-US" sz="1100" b="1">
              <a:solidFill>
                <a:srgbClr val="1A7A4A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58" name="Rect 0"/>
          <p:cNvSpPr>
            <a:spLocks/>
          </p:cNvSpPr>
          <p:nvPr/>
        </p:nvSpPr>
        <p:spPr>
          <a:xfrm rot="0">
            <a:off x="10214610" y="4586605"/>
            <a:ext cx="534035" cy="220345"/>
          </a:xfrm>
          <a:prstGeom prst="roundRect">
            <a:avLst>
              <a:gd name="adj" fmla="val 144928"/>
            </a:avLst>
          </a:prstGeom>
          <a:solidFill>
            <a:srgbClr val="E8EE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59" name="Rect 0"/>
          <p:cNvSpPr txBox="1">
            <a:spLocks/>
          </p:cNvSpPr>
          <p:nvPr/>
        </p:nvSpPr>
        <p:spPr>
          <a:xfrm rot="0">
            <a:off x="10214610" y="4586605"/>
            <a:ext cx="591185" cy="220345"/>
          </a:xfrm>
          <a:prstGeom prst="rect"/>
          <a:solidFill>
            <a:srgbClr val="FFFFFF">
              <a:alpha val="0"/>
            </a:srgbClr>
          </a:solidFill>
          <a:ln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101600" tIns="25400" rIns="101600" bIns="2540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기준 1</a:t>
            </a:r>
            <a:endParaRPr lang="ko-KR" altLang="en-US" sz="9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0" name="Rect 0"/>
          <p:cNvSpPr>
            <a:spLocks/>
          </p:cNvSpPr>
          <p:nvPr/>
        </p:nvSpPr>
        <p:spPr>
          <a:xfrm rot="0">
            <a:off x="762000" y="4895850"/>
            <a:ext cx="10668635" cy="391160"/>
          </a:xfrm>
          <a:prstGeom prst="rect"/>
          <a:solidFill>
            <a:srgbClr val="FFFF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61" name="Rect 0"/>
          <p:cNvSpPr>
            <a:spLocks/>
          </p:cNvSpPr>
          <p:nvPr/>
        </p:nvSpPr>
        <p:spPr>
          <a:xfrm rot="0">
            <a:off x="762000" y="5276850"/>
            <a:ext cx="10668635" cy="9525"/>
          </a:xfrm>
          <a:prstGeom prst="rect"/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62" name="Rect 0"/>
          <p:cNvSpPr txBox="1">
            <a:spLocks/>
          </p:cNvSpPr>
          <p:nvPr/>
        </p:nvSpPr>
        <p:spPr>
          <a:xfrm rot="0">
            <a:off x="708660" y="4986020"/>
            <a:ext cx="144081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고덕2동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3" name="Rect 0"/>
          <p:cNvSpPr txBox="1">
            <a:spLocks/>
          </p:cNvSpPr>
          <p:nvPr/>
        </p:nvSpPr>
        <p:spPr>
          <a:xfrm rot="0">
            <a:off x="2042160" y="4991100"/>
            <a:ext cx="144081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클러스터 </a:t>
            </a: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1</a:t>
            </a:r>
            <a:endParaRPr lang="ko-KR" altLang="en-US" sz="10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4" name="Rect 0"/>
          <p:cNvSpPr txBox="1">
            <a:spLocks/>
          </p:cNvSpPr>
          <p:nvPr/>
        </p:nvSpPr>
        <p:spPr>
          <a:xfrm rot="0">
            <a:off x="3390900" y="4986020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233위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5" name="Rect 0"/>
          <p:cNvSpPr txBox="1">
            <a:spLocks/>
          </p:cNvSpPr>
          <p:nvPr/>
        </p:nvSpPr>
        <p:spPr>
          <a:xfrm rot="0">
            <a:off x="4533900" y="498602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202위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6" name="Rect 0"/>
          <p:cNvSpPr txBox="1">
            <a:spLocks/>
          </p:cNvSpPr>
          <p:nvPr/>
        </p:nvSpPr>
        <p:spPr>
          <a:xfrm rot="0">
            <a:off x="5486400" y="498602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200위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7" name="Rect 0"/>
          <p:cNvSpPr txBox="1">
            <a:spLocks/>
          </p:cNvSpPr>
          <p:nvPr/>
        </p:nvSpPr>
        <p:spPr>
          <a:xfrm rot="0">
            <a:off x="6438900" y="498602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186위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8" name="Rect 0"/>
          <p:cNvSpPr txBox="1">
            <a:spLocks/>
          </p:cNvSpPr>
          <p:nvPr/>
        </p:nvSpPr>
        <p:spPr>
          <a:xfrm rot="0">
            <a:off x="7391400" y="498602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184위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69" name="Rect 0"/>
          <p:cNvSpPr txBox="1">
            <a:spLocks/>
          </p:cNvSpPr>
          <p:nvPr/>
        </p:nvSpPr>
        <p:spPr>
          <a:xfrm rot="0">
            <a:off x="8343900" y="4986020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1A7A4A"/>
                </a:solidFill>
                <a:latin typeface="Noto Sans KR" charset="0"/>
                <a:ea typeface="Noto Sans KR" charset="0"/>
                <a:sym typeface="맑은 고딕" charset="0"/>
              </a:rPr>
              <a:t>▲ 49</a:t>
            </a:r>
            <a:endParaRPr lang="ko-KR" altLang="en-US" sz="1100" b="1">
              <a:solidFill>
                <a:srgbClr val="1A7A4A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70" name="Rect 0"/>
          <p:cNvSpPr>
            <a:spLocks/>
          </p:cNvSpPr>
          <p:nvPr/>
        </p:nvSpPr>
        <p:spPr>
          <a:xfrm rot="0">
            <a:off x="10214610" y="4977130"/>
            <a:ext cx="534035" cy="220345"/>
          </a:xfrm>
          <a:prstGeom prst="roundRect">
            <a:avLst>
              <a:gd name="adj" fmla="val 144928"/>
            </a:avLst>
          </a:prstGeom>
          <a:solidFill>
            <a:srgbClr val="E8EE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71" name="Rect 0"/>
          <p:cNvSpPr txBox="1">
            <a:spLocks/>
          </p:cNvSpPr>
          <p:nvPr/>
        </p:nvSpPr>
        <p:spPr>
          <a:xfrm rot="0">
            <a:off x="10214610" y="4977130"/>
            <a:ext cx="591185" cy="220345"/>
          </a:xfrm>
          <a:prstGeom prst="rect"/>
          <a:solidFill>
            <a:srgbClr val="FFFFFF">
              <a:alpha val="0"/>
            </a:srgbClr>
          </a:solidFill>
          <a:ln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101600" tIns="25400" rIns="101600" bIns="2540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기준 1</a:t>
            </a:r>
            <a:endParaRPr lang="ko-KR" altLang="en-US" sz="9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72" name="Rect 0"/>
          <p:cNvSpPr>
            <a:spLocks/>
          </p:cNvSpPr>
          <p:nvPr/>
        </p:nvSpPr>
        <p:spPr>
          <a:xfrm rot="0">
            <a:off x="762000" y="5286375"/>
            <a:ext cx="10668635" cy="391160"/>
          </a:xfrm>
          <a:prstGeom prst="rect"/>
          <a:solidFill>
            <a:srgbClr val="F8F9FA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73" name="Rect 0"/>
          <p:cNvSpPr>
            <a:spLocks/>
          </p:cNvSpPr>
          <p:nvPr/>
        </p:nvSpPr>
        <p:spPr>
          <a:xfrm rot="0">
            <a:off x="762000" y="5667375"/>
            <a:ext cx="10668635" cy="9525"/>
          </a:xfrm>
          <a:prstGeom prst="rect"/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74" name="Rect 0"/>
          <p:cNvSpPr txBox="1">
            <a:spLocks/>
          </p:cNvSpPr>
          <p:nvPr/>
        </p:nvSpPr>
        <p:spPr>
          <a:xfrm rot="0">
            <a:off x="708660" y="5376545"/>
            <a:ext cx="144081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성산2동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75" name="Rect 0"/>
          <p:cNvSpPr txBox="1">
            <a:spLocks/>
          </p:cNvSpPr>
          <p:nvPr/>
        </p:nvSpPr>
        <p:spPr>
          <a:xfrm rot="0">
            <a:off x="2042160" y="5380990"/>
            <a:ext cx="144081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클러스터 </a:t>
            </a: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1</a:t>
            </a:r>
            <a:endParaRPr lang="ko-KR" altLang="en-US" sz="10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76" name="Rect 0"/>
          <p:cNvSpPr txBox="1">
            <a:spLocks/>
          </p:cNvSpPr>
          <p:nvPr/>
        </p:nvSpPr>
        <p:spPr>
          <a:xfrm rot="0">
            <a:off x="3390900" y="5376545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244위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77" name="Rect 0"/>
          <p:cNvSpPr txBox="1">
            <a:spLocks/>
          </p:cNvSpPr>
          <p:nvPr/>
        </p:nvSpPr>
        <p:spPr>
          <a:xfrm rot="0">
            <a:off x="4533900" y="537654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211위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78" name="Rect 0"/>
          <p:cNvSpPr txBox="1">
            <a:spLocks/>
          </p:cNvSpPr>
          <p:nvPr/>
        </p:nvSpPr>
        <p:spPr>
          <a:xfrm rot="0">
            <a:off x="5486400" y="537654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210위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79" name="Rect 0"/>
          <p:cNvSpPr txBox="1">
            <a:spLocks/>
          </p:cNvSpPr>
          <p:nvPr/>
        </p:nvSpPr>
        <p:spPr>
          <a:xfrm rot="0">
            <a:off x="6438900" y="537654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212위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0" name="Rect 0"/>
          <p:cNvSpPr txBox="1">
            <a:spLocks/>
          </p:cNvSpPr>
          <p:nvPr/>
        </p:nvSpPr>
        <p:spPr>
          <a:xfrm rot="0">
            <a:off x="7391400" y="537654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180위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1" name="Rect 0"/>
          <p:cNvSpPr txBox="1">
            <a:spLocks/>
          </p:cNvSpPr>
          <p:nvPr/>
        </p:nvSpPr>
        <p:spPr>
          <a:xfrm rot="0">
            <a:off x="8343900" y="5376545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1A7A4A"/>
                </a:solidFill>
                <a:latin typeface="Noto Sans KR" charset="0"/>
                <a:ea typeface="Noto Sans KR" charset="0"/>
                <a:sym typeface="맑은 고딕" charset="0"/>
              </a:rPr>
              <a:t>▲ 64</a:t>
            </a:r>
            <a:endParaRPr lang="ko-KR" altLang="en-US" sz="1100" b="1">
              <a:solidFill>
                <a:srgbClr val="1A7A4A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2" name="Rect 0"/>
          <p:cNvSpPr>
            <a:spLocks/>
          </p:cNvSpPr>
          <p:nvPr/>
        </p:nvSpPr>
        <p:spPr>
          <a:xfrm rot="0">
            <a:off x="10204450" y="5357495"/>
            <a:ext cx="553085" cy="238125"/>
          </a:xfrm>
          <a:prstGeom prst="roundRect">
            <a:avLst>
              <a:gd name="adj" fmla="val 123077"/>
            </a:avLst>
          </a:prstGeom>
          <a:solidFill>
            <a:srgbClr val="FFF5F5"/>
          </a:solidFill>
          <a:ln w="12700" cap="flat" cmpd="sng">
            <a:solidFill>
              <a:srgbClr val="FFD6D6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83" name="Rect 0"/>
          <p:cNvSpPr txBox="1">
            <a:spLocks/>
          </p:cNvSpPr>
          <p:nvPr/>
        </p:nvSpPr>
        <p:spPr>
          <a:xfrm rot="0">
            <a:off x="10204450" y="5357495"/>
            <a:ext cx="610235" cy="239395"/>
          </a:xfrm>
          <a:prstGeom prst="rect"/>
          <a:solidFill>
            <a:srgbClr val="FFFFFF">
              <a:alpha val="0"/>
            </a:srgbClr>
          </a:solidFill>
          <a:ln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101600" tIns="25400" rIns="101600" bIns="2540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 b="1">
                <a:solidFill>
                  <a:srgbClr val="D94040"/>
                </a:solidFill>
                <a:latin typeface="Noto Sans KR" charset="0"/>
                <a:ea typeface="Noto Sans KR" charset="0"/>
                <a:sym typeface="맑은 고딕" charset="0"/>
              </a:rPr>
              <a:t>기준 2</a:t>
            </a:r>
            <a:endParaRPr lang="ko-KR" altLang="en-US" sz="900" b="1">
              <a:solidFill>
                <a:srgbClr val="D94040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4" name="Rect 0"/>
          <p:cNvSpPr>
            <a:spLocks/>
          </p:cNvSpPr>
          <p:nvPr/>
        </p:nvSpPr>
        <p:spPr>
          <a:xfrm rot="0">
            <a:off x="762000" y="5676900"/>
            <a:ext cx="10668635" cy="391160"/>
          </a:xfrm>
          <a:prstGeom prst="rect"/>
          <a:solidFill>
            <a:srgbClr val="FFFF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85" name="Rect 0"/>
          <p:cNvSpPr>
            <a:spLocks/>
          </p:cNvSpPr>
          <p:nvPr/>
        </p:nvSpPr>
        <p:spPr>
          <a:xfrm rot="0">
            <a:off x="762000" y="6057900"/>
            <a:ext cx="10668635" cy="9525"/>
          </a:xfrm>
          <a:prstGeom prst="rect"/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86" name="Rect 0"/>
          <p:cNvSpPr txBox="1">
            <a:spLocks/>
          </p:cNvSpPr>
          <p:nvPr/>
        </p:nvSpPr>
        <p:spPr>
          <a:xfrm rot="0">
            <a:off x="708660" y="5767070"/>
            <a:ext cx="144081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중계4동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7" name="Rect 0"/>
          <p:cNvSpPr txBox="1">
            <a:spLocks/>
          </p:cNvSpPr>
          <p:nvPr/>
        </p:nvSpPr>
        <p:spPr>
          <a:xfrm rot="0">
            <a:off x="2042160" y="5772785"/>
            <a:ext cx="144081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클러스터 </a:t>
            </a: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1</a:t>
            </a:r>
            <a:endParaRPr lang="ko-KR" altLang="en-US" sz="10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8" name="Rect 0"/>
          <p:cNvSpPr txBox="1">
            <a:spLocks/>
          </p:cNvSpPr>
          <p:nvPr/>
        </p:nvSpPr>
        <p:spPr>
          <a:xfrm rot="0">
            <a:off x="3390900" y="5767070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265위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89" name="Rect 0"/>
          <p:cNvSpPr txBox="1">
            <a:spLocks/>
          </p:cNvSpPr>
          <p:nvPr/>
        </p:nvSpPr>
        <p:spPr>
          <a:xfrm rot="0">
            <a:off x="4533900" y="576707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232위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90" name="Rect 0"/>
          <p:cNvSpPr txBox="1">
            <a:spLocks/>
          </p:cNvSpPr>
          <p:nvPr/>
        </p:nvSpPr>
        <p:spPr>
          <a:xfrm rot="0">
            <a:off x="5486400" y="576707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214위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91" name="Rect 0"/>
          <p:cNvSpPr txBox="1">
            <a:spLocks/>
          </p:cNvSpPr>
          <p:nvPr/>
        </p:nvSpPr>
        <p:spPr>
          <a:xfrm rot="0">
            <a:off x="6438900" y="576707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223위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92" name="Rect 0"/>
          <p:cNvSpPr txBox="1">
            <a:spLocks/>
          </p:cNvSpPr>
          <p:nvPr/>
        </p:nvSpPr>
        <p:spPr>
          <a:xfrm rot="0">
            <a:off x="7391400" y="576707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222위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93" name="Rect 0"/>
          <p:cNvSpPr txBox="1">
            <a:spLocks/>
          </p:cNvSpPr>
          <p:nvPr/>
        </p:nvSpPr>
        <p:spPr>
          <a:xfrm rot="0">
            <a:off x="8343900" y="5767070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1A7A4A"/>
                </a:solidFill>
                <a:latin typeface="Noto Sans KR" charset="0"/>
                <a:ea typeface="Noto Sans KR" charset="0"/>
                <a:sym typeface="맑은 고딕" charset="0"/>
              </a:rPr>
              <a:t>▲ 43</a:t>
            </a:r>
            <a:endParaRPr lang="ko-KR" altLang="en-US" sz="1100" b="1">
              <a:solidFill>
                <a:srgbClr val="1A7A4A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94" name="Rect 0"/>
          <p:cNvSpPr>
            <a:spLocks/>
          </p:cNvSpPr>
          <p:nvPr/>
        </p:nvSpPr>
        <p:spPr>
          <a:xfrm rot="0">
            <a:off x="10204450" y="5748020"/>
            <a:ext cx="553085" cy="238125"/>
          </a:xfrm>
          <a:prstGeom prst="roundRect">
            <a:avLst>
              <a:gd name="adj" fmla="val 123077"/>
            </a:avLst>
          </a:prstGeom>
          <a:solidFill>
            <a:srgbClr val="FFF5F5"/>
          </a:solidFill>
          <a:ln w="12700" cap="flat" cmpd="sng">
            <a:solidFill>
              <a:srgbClr val="FFD6D6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95" name="Rect 0"/>
          <p:cNvSpPr txBox="1">
            <a:spLocks/>
          </p:cNvSpPr>
          <p:nvPr/>
        </p:nvSpPr>
        <p:spPr>
          <a:xfrm rot="0">
            <a:off x="10204450" y="5748020"/>
            <a:ext cx="610235" cy="239395"/>
          </a:xfrm>
          <a:prstGeom prst="rect"/>
          <a:solidFill>
            <a:srgbClr val="FFFFFF">
              <a:alpha val="0"/>
            </a:srgbClr>
          </a:solidFill>
          <a:ln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101600" tIns="25400" rIns="101600" bIns="2540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 b="1">
                <a:solidFill>
                  <a:srgbClr val="D94040"/>
                </a:solidFill>
                <a:latin typeface="Noto Sans KR" charset="0"/>
                <a:ea typeface="Noto Sans KR" charset="0"/>
                <a:sym typeface="맑은 고딕" charset="0"/>
              </a:rPr>
              <a:t>기준 2</a:t>
            </a:r>
            <a:endParaRPr lang="ko-KR" altLang="en-US" sz="900" b="1">
              <a:solidFill>
                <a:srgbClr val="D94040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96" name="Rect 0"/>
          <p:cNvSpPr>
            <a:spLocks/>
          </p:cNvSpPr>
          <p:nvPr/>
        </p:nvSpPr>
        <p:spPr>
          <a:xfrm rot="0">
            <a:off x="762000" y="6066790"/>
            <a:ext cx="10668635" cy="391160"/>
          </a:xfrm>
          <a:prstGeom prst="rect"/>
          <a:solidFill>
            <a:srgbClr val="F8F9FA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97" name="Rect 0"/>
          <p:cNvSpPr>
            <a:spLocks/>
          </p:cNvSpPr>
          <p:nvPr/>
        </p:nvSpPr>
        <p:spPr>
          <a:xfrm rot="0">
            <a:off x="762000" y="6448425"/>
            <a:ext cx="10668635" cy="9525"/>
          </a:xfrm>
          <a:prstGeom prst="rect"/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98" name="Rect 0"/>
          <p:cNvSpPr txBox="1">
            <a:spLocks/>
          </p:cNvSpPr>
          <p:nvPr/>
        </p:nvSpPr>
        <p:spPr>
          <a:xfrm rot="0">
            <a:off x="708660" y="6157595"/>
            <a:ext cx="144081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염창동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99" name="Rect 0"/>
          <p:cNvSpPr txBox="1">
            <a:spLocks/>
          </p:cNvSpPr>
          <p:nvPr/>
        </p:nvSpPr>
        <p:spPr>
          <a:xfrm rot="0">
            <a:off x="2042160" y="6163310"/>
            <a:ext cx="144081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클러스터 </a:t>
            </a: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2</a:t>
            </a:r>
            <a:endParaRPr lang="ko-KR" altLang="en-US" sz="10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0" name="Rect 0"/>
          <p:cNvSpPr txBox="1">
            <a:spLocks/>
          </p:cNvSpPr>
          <p:nvPr/>
        </p:nvSpPr>
        <p:spPr>
          <a:xfrm rot="0">
            <a:off x="3390900" y="6157595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206위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1" name="Rect 0"/>
          <p:cNvSpPr txBox="1">
            <a:spLocks/>
          </p:cNvSpPr>
          <p:nvPr/>
        </p:nvSpPr>
        <p:spPr>
          <a:xfrm rot="0">
            <a:off x="4533900" y="615759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146위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2" name="Rect 0"/>
          <p:cNvSpPr txBox="1">
            <a:spLocks/>
          </p:cNvSpPr>
          <p:nvPr/>
        </p:nvSpPr>
        <p:spPr>
          <a:xfrm rot="0">
            <a:off x="5486400" y="615759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149위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3" name="Rect 0"/>
          <p:cNvSpPr txBox="1">
            <a:spLocks/>
          </p:cNvSpPr>
          <p:nvPr/>
        </p:nvSpPr>
        <p:spPr>
          <a:xfrm rot="0">
            <a:off x="6438900" y="615759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135위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4" name="Rect 0"/>
          <p:cNvSpPr txBox="1">
            <a:spLocks/>
          </p:cNvSpPr>
          <p:nvPr/>
        </p:nvSpPr>
        <p:spPr>
          <a:xfrm rot="0">
            <a:off x="7391400" y="6157595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118위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5" name="Rect 0"/>
          <p:cNvSpPr txBox="1">
            <a:spLocks/>
          </p:cNvSpPr>
          <p:nvPr/>
        </p:nvSpPr>
        <p:spPr>
          <a:xfrm rot="0">
            <a:off x="8343900" y="6157595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1A7A4A"/>
                </a:solidFill>
                <a:latin typeface="Noto Sans KR" charset="0"/>
                <a:ea typeface="Noto Sans KR" charset="0"/>
                <a:sym typeface="맑은 고딕" charset="0"/>
              </a:rPr>
              <a:t>▲ 88</a:t>
            </a:r>
            <a:endParaRPr lang="ko-KR" altLang="en-US" sz="1100" b="1">
              <a:solidFill>
                <a:srgbClr val="1A7A4A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6" name="Rect 0"/>
          <p:cNvSpPr>
            <a:spLocks/>
          </p:cNvSpPr>
          <p:nvPr/>
        </p:nvSpPr>
        <p:spPr>
          <a:xfrm rot="0">
            <a:off x="10204450" y="6139180"/>
            <a:ext cx="553085" cy="238125"/>
          </a:xfrm>
          <a:prstGeom prst="roundRect">
            <a:avLst>
              <a:gd name="adj" fmla="val 123077"/>
            </a:avLst>
          </a:prstGeom>
          <a:solidFill>
            <a:srgbClr val="FFF5F5"/>
          </a:solidFill>
          <a:ln w="12700" cap="flat" cmpd="sng">
            <a:solidFill>
              <a:srgbClr val="FFD6D6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07" name="Rect 0"/>
          <p:cNvSpPr txBox="1">
            <a:spLocks/>
          </p:cNvSpPr>
          <p:nvPr/>
        </p:nvSpPr>
        <p:spPr>
          <a:xfrm rot="0">
            <a:off x="10204450" y="6139180"/>
            <a:ext cx="610235" cy="239395"/>
          </a:xfrm>
          <a:prstGeom prst="rect"/>
          <a:solidFill>
            <a:srgbClr val="FFFFFF">
              <a:alpha val="0"/>
            </a:srgbClr>
          </a:solidFill>
          <a:ln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101600" tIns="25400" rIns="101600" bIns="2540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 b="1">
                <a:solidFill>
                  <a:srgbClr val="D94040"/>
                </a:solidFill>
                <a:latin typeface="Noto Sans KR" charset="0"/>
                <a:ea typeface="Noto Sans KR" charset="0"/>
                <a:sym typeface="맑은 고딕" charset="0"/>
              </a:rPr>
              <a:t>기준 2</a:t>
            </a:r>
            <a:endParaRPr lang="ko-KR" altLang="en-US" sz="900" b="1">
              <a:solidFill>
                <a:srgbClr val="D94040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08" name="Rect 0"/>
          <p:cNvSpPr>
            <a:spLocks/>
          </p:cNvSpPr>
          <p:nvPr/>
        </p:nvSpPr>
        <p:spPr>
          <a:xfrm rot="0">
            <a:off x="762000" y="6458585"/>
            <a:ext cx="10668635" cy="38163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09" name="Rect 0"/>
          <p:cNvSpPr txBox="1">
            <a:spLocks/>
          </p:cNvSpPr>
          <p:nvPr/>
        </p:nvSpPr>
        <p:spPr>
          <a:xfrm rot="0">
            <a:off x="708660" y="6548120"/>
            <a:ext cx="144081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명일2동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0" name="Rect 0"/>
          <p:cNvSpPr txBox="1">
            <a:spLocks/>
          </p:cNvSpPr>
          <p:nvPr/>
        </p:nvSpPr>
        <p:spPr>
          <a:xfrm rot="0">
            <a:off x="2042160" y="6553200"/>
            <a:ext cx="144081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 xml:space="preserve">클러스터 </a:t>
            </a:r>
            <a:r>
              <a:rPr sz="10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2</a:t>
            </a:r>
            <a:endParaRPr lang="ko-KR" altLang="en-US" sz="10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1" name="Rect 0"/>
          <p:cNvSpPr txBox="1">
            <a:spLocks/>
          </p:cNvSpPr>
          <p:nvPr/>
        </p:nvSpPr>
        <p:spPr>
          <a:xfrm rot="0">
            <a:off x="3390900" y="6548120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130위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2" name="Rect 0"/>
          <p:cNvSpPr txBox="1">
            <a:spLocks/>
          </p:cNvSpPr>
          <p:nvPr/>
        </p:nvSpPr>
        <p:spPr>
          <a:xfrm rot="0">
            <a:off x="4533900" y="654812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93위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3" name="Rect 0"/>
          <p:cNvSpPr txBox="1">
            <a:spLocks/>
          </p:cNvSpPr>
          <p:nvPr/>
        </p:nvSpPr>
        <p:spPr>
          <a:xfrm rot="0">
            <a:off x="5486400" y="654812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94위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4" name="Rect 0"/>
          <p:cNvSpPr txBox="1">
            <a:spLocks/>
          </p:cNvSpPr>
          <p:nvPr/>
        </p:nvSpPr>
        <p:spPr>
          <a:xfrm rot="0">
            <a:off x="6438900" y="654812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>
                <a:solidFill>
                  <a:srgbClr val="555555"/>
                </a:solidFill>
                <a:latin typeface="Noto Sans KR" charset="0"/>
                <a:ea typeface="Noto Sans KR" charset="0"/>
                <a:sym typeface="맑은 고딕" charset="0"/>
              </a:rPr>
              <a:t>90위</a:t>
            </a:r>
            <a:endParaRPr lang="ko-KR" altLang="en-US" sz="1100">
              <a:solidFill>
                <a:srgbClr val="55555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5" name="Rect 0"/>
          <p:cNvSpPr txBox="1">
            <a:spLocks/>
          </p:cNvSpPr>
          <p:nvPr/>
        </p:nvSpPr>
        <p:spPr>
          <a:xfrm rot="0">
            <a:off x="7391400" y="6548120"/>
            <a:ext cx="102933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1A35B5"/>
                </a:solidFill>
                <a:latin typeface="Noto Sans KR" charset="0"/>
                <a:ea typeface="Noto Sans KR" charset="0"/>
                <a:sym typeface="맑은 고딕" charset="0"/>
              </a:rPr>
              <a:t>90위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6" name="Rect 0"/>
          <p:cNvSpPr txBox="1">
            <a:spLocks/>
          </p:cNvSpPr>
          <p:nvPr/>
        </p:nvSpPr>
        <p:spPr>
          <a:xfrm rot="0">
            <a:off x="8343900" y="6548120"/>
            <a:ext cx="122047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100" b="1">
                <a:solidFill>
                  <a:srgbClr val="1A7A4A"/>
                </a:solidFill>
                <a:latin typeface="Noto Sans KR" charset="0"/>
                <a:ea typeface="Noto Sans KR" charset="0"/>
                <a:sym typeface="맑은 고딕" charset="0"/>
              </a:rPr>
              <a:t>▲ 40</a:t>
            </a:r>
            <a:endParaRPr lang="ko-KR" altLang="en-US" sz="1100" b="1">
              <a:solidFill>
                <a:srgbClr val="1A7A4A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17" name="Rect 0"/>
          <p:cNvSpPr>
            <a:spLocks/>
          </p:cNvSpPr>
          <p:nvPr/>
        </p:nvSpPr>
        <p:spPr>
          <a:xfrm rot="0">
            <a:off x="10204450" y="6529705"/>
            <a:ext cx="553085" cy="238125"/>
          </a:xfrm>
          <a:prstGeom prst="roundRect">
            <a:avLst>
              <a:gd name="adj" fmla="val 123077"/>
            </a:avLst>
          </a:prstGeom>
          <a:solidFill>
            <a:srgbClr val="FFF5F5"/>
          </a:solidFill>
          <a:ln w="12700" cap="flat" cmpd="sng">
            <a:solidFill>
              <a:srgbClr val="FFD6D6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18" name="Rect 0"/>
          <p:cNvSpPr txBox="1">
            <a:spLocks/>
          </p:cNvSpPr>
          <p:nvPr/>
        </p:nvSpPr>
        <p:spPr>
          <a:xfrm rot="0">
            <a:off x="10204450" y="6529705"/>
            <a:ext cx="610235" cy="239395"/>
          </a:xfrm>
          <a:prstGeom prst="rect"/>
          <a:solidFill>
            <a:srgbClr val="FFFFFF">
              <a:alpha val="0"/>
            </a:srgbClr>
          </a:solidFill>
          <a:ln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101600" tIns="25400" rIns="101600" bIns="2540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 b="1">
                <a:solidFill>
                  <a:srgbClr val="D94040"/>
                </a:solidFill>
                <a:latin typeface="Noto Sans KR" charset="0"/>
                <a:ea typeface="Noto Sans KR" charset="0"/>
                <a:sym typeface="맑은 고딕" charset="0"/>
              </a:rPr>
              <a:t>기준 2</a:t>
            </a:r>
            <a:endParaRPr lang="ko-KR" altLang="en-US" sz="900" b="1">
              <a:solidFill>
                <a:srgbClr val="D94040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20" name="텍스트 상자 66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결과 </a:t>
            </a: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21" name="도형 67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22" name="텍스트 상자 68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571500" y="1571625"/>
            <a:ext cx="11106785" cy="1000125"/>
          </a:xfrm>
          <a:prstGeom prst="roundRect">
            <a:avLst>
              <a:gd name="adj" fmla="val 18953"/>
            </a:avLst>
          </a:prstGeom>
          <a:solidFill>
            <a:srgbClr val="F4F7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571500" y="1571625"/>
            <a:ext cx="58420" cy="858520"/>
          </a:xfrm>
          <a:prstGeom prst="roundRect">
            <a:avLst>
              <a:gd name="adj" fmla="val 282188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571500" y="3048000"/>
            <a:ext cx="5258435" cy="1544320"/>
          </a:xfrm>
          <a:prstGeom prst="roundRect">
            <a:avLst>
              <a:gd name="adj" fmla="val 4388"/>
            </a:avLst>
          </a:prstGeom>
          <a:solidFill>
            <a:srgbClr val="FFFFFF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8" name="Rect 0"/>
          <p:cNvSpPr>
            <a:spLocks/>
          </p:cNvSpPr>
          <p:nvPr/>
        </p:nvSpPr>
        <p:spPr>
          <a:xfrm rot="0">
            <a:off x="571500" y="5380990"/>
            <a:ext cx="5258435" cy="1276985"/>
          </a:xfrm>
          <a:prstGeom prst="roundRect">
            <a:avLst>
              <a:gd name="adj" fmla="val 6415"/>
            </a:avLst>
          </a:prstGeom>
          <a:solidFill>
            <a:srgbClr val="FFFFFF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9" name="Rect 0"/>
          <p:cNvSpPr>
            <a:spLocks/>
          </p:cNvSpPr>
          <p:nvPr/>
        </p:nvSpPr>
        <p:spPr>
          <a:xfrm rot="0">
            <a:off x="6286500" y="3048000"/>
            <a:ext cx="5381625" cy="1162685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12700" cap="flat" cmpd="sng">
            <a:solidFill>
              <a:srgbClr val="EAEAEA">
                <a:alpha val="100000"/>
              </a:srgbClr>
            </a:solidFill>
            <a:prstDash val="solid"/>
          </a:ln>
          <a:effectLst>
            <a:outerShdw sx="100000" sy="100000" blurRad="76200" dist="38100" dir="16200000" rotWithShape="0" algn="bl">
              <a:srgbClr val="000000">
                <a:alpha val="1960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0" name="Rect 0"/>
          <p:cNvSpPr>
            <a:spLocks/>
          </p:cNvSpPr>
          <p:nvPr/>
        </p:nvSpPr>
        <p:spPr>
          <a:xfrm rot="0">
            <a:off x="6286500" y="3048000"/>
            <a:ext cx="38735" cy="1162685"/>
          </a:xfrm>
          <a:prstGeom prst="roundRect">
            <a:avLst>
              <a:gd name="adj" fmla="val 234191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9" name="Rect 0"/>
          <p:cNvSpPr>
            <a:spLocks/>
          </p:cNvSpPr>
          <p:nvPr/>
        </p:nvSpPr>
        <p:spPr>
          <a:xfrm rot="0">
            <a:off x="808990" y="1714500"/>
            <a:ext cx="781685" cy="267335"/>
          </a:xfrm>
          <a:prstGeom prst="roundRect">
            <a:avLst>
              <a:gd name="adj" fmla="val 97847"/>
            </a:avLst>
          </a:prstGeom>
          <a:solidFill>
            <a:srgbClr val="FFFFFF"/>
          </a:solidFill>
          <a:ln w="12700" cap="flat" cmpd="sng">
            <a:solidFill>
              <a:srgbClr val="D1DEFF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 rot="0">
            <a:off x="571500" y="952500"/>
            <a:ext cx="7925435" cy="4578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3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유망 상권 심층분석 : </a:t>
            </a:r>
            <a:r>
              <a:rPr lang="ko-KR" sz="3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고덕 </a:t>
            </a:r>
            <a:r>
              <a:rPr lang="ko-KR" sz="3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2동</a:t>
            </a:r>
            <a:endParaRPr lang="ko-KR" altLang="en-US" sz="3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 rot="0">
            <a:off x="771525" y="1743075"/>
            <a:ext cx="838835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8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유동집중 </a:t>
            </a:r>
            <a:r>
              <a:rPr lang="ko-KR" sz="8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주거</a:t>
            </a:r>
            <a:endParaRPr lang="ko-KR" altLang="en-US" sz="8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4" name="Rect 0"/>
          <p:cNvSpPr txBox="1">
            <a:spLocks/>
          </p:cNvSpPr>
          <p:nvPr/>
        </p:nvSpPr>
        <p:spPr>
          <a:xfrm rot="0">
            <a:off x="1714500" y="1733550"/>
            <a:ext cx="39249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현재 233위  </a:t>
            </a:r>
            <a:r>
              <a:rPr lang="en-US" sz="12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184위</a:t>
            </a: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</a:t>
            </a:r>
            <a:r>
              <a:rPr lang="en-US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(h=4)</a:t>
            </a:r>
            <a:r>
              <a:rPr lang="en-US" sz="1200" b="1">
                <a:solidFill>
                  <a:srgbClr val="DDDDDD"/>
                </a:solidFill>
                <a:latin typeface="Noto Sans KR" charset="0"/>
                <a:ea typeface="Noto Sans KR" charset="0"/>
                <a:cs typeface="Noto Sans KR" charset="0"/>
              </a:rPr>
              <a:t>|</a:t>
            </a:r>
            <a:r>
              <a:rPr lang="en-US" sz="12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▲ 49</a:t>
            </a:r>
            <a:endParaRPr lang="ko-KR" altLang="en-US" sz="1200" b="1">
              <a:solidFill>
                <a:srgbClr val="1A7A4A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808990" y="2048510"/>
            <a:ext cx="10649585" cy="48704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고덕2동은 주거·학교 밀집 생활 기반 상권으로, </a:t>
            </a:r>
            <a:r>
              <a:rPr lang="en-US" sz="1200" b="1">
                <a:solidFill>
                  <a:srgbClr val="1A35BE"/>
                </a:solidFill>
                <a:latin typeface="Noto Sans KR" charset="0"/>
                <a:ea typeface="Noto Sans KR" charset="0"/>
                <a:cs typeface="Noto Sans KR" charset="0"/>
              </a:rPr>
              <a:t>10·20대 소비 증가</a:t>
            </a: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와 </a:t>
            </a:r>
            <a:r>
              <a:rPr lang="en-US" sz="1200" b="1">
                <a:solidFill>
                  <a:srgbClr val="1E7A4A"/>
                </a:solidFill>
                <a:latin typeface="Noto Sans KR" charset="0"/>
                <a:ea typeface="Noto Sans KR" charset="0"/>
                <a:cs typeface="Noto Sans KR" charset="0"/>
              </a:rPr>
              <a:t>폐업 감소가 나타나며 상권이 점진적으로 회복 중</a:t>
            </a: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. 임대료 하락 + 수익성 상승 + 프랜차이즈 증가로 성장 초기 단계에 진입한 상권.</a:t>
            </a:r>
            <a:endParaRPr lang="ko-KR" altLang="en-US" sz="12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7" name="Picture " descr="C:/Users/Kim dong gwan/AppData/Roaming/PolarisOffice/ETemp/17048_16254952/image-20-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71500" y="2700020"/>
            <a:ext cx="191135" cy="191135"/>
          </a:xfrm>
          <a:prstGeom prst="rect"/>
          <a:noFill/>
        </p:spPr>
      </p:pic>
      <p:sp>
        <p:nvSpPr>
          <p:cNvPr id="28" name="Rect 0"/>
          <p:cNvSpPr txBox="1">
            <a:spLocks/>
          </p:cNvSpPr>
          <p:nvPr/>
        </p:nvSpPr>
        <p:spPr>
          <a:xfrm rot="0">
            <a:off x="857885" y="2667000"/>
            <a:ext cx="4001135" cy="2774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5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순위 변동 추이</a:t>
            </a:r>
            <a:endParaRPr lang="ko-KR" altLang="en-US" sz="15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9" name="Rect 0"/>
          <p:cNvSpPr>
            <a:spLocks/>
          </p:cNvSpPr>
          <p:nvPr/>
        </p:nvSpPr>
        <p:spPr>
          <a:xfrm rot="0">
            <a:off x="571500" y="3048000"/>
            <a:ext cx="5239385" cy="305435"/>
          </a:xfrm>
          <a:prstGeom prst="rect"/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 rot="0">
            <a:off x="518160" y="3103245"/>
            <a:ext cx="144081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FFFFFF"/>
                </a:solidFill>
                <a:latin typeface="Noto Sans KR" charset="0"/>
                <a:ea typeface="Noto Sans KR" charset="0"/>
                <a:cs typeface="Noto Sans KR" charset="0"/>
              </a:rPr>
              <a:t>시점</a:t>
            </a:r>
            <a:endParaRPr lang="ko-KR" altLang="en-US" sz="1000" b="1">
              <a:solidFill>
                <a:srgbClr val="FFFFFF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1" name="Rect 0"/>
          <p:cNvSpPr txBox="1">
            <a:spLocks/>
          </p:cNvSpPr>
          <p:nvPr/>
        </p:nvSpPr>
        <p:spPr>
          <a:xfrm rot="0">
            <a:off x="1851660" y="3103245"/>
            <a:ext cx="144081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FFFFFF"/>
                </a:solidFill>
                <a:latin typeface="Noto Sans KR" charset="0"/>
                <a:ea typeface="Noto Sans KR" charset="0"/>
                <a:cs typeface="Noto Sans KR" charset="0"/>
              </a:rPr>
              <a:t>Y점수</a:t>
            </a:r>
            <a:endParaRPr lang="ko-KR" altLang="en-US" sz="1000" b="1">
              <a:solidFill>
                <a:srgbClr val="FFFFFF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2" name="Rect 0"/>
          <p:cNvSpPr txBox="1">
            <a:spLocks/>
          </p:cNvSpPr>
          <p:nvPr/>
        </p:nvSpPr>
        <p:spPr>
          <a:xfrm rot="0">
            <a:off x="3186430" y="3103245"/>
            <a:ext cx="1389380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FFFFFF"/>
                </a:solidFill>
                <a:latin typeface="Noto Sans KR" charset="0"/>
                <a:ea typeface="Noto Sans KR" charset="0"/>
                <a:cs typeface="Noto Sans KR" charset="0"/>
              </a:rPr>
              <a:t>순위</a:t>
            </a:r>
            <a:endParaRPr lang="ko-KR" altLang="en-US" sz="1000" b="1">
              <a:solidFill>
                <a:srgbClr val="FFFFFF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3" name="Rect 0"/>
          <p:cNvSpPr txBox="1">
            <a:spLocks/>
          </p:cNvSpPr>
          <p:nvPr/>
        </p:nvSpPr>
        <p:spPr>
          <a:xfrm rot="0">
            <a:off x="4472940" y="3103245"/>
            <a:ext cx="1389380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FFFFFF"/>
                </a:solidFill>
                <a:latin typeface="Noto Sans KR" charset="0"/>
                <a:ea typeface="Noto Sans KR" charset="0"/>
                <a:cs typeface="Noto Sans KR" charset="0"/>
              </a:rPr>
              <a:t>변화</a:t>
            </a:r>
            <a:endParaRPr lang="ko-KR" altLang="en-US" sz="1000" b="1">
              <a:solidFill>
                <a:srgbClr val="FFFFFF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4" name="Rect 0"/>
          <p:cNvSpPr>
            <a:spLocks/>
          </p:cNvSpPr>
          <p:nvPr/>
        </p:nvSpPr>
        <p:spPr>
          <a:xfrm rot="0">
            <a:off x="571500" y="3348355"/>
            <a:ext cx="5239385" cy="248285"/>
          </a:xfrm>
          <a:prstGeom prst="rect"/>
          <a:solidFill>
            <a:srgbClr val="FFFF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5" name="Rect 0"/>
          <p:cNvSpPr>
            <a:spLocks/>
          </p:cNvSpPr>
          <p:nvPr/>
        </p:nvSpPr>
        <p:spPr>
          <a:xfrm rot="0">
            <a:off x="571500" y="3587115"/>
            <a:ext cx="5239385" cy="9525"/>
          </a:xfrm>
          <a:prstGeom prst="rect"/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6" name="Rect 0"/>
          <p:cNvSpPr txBox="1">
            <a:spLocks/>
          </p:cNvSpPr>
          <p:nvPr/>
        </p:nvSpPr>
        <p:spPr>
          <a:xfrm rot="0">
            <a:off x="533400" y="3375660"/>
            <a:ext cx="1410335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현재 (2025Q3)</a:t>
            </a:r>
            <a:endParaRPr lang="ko-KR" altLang="en-US" sz="900" b="1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1866900" y="3371215"/>
            <a:ext cx="141033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-</a:t>
            </a: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0.0764</a:t>
            </a: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</a:t>
            </a:r>
            <a:endParaRPr lang="ko-KR" altLang="en-US" sz="1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8" name="Rect 0"/>
          <p:cNvSpPr txBox="1">
            <a:spLocks/>
          </p:cNvSpPr>
          <p:nvPr/>
        </p:nvSpPr>
        <p:spPr>
          <a:xfrm rot="0">
            <a:off x="3200400" y="3371215"/>
            <a:ext cx="136334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2</a:t>
            </a:r>
            <a:r>
              <a:rPr lang="ko-KR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3</a:t>
            </a:r>
            <a:r>
              <a:rPr lang="ko-KR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3</a:t>
            </a:r>
            <a:r>
              <a:rPr lang="en-US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위</a:t>
            </a:r>
            <a:endParaRPr lang="ko-KR" altLang="en-US" sz="10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9" name="Rect 0"/>
          <p:cNvSpPr txBox="1">
            <a:spLocks/>
          </p:cNvSpPr>
          <p:nvPr/>
        </p:nvSpPr>
        <p:spPr>
          <a:xfrm rot="0">
            <a:off x="4486275" y="3371215"/>
            <a:ext cx="136334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>
                <a:solidFill>
                  <a:srgbClr val="888888"/>
                </a:solidFill>
                <a:latin typeface="Noto Sans KR" charset="0"/>
                <a:ea typeface="Noto Sans KR" charset="0"/>
                <a:cs typeface="Noto Sans KR" charset="0"/>
              </a:rPr>
              <a:t>-</a:t>
            </a:r>
            <a:endParaRPr lang="ko-KR" altLang="en-US" sz="1000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0" name="Rect 0"/>
          <p:cNvSpPr>
            <a:spLocks/>
          </p:cNvSpPr>
          <p:nvPr/>
        </p:nvSpPr>
        <p:spPr>
          <a:xfrm rot="0">
            <a:off x="571500" y="3593465"/>
            <a:ext cx="5239385" cy="248285"/>
          </a:xfrm>
          <a:prstGeom prst="rect"/>
          <a:solidFill>
            <a:srgbClr val="F8F9FA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1" name="Rect 0"/>
          <p:cNvSpPr>
            <a:spLocks/>
          </p:cNvSpPr>
          <p:nvPr/>
        </p:nvSpPr>
        <p:spPr>
          <a:xfrm rot="0">
            <a:off x="571500" y="3832225"/>
            <a:ext cx="5239385" cy="9525"/>
          </a:xfrm>
          <a:prstGeom prst="rect"/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2" name="Rect 0"/>
          <p:cNvSpPr txBox="1">
            <a:spLocks/>
          </p:cNvSpPr>
          <p:nvPr/>
        </p:nvSpPr>
        <p:spPr>
          <a:xfrm rot="0">
            <a:off x="533400" y="3620135"/>
            <a:ext cx="1410335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h=1 (2025Q4)</a:t>
            </a:r>
            <a:endParaRPr lang="ko-KR" altLang="en-US" sz="9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3" name="Rect 0"/>
          <p:cNvSpPr txBox="1">
            <a:spLocks/>
          </p:cNvSpPr>
          <p:nvPr/>
        </p:nvSpPr>
        <p:spPr>
          <a:xfrm rot="0">
            <a:off x="1866900" y="3615690"/>
            <a:ext cx="141033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-</a:t>
            </a: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0.0013</a:t>
            </a:r>
            <a:endParaRPr lang="ko-KR" altLang="en-US" sz="1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4" name="Rect 0"/>
          <p:cNvSpPr txBox="1">
            <a:spLocks/>
          </p:cNvSpPr>
          <p:nvPr/>
        </p:nvSpPr>
        <p:spPr>
          <a:xfrm rot="0">
            <a:off x="3200400" y="3615690"/>
            <a:ext cx="136334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2</a:t>
            </a:r>
            <a:r>
              <a:rPr lang="ko-KR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02</a:t>
            </a:r>
            <a:r>
              <a:rPr lang="en-US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위</a:t>
            </a:r>
            <a:endParaRPr lang="ko-KR" altLang="en-US" sz="10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5" name="Rect 0"/>
          <p:cNvSpPr txBox="1">
            <a:spLocks/>
          </p:cNvSpPr>
          <p:nvPr/>
        </p:nvSpPr>
        <p:spPr>
          <a:xfrm rot="0">
            <a:off x="4486275" y="3620135"/>
            <a:ext cx="1363345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▲ </a:t>
            </a:r>
            <a:r>
              <a:rPr lang="ko-KR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3</a:t>
            </a:r>
            <a:r>
              <a:rPr lang="ko-KR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1</a:t>
            </a:r>
            <a:endParaRPr lang="ko-KR" altLang="en-US" sz="900" b="1">
              <a:solidFill>
                <a:srgbClr val="1A7A4A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6" name="Rect 0"/>
          <p:cNvSpPr>
            <a:spLocks/>
          </p:cNvSpPr>
          <p:nvPr/>
        </p:nvSpPr>
        <p:spPr>
          <a:xfrm rot="0">
            <a:off x="571500" y="3837940"/>
            <a:ext cx="5239385" cy="248285"/>
          </a:xfrm>
          <a:prstGeom prst="rect"/>
          <a:solidFill>
            <a:srgbClr val="FFFF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7" name="Rect 0"/>
          <p:cNvSpPr>
            <a:spLocks/>
          </p:cNvSpPr>
          <p:nvPr/>
        </p:nvSpPr>
        <p:spPr>
          <a:xfrm rot="0">
            <a:off x="571500" y="4076700"/>
            <a:ext cx="5239385" cy="9525"/>
          </a:xfrm>
          <a:prstGeom prst="rect"/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8" name="Rect 0"/>
          <p:cNvSpPr txBox="1">
            <a:spLocks/>
          </p:cNvSpPr>
          <p:nvPr/>
        </p:nvSpPr>
        <p:spPr>
          <a:xfrm rot="0">
            <a:off x="533400" y="3865245"/>
            <a:ext cx="1410335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h=2 (2026Q1)</a:t>
            </a:r>
            <a:endParaRPr lang="ko-KR" altLang="en-US" sz="9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9" name="Rect 0"/>
          <p:cNvSpPr txBox="1">
            <a:spLocks/>
          </p:cNvSpPr>
          <p:nvPr/>
        </p:nvSpPr>
        <p:spPr>
          <a:xfrm rot="0">
            <a:off x="1866900" y="3860800"/>
            <a:ext cx="141033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+</a:t>
            </a: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0</a:t>
            </a: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.</a:t>
            </a: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0</a:t>
            </a: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250</a:t>
            </a:r>
            <a:endParaRPr lang="ko-KR" altLang="en-US" sz="1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0" name="Rect 0"/>
          <p:cNvSpPr txBox="1">
            <a:spLocks/>
          </p:cNvSpPr>
          <p:nvPr/>
        </p:nvSpPr>
        <p:spPr>
          <a:xfrm rot="0">
            <a:off x="3200400" y="3860800"/>
            <a:ext cx="136334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2</a:t>
            </a:r>
            <a:r>
              <a:rPr lang="ko-KR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0</a:t>
            </a:r>
            <a:r>
              <a:rPr lang="ko-KR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0</a:t>
            </a:r>
            <a:r>
              <a:rPr lang="en-US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위</a:t>
            </a:r>
            <a:endParaRPr lang="ko-KR" altLang="en-US" sz="10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1" name="Rect 0"/>
          <p:cNvSpPr txBox="1">
            <a:spLocks/>
          </p:cNvSpPr>
          <p:nvPr/>
        </p:nvSpPr>
        <p:spPr>
          <a:xfrm rot="0">
            <a:off x="4486275" y="3865245"/>
            <a:ext cx="1363345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▲ </a:t>
            </a:r>
            <a:r>
              <a:rPr lang="ko-KR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3</a:t>
            </a:r>
            <a:r>
              <a:rPr lang="ko-KR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3</a:t>
            </a:r>
            <a:endParaRPr lang="ko-KR" altLang="en-US" sz="900" b="1">
              <a:solidFill>
                <a:srgbClr val="1A7A4A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2" name="Rect 0"/>
          <p:cNvSpPr>
            <a:spLocks/>
          </p:cNvSpPr>
          <p:nvPr/>
        </p:nvSpPr>
        <p:spPr>
          <a:xfrm rot="0">
            <a:off x="571500" y="4083050"/>
            <a:ext cx="5239385" cy="248285"/>
          </a:xfrm>
          <a:prstGeom prst="rect"/>
          <a:solidFill>
            <a:srgbClr val="F8F9FA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3" name="Rect 0"/>
          <p:cNvSpPr>
            <a:spLocks/>
          </p:cNvSpPr>
          <p:nvPr/>
        </p:nvSpPr>
        <p:spPr>
          <a:xfrm rot="0">
            <a:off x="571500" y="4321175"/>
            <a:ext cx="5239385" cy="9525"/>
          </a:xfrm>
          <a:prstGeom prst="rect"/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4" name="Rect 0"/>
          <p:cNvSpPr txBox="1">
            <a:spLocks/>
          </p:cNvSpPr>
          <p:nvPr/>
        </p:nvSpPr>
        <p:spPr>
          <a:xfrm rot="0">
            <a:off x="533400" y="4110355"/>
            <a:ext cx="1410335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>h=3 (2026Q2)</a:t>
            </a:r>
            <a:endParaRPr lang="ko-KR" altLang="en-US" sz="900">
              <a:solidFill>
                <a:srgbClr val="55555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5" name="Rect 0"/>
          <p:cNvSpPr txBox="1">
            <a:spLocks/>
          </p:cNvSpPr>
          <p:nvPr/>
        </p:nvSpPr>
        <p:spPr>
          <a:xfrm rot="0">
            <a:off x="1866900" y="4104640"/>
            <a:ext cx="141033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+0.</a:t>
            </a: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0</a:t>
            </a: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443</a:t>
            </a:r>
            <a:endParaRPr lang="ko-KR" altLang="en-US" sz="1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6" name="Rect 0"/>
          <p:cNvSpPr txBox="1">
            <a:spLocks/>
          </p:cNvSpPr>
          <p:nvPr/>
        </p:nvSpPr>
        <p:spPr>
          <a:xfrm rot="0">
            <a:off x="3200400" y="4104640"/>
            <a:ext cx="136334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1</a:t>
            </a:r>
            <a:r>
              <a:rPr lang="ko-KR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8</a:t>
            </a:r>
            <a:r>
              <a:rPr lang="ko-KR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6</a:t>
            </a:r>
            <a:r>
              <a:rPr lang="en-US" sz="10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위</a:t>
            </a:r>
            <a:endParaRPr lang="ko-KR" altLang="en-US" sz="10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7" name="Rect 0"/>
          <p:cNvSpPr txBox="1">
            <a:spLocks/>
          </p:cNvSpPr>
          <p:nvPr/>
        </p:nvSpPr>
        <p:spPr>
          <a:xfrm rot="0">
            <a:off x="4486275" y="4110355"/>
            <a:ext cx="1363345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▲ </a:t>
            </a:r>
            <a:r>
              <a:rPr lang="ko-KR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4</a:t>
            </a:r>
            <a:r>
              <a:rPr lang="ko-KR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7</a:t>
            </a:r>
            <a:endParaRPr lang="ko-KR" altLang="en-US" sz="900" b="1">
              <a:solidFill>
                <a:srgbClr val="1A7A4A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8" name="Rect 0"/>
          <p:cNvSpPr>
            <a:spLocks/>
          </p:cNvSpPr>
          <p:nvPr/>
        </p:nvSpPr>
        <p:spPr>
          <a:xfrm rot="0">
            <a:off x="571500" y="4328160"/>
            <a:ext cx="5239385" cy="24828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9" name="Rect 0"/>
          <p:cNvSpPr txBox="1">
            <a:spLocks/>
          </p:cNvSpPr>
          <p:nvPr/>
        </p:nvSpPr>
        <p:spPr>
          <a:xfrm rot="0">
            <a:off x="533400" y="4358640"/>
            <a:ext cx="1410335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h=4 (2026Q3)</a:t>
            </a:r>
            <a:endParaRPr lang="ko-KR" altLang="en-US" sz="9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0" name="Rect 0"/>
          <p:cNvSpPr txBox="1">
            <a:spLocks/>
          </p:cNvSpPr>
          <p:nvPr/>
        </p:nvSpPr>
        <p:spPr>
          <a:xfrm rot="0">
            <a:off x="1866900" y="4354195"/>
            <a:ext cx="141033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+0.</a:t>
            </a: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0</a:t>
            </a:r>
            <a:r>
              <a:rPr lang="ko-KR" sz="1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436</a:t>
            </a:r>
            <a:endParaRPr lang="ko-KR" altLang="en-US" sz="1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1" name="Rect 0"/>
          <p:cNvSpPr txBox="1">
            <a:spLocks/>
          </p:cNvSpPr>
          <p:nvPr/>
        </p:nvSpPr>
        <p:spPr>
          <a:xfrm rot="0">
            <a:off x="3200400" y="4349750"/>
            <a:ext cx="1363345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1</a:t>
            </a:r>
            <a:r>
              <a:rPr lang="ko-KR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8</a:t>
            </a:r>
            <a:r>
              <a:rPr lang="ko-KR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4</a:t>
            </a: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위</a:t>
            </a:r>
            <a:endParaRPr lang="ko-KR" altLang="en-US" sz="11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2" name="Rect 0"/>
          <p:cNvSpPr txBox="1">
            <a:spLocks/>
          </p:cNvSpPr>
          <p:nvPr/>
        </p:nvSpPr>
        <p:spPr>
          <a:xfrm rot="0">
            <a:off x="4486275" y="4354195"/>
            <a:ext cx="136334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▲ </a:t>
            </a:r>
            <a:r>
              <a:rPr lang="ko-KR" sz="10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4</a:t>
            </a:r>
            <a:r>
              <a:rPr lang="ko-KR" sz="10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>9</a:t>
            </a:r>
            <a:endParaRPr lang="ko-KR" altLang="en-US" sz="1000" b="1">
              <a:solidFill>
                <a:srgbClr val="1A7A4A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63" name="Picture " descr="C:/Users/Kim dong gwan/AppData/Roaming/PolarisOffice/ETemp/17048_16254952/image-20-3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71500" y="5033645"/>
            <a:ext cx="191135" cy="191135"/>
          </a:xfrm>
          <a:prstGeom prst="rect"/>
          <a:noFill/>
        </p:spPr>
      </p:pic>
      <p:sp>
        <p:nvSpPr>
          <p:cNvPr id="64" name="Rect 0"/>
          <p:cNvSpPr txBox="1">
            <a:spLocks/>
          </p:cNvSpPr>
          <p:nvPr/>
        </p:nvSpPr>
        <p:spPr>
          <a:xfrm rot="0">
            <a:off x="857885" y="5000625"/>
            <a:ext cx="4001135" cy="2774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5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핵심 지표 변화 </a:t>
            </a:r>
            <a:r>
              <a:rPr lang="en-US" sz="10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(과거 대비 현재)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5" name="Rect 0"/>
          <p:cNvSpPr>
            <a:spLocks/>
          </p:cNvSpPr>
          <p:nvPr/>
        </p:nvSpPr>
        <p:spPr>
          <a:xfrm rot="0">
            <a:off x="571500" y="5380990"/>
            <a:ext cx="5239385" cy="191135"/>
          </a:xfrm>
          <a:prstGeom prst="rect"/>
          <a:solidFill>
            <a:srgbClr val="F4F7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6" name="Rect 0"/>
          <p:cNvSpPr>
            <a:spLocks/>
          </p:cNvSpPr>
          <p:nvPr/>
        </p:nvSpPr>
        <p:spPr>
          <a:xfrm rot="0">
            <a:off x="571500" y="5562600"/>
            <a:ext cx="5239385" cy="9525"/>
          </a:xfrm>
          <a:prstGeom prst="rect"/>
          <a:solidFill>
            <a:srgbClr val="D1DEFF"/>
          </a:solidFill>
          <a:ln w="12700" cap="flat" cmpd="sng">
            <a:solidFill>
              <a:srgbClr val="D1DE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7" name="Rect 0"/>
          <p:cNvSpPr txBox="1">
            <a:spLocks/>
          </p:cNvSpPr>
          <p:nvPr/>
        </p:nvSpPr>
        <p:spPr>
          <a:xfrm rot="0">
            <a:off x="506730" y="5380990"/>
            <a:ext cx="175006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변수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8" name="Rect 0"/>
          <p:cNvSpPr txBox="1">
            <a:spLocks/>
          </p:cNvSpPr>
          <p:nvPr/>
        </p:nvSpPr>
        <p:spPr>
          <a:xfrm rot="0">
            <a:off x="2103120" y="5380990"/>
            <a:ext cx="236728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변화 추이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69" name="Rect 0"/>
          <p:cNvSpPr txBox="1">
            <a:spLocks/>
          </p:cNvSpPr>
          <p:nvPr/>
        </p:nvSpPr>
        <p:spPr>
          <a:xfrm rot="0">
            <a:off x="4324350" y="5380990"/>
            <a:ext cx="154432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의미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0" name="Rect 0"/>
          <p:cNvSpPr>
            <a:spLocks/>
          </p:cNvSpPr>
          <p:nvPr/>
        </p:nvSpPr>
        <p:spPr>
          <a:xfrm rot="0">
            <a:off x="571500" y="5791835"/>
            <a:ext cx="5239385" cy="9525"/>
          </a:xfrm>
          <a:prstGeom prst="rect"/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1" name="Rect 0"/>
          <p:cNvSpPr txBox="1">
            <a:spLocks/>
          </p:cNvSpPr>
          <p:nvPr/>
        </p:nvSpPr>
        <p:spPr>
          <a:xfrm rot="0">
            <a:off x="506730" y="5591810"/>
            <a:ext cx="175006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임대료 대비 수익성</a:t>
            </a:r>
            <a:endParaRPr lang="ko-KR" altLang="en-US" sz="9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2" name="Rect 0"/>
          <p:cNvSpPr txBox="1">
            <a:spLocks/>
          </p:cNvSpPr>
          <p:nvPr/>
        </p:nvSpPr>
        <p:spPr>
          <a:xfrm rot="0">
            <a:off x="2128520" y="5591810"/>
            <a:ext cx="231521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</a:t>
            </a:r>
            <a:r>
              <a:rPr lang="ko-KR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지속 </a:t>
            </a:r>
            <a:r>
              <a:rPr lang="ko-KR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상승</a:t>
            </a:r>
            <a:r>
              <a:rPr lang="en-US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</a:t>
            </a:r>
            <a:endParaRPr lang="ko-KR" altLang="en-US" sz="9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3" name="Rect 0"/>
          <p:cNvSpPr txBox="1">
            <a:spLocks/>
          </p:cNvSpPr>
          <p:nvPr/>
        </p:nvSpPr>
        <p:spPr>
          <a:xfrm rot="0">
            <a:off x="4324350" y="5591810"/>
            <a:ext cx="154432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상권 </a:t>
            </a:r>
            <a:r>
              <a:rPr lang="ko-KR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효율 </a:t>
            </a:r>
            <a:r>
              <a:rPr lang="ko-KR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개선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4" name="Rect 0"/>
          <p:cNvSpPr>
            <a:spLocks/>
          </p:cNvSpPr>
          <p:nvPr/>
        </p:nvSpPr>
        <p:spPr>
          <a:xfrm rot="0">
            <a:off x="571500" y="6020435"/>
            <a:ext cx="5239385" cy="9525"/>
          </a:xfrm>
          <a:prstGeom prst="rect"/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5" name="Rect 0"/>
          <p:cNvSpPr txBox="1">
            <a:spLocks/>
          </p:cNvSpPr>
          <p:nvPr/>
        </p:nvSpPr>
        <p:spPr>
          <a:xfrm rot="0">
            <a:off x="506730" y="5820410"/>
            <a:ext cx="175006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9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폐업 </a:t>
            </a:r>
            <a:r>
              <a:rPr lang="ko-KR" sz="9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점포 수</a:t>
            </a:r>
            <a:endParaRPr lang="ko-KR" altLang="en-US" sz="9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6" name="Rect 0"/>
          <p:cNvSpPr txBox="1">
            <a:spLocks/>
          </p:cNvSpPr>
          <p:nvPr/>
        </p:nvSpPr>
        <p:spPr>
          <a:xfrm rot="0">
            <a:off x="2146935" y="5820410"/>
            <a:ext cx="2279015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900" b="1">
                <a:solidFill>
                  <a:srgbClr val="1E7A4A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감소 </a:t>
            </a:r>
            <a:r>
              <a:rPr lang="ko-KR" sz="900" b="1">
                <a:solidFill>
                  <a:srgbClr val="1E7A4A"/>
                </a:solidFill>
                <a:latin typeface="Noto Sans KR" charset="0"/>
                <a:ea typeface="Noto Sans KR" charset="0"/>
                <a:cs typeface="Noto Sans KR" charset="0"/>
              </a:rPr>
              <a:t>추세</a:t>
            </a:r>
            <a:endParaRPr lang="ko-KR" altLang="en-US" sz="900" b="1">
              <a:solidFill>
                <a:srgbClr val="1E7A4A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7" name="Rect 0"/>
          <p:cNvSpPr txBox="1">
            <a:spLocks/>
          </p:cNvSpPr>
          <p:nvPr/>
        </p:nvSpPr>
        <p:spPr>
          <a:xfrm rot="0">
            <a:off x="4324350" y="5820410"/>
            <a:ext cx="154432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상권 </a:t>
            </a:r>
            <a:r>
              <a:rPr lang="ko-KR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안정화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8" name="Rect 0"/>
          <p:cNvSpPr>
            <a:spLocks/>
          </p:cNvSpPr>
          <p:nvPr/>
        </p:nvSpPr>
        <p:spPr>
          <a:xfrm rot="0">
            <a:off x="571500" y="6249035"/>
            <a:ext cx="5239385" cy="9525"/>
          </a:xfrm>
          <a:prstGeom prst="rect"/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9" name="Rect 0"/>
          <p:cNvSpPr txBox="1">
            <a:spLocks/>
          </p:cNvSpPr>
          <p:nvPr/>
        </p:nvSpPr>
        <p:spPr>
          <a:xfrm rot="0">
            <a:off x="506730" y="6049010"/>
            <a:ext cx="175006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프랜차이즈 점포 수</a:t>
            </a:r>
            <a:endParaRPr lang="ko-KR" altLang="en-US" sz="9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0" name="Rect 0"/>
          <p:cNvSpPr txBox="1">
            <a:spLocks/>
          </p:cNvSpPr>
          <p:nvPr/>
        </p:nvSpPr>
        <p:spPr>
          <a:xfrm rot="0">
            <a:off x="2136775" y="6049010"/>
            <a:ext cx="2299335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지속 증가</a:t>
            </a:r>
            <a:endParaRPr lang="ko-KR" altLang="en-US" sz="9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1" name="Rect 0"/>
          <p:cNvSpPr txBox="1">
            <a:spLocks/>
          </p:cNvSpPr>
          <p:nvPr/>
        </p:nvSpPr>
        <p:spPr>
          <a:xfrm rot="0">
            <a:off x="4324350" y="6049010"/>
            <a:ext cx="154432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상권 </a:t>
            </a:r>
            <a:r>
              <a:rPr lang="ko-KR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안정성 강화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2" name="Rect 0"/>
          <p:cNvSpPr>
            <a:spLocks/>
          </p:cNvSpPr>
          <p:nvPr/>
        </p:nvSpPr>
        <p:spPr>
          <a:xfrm rot="0">
            <a:off x="571500" y="6477635"/>
            <a:ext cx="5239385" cy="9525"/>
          </a:xfrm>
          <a:prstGeom prst="rect"/>
          <a:solidFill>
            <a:srgbClr val="F4F4F4"/>
          </a:solidFill>
          <a:ln w="12700" cap="flat" cmpd="sng">
            <a:solidFill>
              <a:srgbClr val="F4F4F4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83" name="Rect 0"/>
          <p:cNvSpPr txBox="1">
            <a:spLocks/>
          </p:cNvSpPr>
          <p:nvPr/>
        </p:nvSpPr>
        <p:spPr>
          <a:xfrm rot="0">
            <a:off x="506730" y="6277610"/>
            <a:ext cx="175006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개업 점포 수</a:t>
            </a:r>
            <a:endParaRPr lang="ko-KR" altLang="en-US" sz="9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4" name="Rect 0"/>
          <p:cNvSpPr txBox="1">
            <a:spLocks/>
          </p:cNvSpPr>
          <p:nvPr/>
        </p:nvSpPr>
        <p:spPr>
          <a:xfrm rot="0">
            <a:off x="2146935" y="6277610"/>
            <a:ext cx="2279015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증가</a:t>
            </a:r>
            <a:endParaRPr lang="ko-KR" altLang="en-US" sz="9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5" name="Rect 0"/>
          <p:cNvSpPr txBox="1">
            <a:spLocks/>
          </p:cNvSpPr>
          <p:nvPr/>
        </p:nvSpPr>
        <p:spPr>
          <a:xfrm rot="0">
            <a:off x="4324350" y="6277610"/>
            <a:ext cx="154432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신규 </a:t>
            </a:r>
            <a:r>
              <a:rPr lang="ko-KR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진입 </a:t>
            </a:r>
            <a:r>
              <a:rPr lang="ko-KR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확대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6" name="Rect 0"/>
          <p:cNvSpPr txBox="1">
            <a:spLocks/>
          </p:cNvSpPr>
          <p:nvPr/>
        </p:nvSpPr>
        <p:spPr>
          <a:xfrm rot="0">
            <a:off x="533400" y="6506210"/>
            <a:ext cx="169672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임대시세 per m²</a:t>
            </a:r>
            <a:endParaRPr lang="ko-KR" altLang="en-US" sz="9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7" name="Rect 0"/>
          <p:cNvSpPr txBox="1">
            <a:spLocks/>
          </p:cNvSpPr>
          <p:nvPr/>
        </p:nvSpPr>
        <p:spPr>
          <a:xfrm rot="0">
            <a:off x="2128520" y="6506210"/>
            <a:ext cx="231521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E7A4A"/>
                </a:solidFill>
                <a:latin typeface="Noto Sans KR" charset="0"/>
                <a:ea typeface="Noto Sans KR" charset="0"/>
                <a:cs typeface="Noto Sans KR" charset="0"/>
              </a:rPr>
              <a:t>완</a:t>
            </a:r>
            <a:r>
              <a:rPr lang="ko-KR" sz="900" b="1">
                <a:solidFill>
                  <a:srgbClr val="1E7A4A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만한 </a:t>
            </a:r>
            <a:r>
              <a:rPr lang="ko-KR" sz="900" b="1">
                <a:solidFill>
                  <a:srgbClr val="1E7A4A"/>
                </a:solidFill>
                <a:latin typeface="Noto Sans KR" charset="0"/>
                <a:ea typeface="Noto Sans KR" charset="0"/>
                <a:cs typeface="Noto Sans KR" charset="0"/>
              </a:rPr>
              <a:t>하락</a:t>
            </a:r>
            <a:endParaRPr lang="ko-KR" altLang="en-US" sz="900" b="1">
              <a:solidFill>
                <a:srgbClr val="1E7A4A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8" name="Rect 0"/>
          <p:cNvSpPr txBox="1">
            <a:spLocks/>
          </p:cNvSpPr>
          <p:nvPr/>
        </p:nvSpPr>
        <p:spPr>
          <a:xfrm rot="0">
            <a:off x="4324350" y="6506210"/>
            <a:ext cx="1544320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비용 </a:t>
            </a:r>
            <a:r>
              <a:rPr lang="ko-KR" sz="9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구조 개선</a:t>
            </a:r>
            <a:endParaRPr lang="ko-KR" altLang="en-US" sz="900" b="1">
              <a:solidFill>
                <a:srgbClr val="333333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89" name="Picture " descr="C:/Users/Kim dong gwan/AppData/Roaming/PolarisOffice/ETemp/17048_16254952/image-20-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86500" y="2700020"/>
            <a:ext cx="238125" cy="191135"/>
          </a:xfrm>
          <a:prstGeom prst="rect"/>
          <a:noFill/>
        </p:spPr>
      </p:pic>
      <p:sp>
        <p:nvSpPr>
          <p:cNvPr id="90" name="Rect 0"/>
          <p:cNvSpPr txBox="1">
            <a:spLocks/>
          </p:cNvSpPr>
          <p:nvPr/>
        </p:nvSpPr>
        <p:spPr>
          <a:xfrm rot="0">
            <a:off x="6572885" y="2667000"/>
            <a:ext cx="4001135" cy="27749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5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소비 패턴 특징</a:t>
            </a:r>
            <a:endParaRPr lang="ko-KR" altLang="en-US" sz="15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91" name="Rect 0"/>
          <p:cNvSpPr txBox="1">
            <a:spLocks/>
          </p:cNvSpPr>
          <p:nvPr/>
        </p:nvSpPr>
        <p:spPr>
          <a:xfrm rot="0">
            <a:off x="6667500" y="3191510"/>
            <a:ext cx="4878070" cy="25844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1</a:t>
            </a:r>
            <a:r>
              <a:rPr lang="ko-KR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0대 매출 3배 이상 증가 </a:t>
            </a:r>
            <a:r>
              <a:rPr lang="ko-KR" sz="900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/2</a:t>
            </a:r>
            <a:r>
              <a:rPr lang="ko-KR" sz="900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0대 매출도 동반 증가</a:t>
            </a:r>
            <a:endParaRPr lang="ko-KR" altLang="en-US" sz="900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l">
              <a:buFontTx/>
              <a:buNone/>
            </a:pPr>
            <a:r>
              <a:rPr lang="en-US" sz="900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(청소년·젊은 층 소비 중심의 상권으로 변화 중)</a:t>
            </a:r>
            <a:endParaRPr lang="ko-KR" altLang="en-US" sz="900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92" name="Rect 0"/>
          <p:cNvSpPr txBox="1">
            <a:spLocks/>
          </p:cNvSpPr>
          <p:nvPr/>
        </p:nvSpPr>
        <p:spPr>
          <a:xfrm rot="0">
            <a:off x="6667500" y="3550285"/>
            <a:ext cx="49536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주말 매출이 주중 대비 2~3배 높음</a:t>
            </a:r>
            <a:r>
              <a:rPr lang="en-US" sz="900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(</a:t>
            </a:r>
            <a:r>
              <a:rPr lang="ko-KR" sz="900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가족 </a:t>
            </a:r>
            <a:r>
              <a:rPr lang="ko-KR" sz="900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단위 소비)</a:t>
            </a:r>
            <a:endParaRPr lang="ko-KR" altLang="en-US" sz="900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93" name="Rect 0"/>
          <p:cNvSpPr txBox="1">
            <a:spLocks/>
          </p:cNvSpPr>
          <p:nvPr/>
        </p:nvSpPr>
        <p:spPr>
          <a:xfrm rot="0">
            <a:off x="6667500" y="3836670"/>
            <a:ext cx="49536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10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고덕강일지구 </a:t>
            </a:r>
            <a:r>
              <a:rPr lang="en-US" sz="11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신규 입주 효과(2024)</a:t>
            </a:r>
            <a:r>
              <a:rPr lang="en-US" sz="1100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+ 9호선 연장 예정(2028년)</a:t>
            </a:r>
            <a:endParaRPr lang="ko-KR" altLang="en-US" sz="110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13" name="텍스트 상자 80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결과 </a:t>
            </a: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14" name="도형 81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15" name="텍스트 상자 82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16" name="도형 95"/>
          <p:cNvSpPr>
            <a:spLocks/>
          </p:cNvSpPr>
          <p:nvPr/>
        </p:nvSpPr>
        <p:spPr>
          <a:xfrm rot="0">
            <a:off x="6286500" y="4858385"/>
            <a:ext cx="2573020" cy="838835"/>
          </a:xfrm>
          <a:prstGeom prst="roundRect">
            <a:avLst>
              <a:gd name="adj" fmla="val 14871"/>
            </a:avLst>
          </a:prstGeom>
          <a:solidFill>
            <a:srgbClr val="E8EEFF"/>
          </a:solidFill>
          <a:ln cap="flat" cmpd="sng">
            <a:prstDash/>
          </a:ln>
          <a:effectLst>
            <a:outerShdw sx="100000" sy="100000" blurRad="63500" dist="38100" dir="16200000" rotWithShape="0" algn="bl">
              <a:srgbClr val="000000">
                <a:alpha val="1960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17" name="도형 96"/>
          <p:cNvSpPr>
            <a:spLocks/>
          </p:cNvSpPr>
          <p:nvPr/>
        </p:nvSpPr>
        <p:spPr>
          <a:xfrm rot="0">
            <a:off x="6286500" y="4858385"/>
            <a:ext cx="2573020" cy="29210"/>
          </a:xfrm>
          <a:prstGeom prst="roundRect">
            <a:avLst>
              <a:gd name="adj" fmla="val 439889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18" name="도형 97"/>
          <p:cNvSpPr>
            <a:spLocks/>
          </p:cNvSpPr>
          <p:nvPr/>
        </p:nvSpPr>
        <p:spPr>
          <a:xfrm rot="0">
            <a:off x="9048750" y="4858385"/>
            <a:ext cx="2573020" cy="838835"/>
          </a:xfrm>
          <a:prstGeom prst="roundRect">
            <a:avLst>
              <a:gd name="adj" fmla="val 14871"/>
            </a:avLst>
          </a:prstGeom>
          <a:solidFill>
            <a:srgbClr val="E8EEFF"/>
          </a:solidFill>
          <a:ln cap="flat" cmpd="sng">
            <a:prstDash/>
          </a:ln>
          <a:effectLst>
            <a:outerShdw sx="100000" sy="100000" blurRad="63500" dist="38100" dir="16200000" rotWithShape="0" algn="bl">
              <a:srgbClr val="000000">
                <a:alpha val="1960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19" name="도형 98"/>
          <p:cNvSpPr>
            <a:spLocks/>
          </p:cNvSpPr>
          <p:nvPr/>
        </p:nvSpPr>
        <p:spPr>
          <a:xfrm rot="0">
            <a:off x="9048750" y="4858385"/>
            <a:ext cx="2573020" cy="29210"/>
          </a:xfrm>
          <a:prstGeom prst="roundRect">
            <a:avLst>
              <a:gd name="adj" fmla="val 439889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20" name="도형 99"/>
          <p:cNvSpPr>
            <a:spLocks/>
          </p:cNvSpPr>
          <p:nvPr/>
        </p:nvSpPr>
        <p:spPr>
          <a:xfrm rot="0">
            <a:off x="6286500" y="5810250"/>
            <a:ext cx="2573020" cy="838835"/>
          </a:xfrm>
          <a:prstGeom prst="roundRect">
            <a:avLst>
              <a:gd name="adj" fmla="val 14871"/>
            </a:avLst>
          </a:prstGeom>
          <a:solidFill>
            <a:srgbClr val="E8EEFF"/>
          </a:solidFill>
          <a:ln cap="flat" cmpd="sng">
            <a:prstDash/>
          </a:ln>
          <a:effectLst>
            <a:outerShdw sx="100000" sy="100000" blurRad="63500" dist="38100" dir="16200000" rotWithShape="0" algn="bl">
              <a:srgbClr val="000000">
                <a:alpha val="1960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21" name="도형 100"/>
          <p:cNvSpPr>
            <a:spLocks/>
          </p:cNvSpPr>
          <p:nvPr/>
        </p:nvSpPr>
        <p:spPr>
          <a:xfrm rot="0">
            <a:off x="6286500" y="5810250"/>
            <a:ext cx="2573020" cy="29210"/>
          </a:xfrm>
          <a:prstGeom prst="roundRect">
            <a:avLst>
              <a:gd name="adj" fmla="val 439889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22" name="도형 101"/>
          <p:cNvSpPr>
            <a:spLocks/>
          </p:cNvSpPr>
          <p:nvPr/>
        </p:nvSpPr>
        <p:spPr>
          <a:xfrm rot="0">
            <a:off x="9048750" y="5810250"/>
            <a:ext cx="2573020" cy="838835"/>
          </a:xfrm>
          <a:prstGeom prst="roundRect">
            <a:avLst>
              <a:gd name="adj" fmla="val 14871"/>
            </a:avLst>
          </a:prstGeom>
          <a:solidFill>
            <a:srgbClr val="E8EEFF"/>
          </a:solidFill>
          <a:ln cap="flat" cmpd="sng">
            <a:prstDash/>
          </a:ln>
          <a:effectLst>
            <a:outerShdw sx="100000" sy="100000" blurRad="63500" dist="38100" dir="16200000" rotWithShape="0" algn="bl">
              <a:srgbClr val="000000">
                <a:alpha val="1960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23" name="도형 102"/>
          <p:cNvSpPr>
            <a:spLocks/>
          </p:cNvSpPr>
          <p:nvPr/>
        </p:nvSpPr>
        <p:spPr>
          <a:xfrm rot="0">
            <a:off x="9048750" y="5810250"/>
            <a:ext cx="2573020" cy="29210"/>
          </a:xfrm>
          <a:prstGeom prst="roundRect">
            <a:avLst>
              <a:gd name="adj" fmla="val 439889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124" name="그림 103" descr="C:/Users/Kim dong gwan/AppData/Roaming/PolarisOffice/ETemp/17048_16254952/fImage118819471942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86500" y="4509770"/>
            <a:ext cx="143510" cy="191135"/>
          </a:xfrm>
          <a:prstGeom prst="rect"/>
          <a:noFill/>
        </p:spPr>
      </p:pic>
      <p:sp>
        <p:nvSpPr>
          <p:cNvPr id="125" name="텍스트 상자 104"/>
          <p:cNvSpPr txBox="1">
            <a:spLocks/>
          </p:cNvSpPr>
          <p:nvPr/>
        </p:nvSpPr>
        <p:spPr>
          <a:xfrm rot="0">
            <a:off x="6572885" y="4476750"/>
            <a:ext cx="4001135" cy="2774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5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입점 및 마케팅 제안</a:t>
            </a:r>
            <a:endParaRPr lang="ko-KR" altLang="en-US" sz="15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26" name="도형 105"/>
          <p:cNvSpPr>
            <a:spLocks/>
          </p:cNvSpPr>
          <p:nvPr/>
        </p:nvSpPr>
        <p:spPr>
          <a:xfrm rot="0">
            <a:off x="6429375" y="5000625"/>
            <a:ext cx="229235" cy="229235"/>
          </a:xfrm>
          <a:prstGeom prst="ellipse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127" name="그림 106" descr="C:/Users/Kim dong gwan/AppData/Roaming/PolarisOffice/ETemp/17048_16254952/fImage81219504827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71" r="-2571"/>
          <a:stretch>
            <a:fillRect/>
          </a:stretch>
        </p:blipFill>
        <p:spPr>
          <a:xfrm rot="0">
            <a:off x="6491605" y="5057775"/>
            <a:ext cx="106045" cy="114935"/>
          </a:xfrm>
          <a:prstGeom prst="rect"/>
          <a:noFill/>
        </p:spPr>
      </p:pic>
      <p:sp>
        <p:nvSpPr>
          <p:cNvPr id="128" name="텍스트 상자 107"/>
          <p:cNvSpPr txBox="1">
            <a:spLocks/>
          </p:cNvSpPr>
          <p:nvPr/>
        </p:nvSpPr>
        <p:spPr>
          <a:xfrm rot="0">
            <a:off x="6715125" y="5000625"/>
            <a:ext cx="221234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① 가족형 외식 브랜드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29" name="텍스트 상자 108"/>
          <p:cNvSpPr txBox="1">
            <a:spLocks/>
          </p:cNvSpPr>
          <p:nvPr/>
        </p:nvSpPr>
        <p:spPr>
          <a:xfrm rot="0">
            <a:off x="6715125" y="5219700"/>
            <a:ext cx="2124710" cy="3536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아웃백·빕스·샤브샤브 등</a:t>
            </a:r>
            <a:endParaRPr lang="ko-KR" altLang="en-US" sz="9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주말 가족 소비 수요 타겟팅</a:t>
            </a:r>
            <a:endParaRPr lang="ko-KR" altLang="en-US" sz="9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30" name="도형 109"/>
          <p:cNvSpPr>
            <a:spLocks/>
          </p:cNvSpPr>
          <p:nvPr/>
        </p:nvSpPr>
        <p:spPr>
          <a:xfrm rot="0">
            <a:off x="9191625" y="5000625"/>
            <a:ext cx="229235" cy="229235"/>
          </a:xfrm>
          <a:prstGeom prst="ellipse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131" name="그림 110" descr="C:/Users/Kim dong gwan/AppData/Roaming/PolarisOffice/ETemp/17048_16254952/fImage77219545436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249410" y="5057775"/>
            <a:ext cx="114935" cy="114935"/>
          </a:xfrm>
          <a:prstGeom prst="rect"/>
          <a:noFill/>
        </p:spPr>
      </p:pic>
      <p:sp>
        <p:nvSpPr>
          <p:cNvPr id="132" name="텍스트 상자 111"/>
          <p:cNvSpPr txBox="1">
            <a:spLocks/>
          </p:cNvSpPr>
          <p:nvPr/>
        </p:nvSpPr>
        <p:spPr>
          <a:xfrm rot="0">
            <a:off x="9478010" y="5000625"/>
            <a:ext cx="221234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② 프랜차이즈 카페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33" name="텍스트 상자 112"/>
          <p:cNvSpPr txBox="1">
            <a:spLocks/>
          </p:cNvSpPr>
          <p:nvPr/>
        </p:nvSpPr>
        <p:spPr>
          <a:xfrm rot="0">
            <a:off x="9478010" y="5219700"/>
            <a:ext cx="2124710" cy="3536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스타벅스·투썸·메가커피 등</a:t>
            </a:r>
            <a:endParaRPr lang="ko-KR" altLang="en-US" sz="9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증가하는 10·20대 수요 흡수</a:t>
            </a:r>
            <a:endParaRPr lang="ko-KR" altLang="en-US" sz="9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34" name="도형 113"/>
          <p:cNvSpPr>
            <a:spLocks/>
          </p:cNvSpPr>
          <p:nvPr/>
        </p:nvSpPr>
        <p:spPr>
          <a:xfrm rot="0">
            <a:off x="6429375" y="5952490"/>
            <a:ext cx="229235" cy="229235"/>
          </a:xfrm>
          <a:prstGeom prst="ellipse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135" name="그림 114" descr="C:/Users/Kim dong gwan/AppData/Roaming/PolarisOffice/ETemp/17048_16254952/fImage67419582391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71" r="-2571"/>
          <a:stretch>
            <a:fillRect/>
          </a:stretch>
        </p:blipFill>
        <p:spPr>
          <a:xfrm rot="0">
            <a:off x="6491605" y="6010275"/>
            <a:ext cx="106045" cy="114935"/>
          </a:xfrm>
          <a:prstGeom prst="rect"/>
          <a:noFill/>
        </p:spPr>
      </p:pic>
      <p:sp>
        <p:nvSpPr>
          <p:cNvPr id="136" name="텍스트 상자 115"/>
          <p:cNvSpPr txBox="1">
            <a:spLocks/>
          </p:cNvSpPr>
          <p:nvPr/>
        </p:nvSpPr>
        <p:spPr>
          <a:xfrm rot="0">
            <a:off x="6715125" y="5952490"/>
            <a:ext cx="221234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③ 생활 편의 업종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37" name="텍스트 상자 116"/>
          <p:cNvSpPr txBox="1">
            <a:spLocks/>
          </p:cNvSpPr>
          <p:nvPr/>
        </p:nvSpPr>
        <p:spPr>
          <a:xfrm rot="0">
            <a:off x="6715125" y="6172200"/>
            <a:ext cx="2124710" cy="3536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올리브영·다이소</a:t>
            </a:r>
            <a:endParaRPr lang="ko-KR" altLang="en-US" sz="9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주거 중심 생활 상권 안착</a:t>
            </a:r>
            <a:endParaRPr lang="ko-KR" altLang="en-US" sz="9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38" name="도형 117"/>
          <p:cNvSpPr>
            <a:spLocks/>
          </p:cNvSpPr>
          <p:nvPr/>
        </p:nvSpPr>
        <p:spPr>
          <a:xfrm rot="0">
            <a:off x="9191625" y="5952490"/>
            <a:ext cx="229235" cy="229235"/>
          </a:xfrm>
          <a:prstGeom prst="ellipse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139" name="그림 118" descr="C:/Users/Kim dong gwan/AppData/Roaming/PolarisOffice/ETemp/17048_16254952/fImage52419624604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11" r="-1911"/>
          <a:stretch>
            <a:fillRect/>
          </a:stretch>
        </p:blipFill>
        <p:spPr>
          <a:xfrm rot="0">
            <a:off x="9239250" y="6010275"/>
            <a:ext cx="133985" cy="114935"/>
          </a:xfrm>
          <a:prstGeom prst="rect"/>
          <a:noFill/>
        </p:spPr>
      </p:pic>
      <p:sp>
        <p:nvSpPr>
          <p:cNvPr id="140" name="텍스트 상자 119"/>
          <p:cNvSpPr txBox="1">
            <a:spLocks/>
          </p:cNvSpPr>
          <p:nvPr/>
        </p:nvSpPr>
        <p:spPr>
          <a:xfrm rot="0">
            <a:off x="9478010" y="5952490"/>
            <a:ext cx="2212340" cy="200660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00" b="1">
                <a:solidFill>
                  <a:srgbClr val="222222"/>
                </a:solidFill>
                <a:latin typeface="Noto Sans KR" charset="0"/>
                <a:ea typeface="Noto Sans KR" charset="0"/>
                <a:sym typeface="맑은 고딕" charset="0"/>
              </a:rPr>
              <a:t>④ 교육 관련 업종</a:t>
            </a:r>
            <a:endParaRPr lang="ko-KR" altLang="en-US" sz="1100" b="1">
              <a:solidFill>
                <a:srgbClr val="222222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  <p:sp>
        <p:nvSpPr>
          <p:cNvPr id="141" name="텍스트 상자 120"/>
          <p:cNvSpPr txBox="1">
            <a:spLocks/>
          </p:cNvSpPr>
          <p:nvPr/>
        </p:nvSpPr>
        <p:spPr>
          <a:xfrm rot="0">
            <a:off x="9478010" y="6172200"/>
            <a:ext cx="2124710" cy="353695"/>
          </a:xfrm>
          <a:prstGeom prst="rect"/>
          <a:noFill/>
          <a:ln cap="flat" cmpd="sng">
            <a:prstDash/>
          </a:ln>
        </p:spPr>
        <p:txBody>
          <a:bodyPr wrap="square" lIns="0" tIns="0" rIns="0" bIns="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독서실·프리미엄 스터디카페</a:t>
            </a:r>
            <a:endParaRPr lang="ko-KR" altLang="en-US" sz="9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666666"/>
                </a:solidFill>
                <a:latin typeface="Noto Sans KR" charset="0"/>
                <a:ea typeface="Noto Sans KR" charset="0"/>
                <a:sym typeface="맑은 고딕" charset="0"/>
              </a:rPr>
              <a:t>초·중·고 학군 밀집 지역</a:t>
            </a:r>
            <a:endParaRPr lang="ko-KR" altLang="en-US" sz="900">
              <a:solidFill>
                <a:srgbClr val="666666"/>
              </a:solidFill>
              <a:latin typeface="Noto Sans KR" charset="0"/>
              <a:ea typeface="Noto Sans KR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>
            <a:spLocks/>
          </p:cNvSpPr>
          <p:nvPr/>
        </p:nvSpPr>
        <p:spPr>
          <a:xfrm rot="0">
            <a:off x="571500" y="1571625"/>
            <a:ext cx="11106785" cy="972820"/>
          </a:xfrm>
          <a:prstGeom prst="roundRect">
            <a:avLst>
              <a:gd name="adj" fmla="val 18953"/>
            </a:avLst>
          </a:prstGeom>
          <a:solidFill>
            <a:srgbClr val="F4F7FF"/>
          </a:solidFill>
          <a:ln cap="flat" cmpd="sng"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571625"/>
            <a:ext cx="57785" cy="857885"/>
          </a:xfrm>
          <a:prstGeom prst="roundRect">
            <a:avLst>
              <a:gd name="adj" fmla="val 282188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3048000"/>
            <a:ext cx="5257800" cy="1543685"/>
          </a:xfrm>
          <a:prstGeom prst="roundRect">
            <a:avLst>
              <a:gd name="adj" fmla="val 4388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" y="5380990"/>
            <a:ext cx="5257800" cy="1276350"/>
          </a:xfrm>
          <a:prstGeom prst="roundRect">
            <a:avLst>
              <a:gd name="adj" fmla="val 641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500" y="3048000"/>
            <a:ext cx="5380990" cy="1162050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86500" y="3048000"/>
            <a:ext cx="38100" cy="1162050"/>
          </a:xfrm>
          <a:prstGeom prst="roundRect">
            <a:avLst>
              <a:gd name="adj" fmla="val 234191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4858385"/>
            <a:ext cx="2572385" cy="838200"/>
          </a:xfrm>
          <a:prstGeom prst="roundRect">
            <a:avLst>
              <a:gd name="adj" fmla="val 14871"/>
            </a:avLst>
          </a:prstGeom>
          <a:solidFill>
            <a:srgbClr val="E8EEFF"/>
          </a:solidFill>
          <a:ln/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86500" y="4858385"/>
            <a:ext cx="2572385" cy="28575"/>
          </a:xfrm>
          <a:prstGeom prst="roundRect">
            <a:avLst>
              <a:gd name="adj" fmla="val 43988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48750" y="4858385"/>
            <a:ext cx="2572385" cy="838200"/>
          </a:xfrm>
          <a:prstGeom prst="roundRect">
            <a:avLst>
              <a:gd name="adj" fmla="val 14871"/>
            </a:avLst>
          </a:prstGeom>
          <a:solidFill>
            <a:srgbClr val="E8EEFF"/>
          </a:solidFill>
          <a:ln/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048750" y="4858385"/>
            <a:ext cx="2572385" cy="28575"/>
          </a:xfrm>
          <a:prstGeom prst="roundRect">
            <a:avLst>
              <a:gd name="adj" fmla="val 43988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5810250"/>
            <a:ext cx="2572385" cy="838200"/>
          </a:xfrm>
          <a:prstGeom prst="roundRect">
            <a:avLst>
              <a:gd name="adj" fmla="val 14871"/>
            </a:avLst>
          </a:prstGeom>
          <a:solidFill>
            <a:srgbClr val="E8EEFF"/>
          </a:solidFill>
          <a:ln/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86500" y="5810250"/>
            <a:ext cx="2572385" cy="28575"/>
          </a:xfrm>
          <a:prstGeom prst="roundRect">
            <a:avLst>
              <a:gd name="adj" fmla="val 43988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48750" y="5810250"/>
            <a:ext cx="2572385" cy="838200"/>
          </a:xfrm>
          <a:prstGeom prst="roundRect">
            <a:avLst>
              <a:gd name="adj" fmla="val 14871"/>
            </a:avLst>
          </a:prstGeom>
          <a:solidFill>
            <a:srgbClr val="E8EEFF"/>
          </a:solidFill>
          <a:ln/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48750" y="5810250"/>
            <a:ext cx="2572385" cy="28575"/>
          </a:xfrm>
          <a:prstGeom prst="roundRect">
            <a:avLst>
              <a:gd name="adj" fmla="val 43988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990" y="1714500"/>
            <a:ext cx="781050" cy="266700"/>
          </a:xfrm>
          <a:prstGeom prst="roundRect">
            <a:avLst>
              <a:gd name="adj" fmla="val 97847"/>
            </a:avLst>
          </a:prstGeom>
          <a:solidFill>
            <a:srgbClr val="FFFFFF"/>
          </a:solidFill>
          <a:ln w="12700">
            <a:solidFill>
              <a:srgbClr val="D1DE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1500" y="952500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유망 상권 심층분석 : 염창동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1714500" y="1733550"/>
            <a:ext cx="392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현재 206위 </a:t>
            </a:r>
            <a:pPr algn="l" indent="0" marL="0">
              <a:buNone/>
            </a:pP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118위</a:t>
            </a:r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(h=4)</a:t>
            </a:r>
            <a:pPr algn="l"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88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08990" y="2048510"/>
            <a:ext cx="10648950" cy="48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유동·등록인구가 많은 주거 기반 골목상권으로, </a:t>
            </a:r>
            <a:pPr algn="l" indent="0" marL="0">
              <a:buNone/>
            </a:pPr>
            <a:r>
              <a:rPr lang="en-US" sz="12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개·폐업 모두 적은 안정기 상권</a:t>
            </a:r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. </a:t>
            </a:r>
            <a:pPr algn="l"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MZ세대와 장년층 소비가 공존</a:t>
            </a:r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하며 주중 직장인 생활 소비 중심의 안정적 구조를 가진다.</a:t>
            </a:r>
            <a:endParaRPr lang="en-US" sz="1200" dirty="0"/>
          </a:p>
        </p:txBody>
      </p:sp>
      <p:pic>
        <p:nvPicPr>
          <p:cNvPr id="27" name="Image 1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" y="2700020"/>
            <a:ext cx="190500" cy="1905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57885" y="2667000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순위 변동 추이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571500" y="3048000"/>
            <a:ext cx="5238750" cy="304800"/>
          </a:xfrm>
          <a:prstGeom prst="rect">
            <a:avLst/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18160" y="3103245"/>
            <a:ext cx="144018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1851660" y="3103245"/>
            <a:ext cx="144018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Y점수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3186430" y="3103245"/>
            <a:ext cx="138874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순위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472940" y="3103245"/>
            <a:ext cx="1388745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71500" y="3348355"/>
            <a:ext cx="5238750" cy="247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1"/>
          <p:cNvSpPr/>
          <p:nvPr/>
        </p:nvSpPr>
        <p:spPr>
          <a:xfrm>
            <a:off x="571500" y="3587115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33400" y="3375660"/>
            <a:ext cx="1409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(2025Q3)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1866900" y="3371215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+0.0234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3200400" y="3371215"/>
            <a:ext cx="136271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206위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4486275" y="3371215"/>
            <a:ext cx="136271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571500" y="3593465"/>
            <a:ext cx="5238750" cy="24765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1" name="Shape 37"/>
          <p:cNvSpPr/>
          <p:nvPr/>
        </p:nvSpPr>
        <p:spPr>
          <a:xfrm>
            <a:off x="571500" y="3832225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33400" y="3620135"/>
            <a:ext cx="1409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h=1 (2025Q4)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1866900" y="361569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+0.1972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3200400" y="3615690"/>
            <a:ext cx="136271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146위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4486275" y="3620135"/>
            <a:ext cx="13627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60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571500" y="3837940"/>
            <a:ext cx="5238750" cy="247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3"/>
          <p:cNvSpPr/>
          <p:nvPr/>
        </p:nvSpPr>
        <p:spPr>
          <a:xfrm>
            <a:off x="571500" y="4076700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33400" y="3865245"/>
            <a:ext cx="1409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h=2 (2026Q1)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1866900" y="386080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+0.1687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3200400" y="3860800"/>
            <a:ext cx="136271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149위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4486275" y="3865245"/>
            <a:ext cx="13627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57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571500" y="4083050"/>
            <a:ext cx="5238750" cy="24765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3" name="Shape 49"/>
          <p:cNvSpPr/>
          <p:nvPr/>
        </p:nvSpPr>
        <p:spPr>
          <a:xfrm>
            <a:off x="571500" y="4321175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533400" y="4110355"/>
            <a:ext cx="1409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h=3 (2026Q2)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1866900" y="4104640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+0.2130</a:t>
            </a:r>
            <a:endParaRPr lang="en-US" sz="1000" dirty="0"/>
          </a:p>
        </p:txBody>
      </p:sp>
      <p:sp>
        <p:nvSpPr>
          <p:cNvPr id="56" name="Text 52"/>
          <p:cNvSpPr txBox="1"/>
          <p:nvPr/>
        </p:nvSpPr>
        <p:spPr>
          <a:xfrm>
            <a:off x="3200400" y="4104640"/>
            <a:ext cx="136271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135위</a:t>
            </a:r>
            <a:endParaRPr lang="en-US" sz="1000" dirty="0"/>
          </a:p>
        </p:txBody>
      </p:sp>
      <p:sp>
        <p:nvSpPr>
          <p:cNvPr id="57" name="Text 53"/>
          <p:cNvSpPr txBox="1"/>
          <p:nvPr/>
        </p:nvSpPr>
        <p:spPr>
          <a:xfrm>
            <a:off x="4486275" y="4110355"/>
            <a:ext cx="13627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71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571500" y="4328160"/>
            <a:ext cx="5238750" cy="247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533400" y="4358640"/>
            <a:ext cx="1409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h=4 (2026Q3)</a:t>
            </a:r>
            <a:endParaRPr lang="en-US" sz="900" dirty="0"/>
          </a:p>
        </p:txBody>
      </p:sp>
      <p:sp>
        <p:nvSpPr>
          <p:cNvPr id="60" name="Text 56"/>
          <p:cNvSpPr txBox="1"/>
          <p:nvPr/>
        </p:nvSpPr>
        <p:spPr>
          <a:xfrm>
            <a:off x="1866900" y="4354195"/>
            <a:ext cx="140970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+0.2757</a:t>
            </a:r>
            <a:endParaRPr lang="en-US" sz="1000" dirty="0"/>
          </a:p>
        </p:txBody>
      </p:sp>
      <p:sp>
        <p:nvSpPr>
          <p:cNvPr id="61" name="Text 57"/>
          <p:cNvSpPr txBox="1"/>
          <p:nvPr/>
        </p:nvSpPr>
        <p:spPr>
          <a:xfrm>
            <a:off x="3200400" y="4349750"/>
            <a:ext cx="1362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118위</a:t>
            </a:r>
            <a:endParaRPr lang="en-US" sz="1100" dirty="0"/>
          </a:p>
        </p:txBody>
      </p:sp>
      <p:sp>
        <p:nvSpPr>
          <p:cNvPr id="62" name="Text 58"/>
          <p:cNvSpPr txBox="1"/>
          <p:nvPr/>
        </p:nvSpPr>
        <p:spPr>
          <a:xfrm>
            <a:off x="4486275" y="4354195"/>
            <a:ext cx="1362710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88</a:t>
            </a:r>
            <a:endParaRPr lang="en-US" sz="1000" dirty="0"/>
          </a:p>
        </p:txBody>
      </p:sp>
      <p:pic>
        <p:nvPicPr>
          <p:cNvPr id="63" name="Image 2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1500" y="5033645"/>
            <a:ext cx="190500" cy="190500"/>
          </a:xfrm>
          <a:prstGeom prst="rect">
            <a:avLst/>
          </a:prstGeom>
        </p:spPr>
      </p:pic>
      <p:sp>
        <p:nvSpPr>
          <p:cNvPr id="64" name="Text 59"/>
          <p:cNvSpPr txBox="1"/>
          <p:nvPr/>
        </p:nvSpPr>
        <p:spPr>
          <a:xfrm>
            <a:off x="857885" y="5000625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핵심 지표 변화 </a:t>
            </a:r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(과거 대비 현재)</a:t>
            </a:r>
            <a:endParaRPr lang="en-US" sz="1500" dirty="0"/>
          </a:p>
        </p:txBody>
      </p:sp>
      <p:sp>
        <p:nvSpPr>
          <p:cNvPr id="65" name="Shape 60"/>
          <p:cNvSpPr/>
          <p:nvPr/>
        </p:nvSpPr>
        <p:spPr>
          <a:xfrm>
            <a:off x="571500" y="5380990"/>
            <a:ext cx="5238750" cy="190500"/>
          </a:xfrm>
          <a:prstGeom prst="rect">
            <a:avLst/>
          </a:prstGeom>
          <a:solidFill>
            <a:srgbClr val="F4F7FF"/>
          </a:solidFill>
          <a:ln/>
        </p:spPr>
      </p:sp>
      <p:sp>
        <p:nvSpPr>
          <p:cNvPr id="66" name="Shape 61"/>
          <p:cNvSpPr/>
          <p:nvPr/>
        </p:nvSpPr>
        <p:spPr>
          <a:xfrm>
            <a:off x="571500" y="5562600"/>
            <a:ext cx="5238750" cy="8890"/>
          </a:xfrm>
          <a:prstGeom prst="rect">
            <a:avLst/>
          </a:prstGeom>
          <a:solidFill>
            <a:srgbClr val="D1DEFF"/>
          </a:solidFill>
          <a:ln w="12700">
            <a:solidFill>
              <a:srgbClr val="D1DEFF">
                <a:alpha val="0"/>
              </a:srgbClr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506730" y="5380990"/>
            <a:ext cx="1749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</a:t>
            </a:r>
            <a:endParaRPr lang="en-US" sz="900" dirty="0"/>
          </a:p>
        </p:txBody>
      </p:sp>
      <p:sp>
        <p:nvSpPr>
          <p:cNvPr id="68" name="Text 63"/>
          <p:cNvSpPr txBox="1"/>
          <p:nvPr/>
        </p:nvSpPr>
        <p:spPr>
          <a:xfrm>
            <a:off x="2103120" y="5380990"/>
            <a:ext cx="23666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추이</a:t>
            </a:r>
            <a:endParaRPr lang="en-US" sz="900" dirty="0"/>
          </a:p>
        </p:txBody>
      </p:sp>
      <p:sp>
        <p:nvSpPr>
          <p:cNvPr id="69" name="Text 64"/>
          <p:cNvSpPr txBox="1"/>
          <p:nvPr/>
        </p:nvSpPr>
        <p:spPr>
          <a:xfrm>
            <a:off x="4324350" y="5380990"/>
            <a:ext cx="1543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</a:t>
            </a:r>
            <a:endParaRPr lang="en-US" sz="900" dirty="0"/>
          </a:p>
        </p:txBody>
      </p:sp>
      <p:sp>
        <p:nvSpPr>
          <p:cNvPr id="70" name="Shape 65"/>
          <p:cNvSpPr/>
          <p:nvPr/>
        </p:nvSpPr>
        <p:spPr>
          <a:xfrm>
            <a:off x="571500" y="5791835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506730" y="5591810"/>
            <a:ext cx="1749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 대비 수익성</a:t>
            </a:r>
            <a:endParaRPr lang="en-US" sz="900" dirty="0"/>
          </a:p>
        </p:txBody>
      </p:sp>
      <p:sp>
        <p:nvSpPr>
          <p:cNvPr id="72" name="Text 67"/>
          <p:cNvSpPr txBox="1"/>
          <p:nvPr/>
        </p:nvSpPr>
        <p:spPr>
          <a:xfrm>
            <a:off x="2128520" y="5591810"/>
            <a:ext cx="2315210" cy="18161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완만한 증가</a:t>
            </a:r>
            <a:endParaRPr lang="ko-KR" altLang="en-US" sz="9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3" name="Text 68"/>
          <p:cNvSpPr txBox="1"/>
          <p:nvPr/>
        </p:nvSpPr>
        <p:spPr>
          <a:xfrm>
            <a:off x="4324350" y="5591810"/>
            <a:ext cx="1543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 수익 구조 안정</a:t>
            </a:r>
            <a:endParaRPr lang="en-US" sz="900" dirty="0"/>
          </a:p>
        </p:txBody>
      </p:sp>
      <p:sp>
        <p:nvSpPr>
          <p:cNvPr id="74" name="Shape 69"/>
          <p:cNvSpPr/>
          <p:nvPr/>
        </p:nvSpPr>
        <p:spPr>
          <a:xfrm>
            <a:off x="571500" y="6020435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5" name="Text 70"/>
          <p:cNvSpPr txBox="1"/>
          <p:nvPr/>
        </p:nvSpPr>
        <p:spPr>
          <a:xfrm>
            <a:off x="506730" y="5820410"/>
            <a:ext cx="1749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추정매출액</a:t>
            </a:r>
            <a:endParaRPr lang="en-US" sz="900" dirty="0"/>
          </a:p>
        </p:txBody>
      </p:sp>
      <p:sp>
        <p:nvSpPr>
          <p:cNvPr id="76" name="Text 71"/>
          <p:cNvSpPr txBox="1"/>
          <p:nvPr/>
        </p:nvSpPr>
        <p:spPr>
          <a:xfrm>
            <a:off x="2146935" y="5820410"/>
            <a:ext cx="2279015" cy="18161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지속 증가</a:t>
            </a:r>
            <a:endParaRPr lang="ko-KR" altLang="en-US" sz="9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77" name="Text 72"/>
          <p:cNvSpPr txBox="1"/>
          <p:nvPr/>
        </p:nvSpPr>
        <p:spPr>
          <a:xfrm>
            <a:off x="4324350" y="5820410"/>
            <a:ext cx="1543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성장세</a:t>
            </a:r>
            <a:endParaRPr lang="en-US" sz="900" dirty="0"/>
          </a:p>
        </p:txBody>
      </p:sp>
      <p:sp>
        <p:nvSpPr>
          <p:cNvPr id="78" name="Shape 73"/>
          <p:cNvSpPr/>
          <p:nvPr/>
        </p:nvSpPr>
        <p:spPr>
          <a:xfrm>
            <a:off x="571500" y="6249035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9" name="Text 74"/>
          <p:cNvSpPr txBox="1"/>
          <p:nvPr/>
        </p:nvSpPr>
        <p:spPr>
          <a:xfrm>
            <a:off x="506730" y="6049010"/>
            <a:ext cx="1749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프랜차이즈 점포 수</a:t>
            </a:r>
            <a:endParaRPr lang="en-US" sz="900" dirty="0"/>
          </a:p>
        </p:txBody>
      </p:sp>
      <p:sp>
        <p:nvSpPr>
          <p:cNvPr id="80" name="Text 75"/>
          <p:cNvSpPr txBox="1"/>
          <p:nvPr/>
        </p:nvSpPr>
        <p:spPr>
          <a:xfrm>
            <a:off x="2136775" y="6049010"/>
            <a:ext cx="2299335" cy="18161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지속 증가</a:t>
            </a:r>
            <a:endParaRPr lang="ko-KR" altLang="en-US" sz="9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1" name="Text 76"/>
          <p:cNvSpPr txBox="1"/>
          <p:nvPr/>
        </p:nvSpPr>
        <p:spPr>
          <a:xfrm>
            <a:off x="4324350" y="6049010"/>
            <a:ext cx="1543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 안정성</a:t>
            </a:r>
            <a:endParaRPr lang="en-US" sz="900" dirty="0"/>
          </a:p>
        </p:txBody>
      </p:sp>
      <p:sp>
        <p:nvSpPr>
          <p:cNvPr id="82" name="Shape 77"/>
          <p:cNvSpPr/>
          <p:nvPr/>
        </p:nvSpPr>
        <p:spPr>
          <a:xfrm>
            <a:off x="571500" y="6477635"/>
            <a:ext cx="5238750" cy="889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83" name="Text 78"/>
          <p:cNvSpPr txBox="1"/>
          <p:nvPr/>
        </p:nvSpPr>
        <p:spPr>
          <a:xfrm>
            <a:off x="506730" y="6277610"/>
            <a:ext cx="1749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개업 점포 수</a:t>
            </a:r>
            <a:endParaRPr lang="en-US" sz="900" dirty="0"/>
          </a:p>
        </p:txBody>
      </p:sp>
      <p:sp>
        <p:nvSpPr>
          <p:cNvPr id="84" name="Text 79"/>
          <p:cNvSpPr txBox="1"/>
          <p:nvPr/>
        </p:nvSpPr>
        <p:spPr>
          <a:xfrm>
            <a:off x="2146935" y="6277610"/>
            <a:ext cx="2279015" cy="18161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7A4A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신규 점포 유입 </a:t>
            </a:r>
            <a:endParaRPr lang="ko-KR" altLang="en-US" sz="9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5" name="Text 80"/>
          <p:cNvSpPr txBox="1"/>
          <p:nvPr/>
        </p:nvSpPr>
        <p:spPr>
          <a:xfrm>
            <a:off x="4324350" y="6277610"/>
            <a:ext cx="1543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유입 지속</a:t>
            </a:r>
            <a:endParaRPr lang="en-US" sz="900" dirty="0"/>
          </a:p>
        </p:txBody>
      </p:sp>
      <p:sp>
        <p:nvSpPr>
          <p:cNvPr id="86" name="Text 81"/>
          <p:cNvSpPr txBox="1"/>
          <p:nvPr/>
        </p:nvSpPr>
        <p:spPr>
          <a:xfrm>
            <a:off x="533400" y="6506210"/>
            <a:ext cx="16960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임대시세 per m²</a:t>
            </a:r>
            <a:endParaRPr lang="en-US" sz="900" dirty="0"/>
          </a:p>
        </p:txBody>
      </p:sp>
      <p:sp>
        <p:nvSpPr>
          <p:cNvPr id="87" name="Text 82"/>
          <p:cNvSpPr txBox="1"/>
          <p:nvPr/>
        </p:nvSpPr>
        <p:spPr>
          <a:xfrm>
            <a:off x="2128520" y="6506210"/>
            <a:ext cx="2315210" cy="18161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9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완만한 상승</a:t>
            </a:r>
            <a:endParaRPr lang="ko-KR" altLang="en-US" sz="900" b="1">
              <a:solidFill>
                <a:srgbClr val="888888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88" name="Text 83"/>
          <p:cNvSpPr txBox="1"/>
          <p:nvPr/>
        </p:nvSpPr>
        <p:spPr>
          <a:xfrm>
            <a:off x="4324350" y="6506210"/>
            <a:ext cx="1543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대비 수익성 유지</a:t>
            </a:r>
            <a:endParaRPr lang="en-US" sz="900" dirty="0"/>
          </a:p>
        </p:txBody>
      </p:sp>
      <p:pic>
        <p:nvPicPr>
          <p:cNvPr id="89" name="Image 3"/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86500" y="2700020"/>
            <a:ext cx="237490" cy="190500"/>
          </a:xfrm>
          <a:prstGeom prst="rect">
            <a:avLst/>
          </a:prstGeom>
        </p:spPr>
      </p:pic>
      <p:sp>
        <p:nvSpPr>
          <p:cNvPr id="90" name="Text 84"/>
          <p:cNvSpPr txBox="1"/>
          <p:nvPr/>
        </p:nvSpPr>
        <p:spPr>
          <a:xfrm>
            <a:off x="6572885" y="2667000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 패턴 특징</a:t>
            </a:r>
            <a:endParaRPr lang="en-US" sz="1500" dirty="0"/>
          </a:p>
        </p:txBody>
      </p:sp>
      <p:sp>
        <p:nvSpPr>
          <p:cNvPr id="91" name="Text 85"/>
          <p:cNvSpPr txBox="1"/>
          <p:nvPr/>
        </p:nvSpPr>
        <p:spPr>
          <a:xfrm>
            <a:off x="6667500" y="3191510"/>
            <a:ext cx="4877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30·40·50·60대 이상 매출 지속 증가</a:t>
            </a:r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(중장년 주도)</a:t>
            </a:r>
            <a:endParaRPr lang="en-US" sz="1100" dirty="0"/>
          </a:p>
        </p:txBody>
      </p:sp>
      <p:sp>
        <p:nvSpPr>
          <p:cNvPr id="92" name="Text 86"/>
          <p:cNvSpPr txBox="1"/>
          <p:nvPr/>
        </p:nvSpPr>
        <p:spPr>
          <a:xfrm>
            <a:off x="6667500" y="3476625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주중 매출 비중이 타 상권 대비 높음</a:t>
            </a:r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(직장인 생활 소비)</a:t>
            </a:r>
            <a:endParaRPr lang="en-US" sz="1100" dirty="0"/>
          </a:p>
        </p:txBody>
      </p:sp>
      <p:sp>
        <p:nvSpPr>
          <p:cNvPr id="93" name="Text 87"/>
          <p:cNvSpPr txBox="1"/>
          <p:nvPr/>
        </p:nvSpPr>
        <p:spPr>
          <a:xfrm>
            <a:off x="6667500" y="376301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염창역 2번출구 · 염창무학아파트 골목상권 및 한강공원 접근성</a:t>
            </a:r>
            <a:endParaRPr lang="en-US" sz="1100" dirty="0"/>
          </a:p>
        </p:txBody>
      </p:sp>
      <p:pic>
        <p:nvPicPr>
          <p:cNvPr id="94" name="Image 4"/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86500" y="4509770"/>
            <a:ext cx="142875" cy="190500"/>
          </a:xfrm>
          <a:prstGeom prst="rect">
            <a:avLst/>
          </a:prstGeom>
        </p:spPr>
      </p:pic>
      <p:sp>
        <p:nvSpPr>
          <p:cNvPr id="95" name="Text 88"/>
          <p:cNvSpPr txBox="1"/>
          <p:nvPr/>
        </p:nvSpPr>
        <p:spPr>
          <a:xfrm>
            <a:off x="6572885" y="4476750"/>
            <a:ext cx="40005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입점 및 마케팅 제안</a:t>
            </a:r>
            <a:endParaRPr lang="en-US" sz="1500" dirty="0"/>
          </a:p>
        </p:txBody>
      </p:sp>
      <p:sp>
        <p:nvSpPr>
          <p:cNvPr id="96" name="Shape 89"/>
          <p:cNvSpPr/>
          <p:nvPr/>
        </p:nvSpPr>
        <p:spPr>
          <a:xfrm>
            <a:off x="6429375" y="5000625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7" name="Image 5"/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86525" y="5057775"/>
            <a:ext cx="114300" cy="114300"/>
          </a:xfrm>
          <a:prstGeom prst="rect">
            <a:avLst/>
          </a:prstGeom>
        </p:spPr>
      </p:pic>
      <p:sp>
        <p:nvSpPr>
          <p:cNvPr id="98" name="Text 90"/>
          <p:cNvSpPr txBox="1"/>
          <p:nvPr/>
        </p:nvSpPr>
        <p:spPr>
          <a:xfrm>
            <a:off x="6715125" y="5000625"/>
            <a:ext cx="22117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저가 커피 브랜드</a:t>
            </a:r>
            <a:endParaRPr lang="en-US" sz="1100" dirty="0"/>
          </a:p>
        </p:txBody>
      </p:sp>
      <p:sp>
        <p:nvSpPr>
          <p:cNvPr id="99" name="Text 91"/>
          <p:cNvSpPr txBox="1"/>
          <p:nvPr/>
        </p:nvSpPr>
        <p:spPr>
          <a:xfrm>
            <a:off x="6715125" y="5219700"/>
            <a:ext cx="2124075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컴포즈·빽다방·메가 등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퇴근길 테이크아웃 수요</a:t>
            </a:r>
            <a:endParaRPr lang="en-US" sz="900" dirty="0"/>
          </a:p>
        </p:txBody>
      </p:sp>
      <p:sp>
        <p:nvSpPr>
          <p:cNvPr id="100" name="Shape 92"/>
          <p:cNvSpPr/>
          <p:nvPr/>
        </p:nvSpPr>
        <p:spPr>
          <a:xfrm>
            <a:off x="9191625" y="5000625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1" name="Image 6"/>
          <p:cNvPicPr>
            <a:picLocks noChangeAspect="1"/>
          </p:cNvPicPr>
          <p:nvPr/>
        </p:nvPicPr>
        <p:blipFill>
          <a:blip r:embed="rId7"/>
          <a:srcRect l="0" r="0" t="-80" b="-80"/>
          <a:stretch/>
        </p:blipFill>
        <p:spPr>
          <a:xfrm>
            <a:off x="9234805" y="5057775"/>
            <a:ext cx="142875" cy="114300"/>
          </a:xfrm>
          <a:prstGeom prst="rect">
            <a:avLst/>
          </a:prstGeom>
        </p:spPr>
      </p:pic>
      <p:sp>
        <p:nvSpPr>
          <p:cNvPr id="102" name="Text 93"/>
          <p:cNvSpPr txBox="1"/>
          <p:nvPr/>
        </p:nvSpPr>
        <p:spPr>
          <a:xfrm>
            <a:off x="9478010" y="5000625"/>
            <a:ext cx="22117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대형 프랜차이즈 카페</a:t>
            </a:r>
            <a:endParaRPr lang="en-US" sz="1100" dirty="0"/>
          </a:p>
        </p:txBody>
      </p:sp>
      <p:sp>
        <p:nvSpPr>
          <p:cNvPr id="103" name="Text 94"/>
          <p:cNvSpPr txBox="1"/>
          <p:nvPr/>
        </p:nvSpPr>
        <p:spPr>
          <a:xfrm>
            <a:off x="9478010" y="5219700"/>
            <a:ext cx="2124075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투썸·스타벅스 등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40·50대 직장인 소비</a:t>
            </a:r>
            <a:endParaRPr lang="en-US" sz="900" dirty="0"/>
          </a:p>
        </p:txBody>
      </p:sp>
      <p:sp>
        <p:nvSpPr>
          <p:cNvPr id="104" name="Shape 95"/>
          <p:cNvSpPr/>
          <p:nvPr/>
        </p:nvSpPr>
        <p:spPr>
          <a:xfrm>
            <a:off x="6429375" y="5952490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5" name="Image 7"/>
          <p:cNvPicPr>
            <a:picLocks noChangeAspect="1"/>
          </p:cNvPicPr>
          <p:nvPr/>
        </p:nvPicPr>
        <p:blipFill>
          <a:blip r:embed="rId8"/>
          <a:srcRect l="-1911" r="-1911" t="0" b="0"/>
          <a:stretch/>
        </p:blipFill>
        <p:spPr>
          <a:xfrm>
            <a:off x="6477000" y="6010275"/>
            <a:ext cx="133350" cy="114300"/>
          </a:xfrm>
          <a:prstGeom prst="rect">
            <a:avLst/>
          </a:prstGeom>
        </p:spPr>
      </p:pic>
      <p:sp>
        <p:nvSpPr>
          <p:cNvPr id="106" name="Text 96"/>
          <p:cNvSpPr txBox="1"/>
          <p:nvPr/>
        </p:nvSpPr>
        <p:spPr>
          <a:xfrm>
            <a:off x="6715125" y="5952490"/>
            <a:ext cx="22117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생활형 마트</a:t>
            </a:r>
            <a:endParaRPr lang="en-US" sz="1100" dirty="0"/>
          </a:p>
        </p:txBody>
      </p:sp>
      <p:sp>
        <p:nvSpPr>
          <p:cNvPr id="107" name="Text 97"/>
          <p:cNvSpPr txBox="1"/>
          <p:nvPr/>
        </p:nvSpPr>
        <p:spPr>
          <a:xfrm>
            <a:off x="6715125" y="6172200"/>
            <a:ext cx="2124075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노브랜드·롯데슈퍼 등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편의점 多, 저가 마트 수요 공백</a:t>
            </a:r>
            <a:endParaRPr lang="en-US" sz="900" dirty="0"/>
          </a:p>
        </p:txBody>
      </p:sp>
      <p:sp>
        <p:nvSpPr>
          <p:cNvPr id="108" name="Shape 98"/>
          <p:cNvSpPr/>
          <p:nvPr/>
        </p:nvSpPr>
        <p:spPr>
          <a:xfrm>
            <a:off x="9191625" y="5952490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9" name="Image 8"/>
          <p:cNvPicPr>
            <a:picLocks noChangeAspect="1"/>
          </p:cNvPicPr>
          <p:nvPr/>
        </p:nvPicPr>
        <p:blipFill>
          <a:blip r:embed="rId9"/>
          <a:srcRect l="-1911" r="-1911" t="0" b="0"/>
          <a:stretch/>
        </p:blipFill>
        <p:spPr>
          <a:xfrm>
            <a:off x="9239250" y="6010275"/>
            <a:ext cx="133350" cy="114300"/>
          </a:xfrm>
          <a:prstGeom prst="rect">
            <a:avLst/>
          </a:prstGeom>
        </p:spPr>
      </p:pic>
      <p:sp>
        <p:nvSpPr>
          <p:cNvPr id="110" name="Text 99"/>
          <p:cNvSpPr txBox="1"/>
          <p:nvPr/>
        </p:nvSpPr>
        <p:spPr>
          <a:xfrm>
            <a:off x="9478010" y="5952490"/>
            <a:ext cx="22117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교육 관련 업종</a:t>
            </a:r>
            <a:endParaRPr lang="en-US" sz="1100" dirty="0"/>
          </a:p>
        </p:txBody>
      </p:sp>
      <p:sp>
        <p:nvSpPr>
          <p:cNvPr id="111" name="Text 100"/>
          <p:cNvSpPr txBox="1"/>
          <p:nvPr/>
        </p:nvSpPr>
        <p:spPr>
          <a:xfrm>
            <a:off x="9478010" y="6172200"/>
            <a:ext cx="2124075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대교·구몬·윤선생 등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초·중학생 자녀 있는 주거 인구</a:t>
            </a:r>
            <a:endParaRPr lang="en-US" sz="900" dirty="0"/>
          </a:p>
        </p:txBody>
      </p:sp>
      <p:sp>
        <p:nvSpPr>
          <p:cNvPr id="113" name="텍스트 상자 75"/>
          <p:cNvSpPr txBox="1">
            <a:spLocks/>
          </p:cNvSpPr>
          <p:nvPr/>
        </p:nvSpPr>
        <p:spPr>
          <a:xfrm rot="0">
            <a:off x="771525" y="1743075"/>
            <a:ext cx="838835" cy="18161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8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주거 </a:t>
            </a:r>
            <a:r>
              <a:rPr lang="ko-KR" sz="8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생활 밀착</a:t>
            </a:r>
            <a:endParaRPr lang="ko-KR" altLang="en-US" sz="8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14" name="텍스트 상자 83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결과 </a:t>
            </a: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15" name="도형 84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16" name="텍스트 상자 85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1500" y="1619250"/>
            <a:ext cx="11087100" cy="895350"/>
          </a:xfrm>
          <a:prstGeom prst="roundRect">
            <a:avLst>
              <a:gd name="adj" fmla="val 17386"/>
            </a:avLst>
          </a:prstGeom>
          <a:solidFill>
            <a:srgbClr val="FFF5F5"/>
          </a:solidFill>
          <a:ln w="25400">
            <a:solidFill>
              <a:srgbClr val="D94040"/>
            </a:solidFill>
            <a:prstDash val="solid"/>
          </a:ln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71500" y="2762250"/>
            <a:ext cx="5353050" cy="3676650"/>
          </a:xfrm>
          <a:prstGeom prst="rect">
            <a:avLst/>
          </a:prstGeom>
        </p:spPr>
      </p:pic>
      <p:pic>
        <p:nvPicPr>
          <p:cNvPr id="7" name="Image 1"/>
          <p:cNvPicPr>
            <a:picLocks noChangeAspect="1"/>
          </p:cNvPicPr>
          <p:nvPr/>
        </p:nvPicPr>
        <p:blipFill>
          <a:blip r:embed="rId2"/>
          <a:srcRect l="0" r="0" t="-3" b="-3"/>
          <a:stretch/>
        </p:blipFill>
        <p:spPr>
          <a:xfrm>
            <a:off x="6286500" y="2762250"/>
            <a:ext cx="5353050" cy="3676650"/>
          </a:xfrm>
          <a:prstGeom prst="rect">
            <a:avLst/>
          </a:prstGeom>
        </p:spPr>
      </p:pic>
      <p:pic>
        <p:nvPicPr>
          <p:cNvPr id="8" name="Image 2"/>
          <p:cNvPicPr>
            <a:picLocks noChangeAspect="1"/>
          </p:cNvPicPr>
          <p:nvPr/>
        </p:nvPicPr>
        <p:blipFill>
          <a:blip r:embed="rId3"/>
          <a:srcRect l="-4" r="-4" t="0" b="0"/>
          <a:stretch/>
        </p:blipFill>
        <p:spPr>
          <a:xfrm>
            <a:off x="580390" y="2809875"/>
            <a:ext cx="5315585" cy="5715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857375" y="2971800"/>
            <a:ext cx="762000" cy="247650"/>
          </a:xfrm>
          <a:prstGeom prst="roundRect">
            <a:avLst>
              <a:gd name="adj" fmla="val 369004"/>
            </a:avLst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476750" y="3505200"/>
            <a:ext cx="1143000" cy="419100"/>
          </a:xfrm>
          <a:prstGeom prst="roundRect">
            <a:avLst>
              <a:gd name="adj" fmla="val 59547"/>
            </a:avLst>
          </a:prstGeom>
          <a:solidFill>
            <a:srgbClr val="D9404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3"/>
          <p:cNvPicPr>
            <a:picLocks noChangeAspect="1"/>
          </p:cNvPicPr>
          <p:nvPr/>
        </p:nvPicPr>
        <p:blipFill>
          <a:blip r:embed="rId4"/>
          <a:srcRect l="-2078" r="-2078" t="0" b="0"/>
          <a:stretch/>
        </p:blipFill>
        <p:spPr>
          <a:xfrm>
            <a:off x="857885" y="4191000"/>
            <a:ext cx="4762500" cy="889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57885" y="44577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857885" y="49530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857885" y="54483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57885" y="59436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4"/>
          <p:cNvPicPr>
            <a:picLocks noChangeAspect="1"/>
          </p:cNvPicPr>
          <p:nvPr/>
        </p:nvPicPr>
        <p:blipFill>
          <a:blip r:embed="rId5"/>
          <a:srcRect l="-4" r="-4" t="0" b="0"/>
          <a:stretch/>
        </p:blipFill>
        <p:spPr>
          <a:xfrm>
            <a:off x="6295390" y="2809875"/>
            <a:ext cx="5315585" cy="5715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715885" y="2971800"/>
            <a:ext cx="762000" cy="247650"/>
          </a:xfrm>
          <a:prstGeom prst="roundRect">
            <a:avLst>
              <a:gd name="adj" fmla="val 369004"/>
            </a:avLst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10191750" y="3505200"/>
            <a:ext cx="1143000" cy="419100"/>
          </a:xfrm>
          <a:prstGeom prst="roundRect">
            <a:avLst>
              <a:gd name="adj" fmla="val 59547"/>
            </a:avLst>
          </a:prstGeom>
          <a:solidFill>
            <a:srgbClr val="D9404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5"/>
          <p:cNvPicPr>
            <a:picLocks noChangeAspect="1"/>
          </p:cNvPicPr>
          <p:nvPr/>
        </p:nvPicPr>
        <p:blipFill>
          <a:blip r:embed="rId6"/>
          <a:srcRect l="-2078" r="-2078" t="0" b="0"/>
          <a:stretch/>
        </p:blipFill>
        <p:spPr>
          <a:xfrm>
            <a:off x="6572885" y="4191000"/>
            <a:ext cx="4762500" cy="889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572885" y="44577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6572885" y="49530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572885" y="54483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6572885" y="5943600"/>
            <a:ext cx="304800" cy="3048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571500" y="952500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하락 주의 행정동 분석</a:t>
            </a:r>
            <a:endParaRPr lang="en-US" sz="3000" dirty="0"/>
          </a:p>
        </p:txBody>
      </p:sp>
      <p:pic>
        <p:nvPicPr>
          <p:cNvPr id="27" name="Image 6"/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05510" y="1886585"/>
            <a:ext cx="304800" cy="3048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429385" y="1790700"/>
            <a:ext cx="4953000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하락 주의 행정동: 총 29개</a:t>
            </a:r>
            <a:endParaRPr lang="en-US" sz="1600" dirty="0"/>
          </a:p>
        </p:txBody>
      </p:sp>
      <p:sp>
        <p:nvSpPr>
          <p:cNvPr id="29" name="Text 20"/>
          <p:cNvSpPr txBox="1">
            <a:spLocks/>
          </p:cNvSpPr>
          <p:nvPr/>
        </p:nvSpPr>
        <p:spPr>
          <a:xfrm rot="0">
            <a:off x="1429385" y="2115185"/>
            <a:ext cx="902652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200" b="1">
                <a:solidFill>
                  <a:srgbClr val="55555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클러스터별 분포: </a:t>
            </a:r>
            <a:r>
              <a:rPr lang="en-US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핵심</a:t>
            </a:r>
            <a:r>
              <a:rPr lang="ko-KR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</a:t>
            </a:r>
            <a:r>
              <a:rPr lang="ko-KR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상업 및 업무 상권</a:t>
            </a:r>
            <a:r>
              <a:rPr lang="en-US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(Cluster0) 6개</a:t>
            </a:r>
            <a:r>
              <a:rPr lang="ko-KR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</a:t>
            </a:r>
            <a:r>
              <a:rPr lang="ko-KR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/ 유동집중 주거 배후</a:t>
            </a:r>
            <a:r>
              <a:rPr lang="ko-KR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지상권</a:t>
            </a:r>
            <a:r>
              <a:rPr lang="en-US" sz="1200" b="1">
                <a:solidFill>
                  <a:srgbClr val="DDDDDD"/>
                </a:solidFill>
                <a:latin typeface="Noto Sans KR" charset="0"/>
                <a:ea typeface="Noto Sans KR" charset="0"/>
                <a:cs typeface="Noto Sans KR" charset="0"/>
              </a:rPr>
              <a:t>|</a:t>
            </a:r>
            <a:r>
              <a:rPr lang="en-US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(Cluster1) </a:t>
            </a:r>
            <a:r>
              <a:rPr lang="ko-KR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4</a:t>
            </a:r>
            <a:r>
              <a:rPr lang="ko-KR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개</a:t>
            </a:r>
            <a:r>
              <a:rPr lang="ko-KR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</a:t>
            </a:r>
            <a:r>
              <a:rPr lang="ko-KR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/ </a:t>
            </a:r>
            <a:r>
              <a:rPr lang="ko-KR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주거 </a:t>
            </a:r>
            <a:r>
              <a:rPr lang="ko-KR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생활 밀착 상권</a:t>
            </a:r>
            <a:r>
              <a:rPr lang="en-US" sz="120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(Cluster2) 19개</a:t>
            </a:r>
            <a:endParaRPr lang="ko-KR" altLang="en-US" sz="12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0" name="Text 21"/>
          <p:cNvSpPr txBox="1"/>
          <p:nvPr/>
        </p:nvSpPr>
        <p:spPr>
          <a:xfrm>
            <a:off x="857885" y="2915285"/>
            <a:ext cx="1028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청구동</a:t>
            </a:r>
            <a:endParaRPr lang="en-US" sz="2100" dirty="0"/>
          </a:p>
        </p:txBody>
      </p:sp>
      <p:sp>
        <p:nvSpPr>
          <p:cNvPr id="31" name="Text 22"/>
          <p:cNvSpPr txBox="1">
            <a:spLocks/>
          </p:cNvSpPr>
          <p:nvPr/>
        </p:nvSpPr>
        <p:spPr>
          <a:xfrm rot="0">
            <a:off x="1819910" y="3000375"/>
            <a:ext cx="838835" cy="19177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10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주거 생활 </a:t>
            </a:r>
            <a:r>
              <a:rPr lang="ko-KR" sz="10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밀착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2" name="Text 23"/>
          <p:cNvSpPr txBox="1"/>
          <p:nvPr/>
        </p:nvSpPr>
        <p:spPr>
          <a:xfrm>
            <a:off x="857885" y="3571875"/>
            <a:ext cx="344805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현재 </a:t>
            </a:r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231</a:t>
            </a:r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위 </a:t>
            </a:r>
            <a:pPr algn="l"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➔</a:t>
            </a:r>
            <a:pPr algn="l" indent="0" marL="0">
              <a:buNone/>
            </a:pPr>
            <a:r>
              <a:rPr lang="en-US" sz="15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342</a:t>
            </a:r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위 </a:t>
            </a:r>
            <a:pPr algn="l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(h=4 기준)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4438650" y="3581400"/>
            <a:ext cx="121983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111</a:t>
            </a:r>
            <a:endParaRPr lang="en-US" sz="1600" dirty="0"/>
          </a:p>
        </p:txBody>
      </p:sp>
      <p:pic>
        <p:nvPicPr>
          <p:cNvPr id="34" name="Image 7"/>
          <p:cNvPicPr>
            <a:picLocks noChangeAspect="1"/>
          </p:cNvPicPr>
          <p:nvPr/>
        </p:nvPicPr>
        <p:blipFill>
          <a:blip r:embed="rId8"/>
          <a:srcRect l="-33" r="-33" t="0" b="0"/>
          <a:stretch/>
        </p:blipFill>
        <p:spPr>
          <a:xfrm>
            <a:off x="933450" y="4580890"/>
            <a:ext cx="172085" cy="152400"/>
          </a:xfrm>
          <a:prstGeom prst="rect">
            <a:avLst/>
          </a:prstGeom>
        </p:spPr>
      </p:pic>
      <p:sp>
        <p:nvSpPr>
          <p:cNvPr id="35" name="Text 25"/>
          <p:cNvSpPr txBox="1">
            <a:spLocks/>
          </p:cNvSpPr>
          <p:nvPr/>
        </p:nvSpPr>
        <p:spPr>
          <a:xfrm rot="0">
            <a:off x="1285875" y="4495800"/>
            <a:ext cx="4782820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0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h=1(320) → h=2(334) → h=3(348) → h=4(342)</a:t>
            </a:r>
            <a:r>
              <a:rPr lang="en-US" sz="1200" b="1">
                <a:solidFill>
                  <a:srgbClr val="D94040"/>
                </a:solidFill>
                <a:latin typeface="Noto Sans KR" charset="0"/>
                <a:ea typeface="Noto Sans KR" charset="0"/>
                <a:cs typeface="Noto Sans KR" charset="0"/>
              </a:rPr>
              <a:t>지속 하락</a:t>
            </a:r>
            <a:endParaRPr lang="ko-KR" altLang="en-US" sz="1200" b="1">
              <a:solidFill>
                <a:srgbClr val="D94040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36" name="Image 8"/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33450" y="5076825"/>
            <a:ext cx="152400" cy="15240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1285875" y="4991100"/>
            <a:ext cx="4401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Y점수 </a:t>
            </a:r>
            <a:pPr algn="l" indent="0" marL="0">
              <a:buNone/>
            </a:pPr>
            <a:r>
              <a:rPr lang="en-US" sz="12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악화</a:t>
            </a:r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(-0.073 → h=4 -0.487)</a:t>
            </a:r>
            <a:endParaRPr lang="en-US" sz="1200" dirty="0"/>
          </a:p>
        </p:txBody>
      </p:sp>
      <p:pic>
        <p:nvPicPr>
          <p:cNvPr id="38" name="Image 9"/>
          <p:cNvPicPr>
            <a:picLocks noChangeAspect="1"/>
          </p:cNvPicPr>
          <p:nvPr/>
        </p:nvPicPr>
        <p:blipFill>
          <a:blip r:embed="rId10"/>
          <a:srcRect l="0" r="0" t="-180" b="-180"/>
          <a:stretch/>
        </p:blipFill>
        <p:spPr>
          <a:xfrm>
            <a:off x="933450" y="5572125"/>
            <a:ext cx="190500" cy="15240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1285875" y="5486400"/>
            <a:ext cx="4477385" cy="22923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클</a:t>
            </a: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러스터 </a:t>
            </a:r>
            <a:r>
              <a:rPr lang="ko-KR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평균 </a:t>
            </a:r>
            <a:r>
              <a:rPr lang="en-US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대비 </a:t>
            </a:r>
            <a:r>
              <a:rPr lang="ko-KR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전 지표(</a:t>
            </a:r>
            <a:r>
              <a:rPr lang="ko-KR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>매출, 개업률 등)</a:t>
            </a:r>
            <a:r>
              <a:rPr lang="ko-KR" sz="1200" b="1">
                <a:solidFill>
                  <a:srgbClr val="333333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</a:t>
            </a:r>
            <a:r>
              <a:rPr lang="en-US" sz="1200" b="1">
                <a:solidFill>
                  <a:srgbClr val="D94040"/>
                </a:solidFill>
                <a:latin typeface="Noto Sans KR" charset="0"/>
                <a:ea typeface="Noto Sans KR" charset="0"/>
                <a:cs typeface="Noto Sans KR" charset="0"/>
              </a:rPr>
              <a:t>크게 하회</a:t>
            </a:r>
            <a:endParaRPr lang="ko-KR" altLang="en-US" sz="1200" b="1">
              <a:solidFill>
                <a:srgbClr val="D94040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40" name="Image 10"/>
          <p:cNvPicPr>
            <a:picLocks noChangeAspect="1"/>
          </p:cNvPicPr>
          <p:nvPr/>
        </p:nvPicPr>
        <p:blipFill>
          <a:blip r:embed="rId11"/>
          <a:srcRect l="0" r="0" t="-180" b="-180"/>
          <a:stretch/>
        </p:blipFill>
        <p:spPr>
          <a:xfrm>
            <a:off x="933450" y="6066790"/>
            <a:ext cx="190500" cy="15240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1285875" y="5981700"/>
            <a:ext cx="447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상권 약화 신호 뚜렷</a:t>
            </a:r>
            <a:endParaRPr lang="en-US" sz="1200" dirty="0"/>
          </a:p>
        </p:txBody>
      </p:sp>
      <p:sp>
        <p:nvSpPr>
          <p:cNvPr id="42" name="Text 29"/>
          <p:cNvSpPr txBox="1"/>
          <p:nvPr/>
        </p:nvSpPr>
        <p:spPr>
          <a:xfrm>
            <a:off x="6572885" y="2915285"/>
            <a:ext cx="12344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화곡2동</a:t>
            </a:r>
            <a:endParaRPr lang="en-US" sz="2100" dirty="0"/>
          </a:p>
        </p:txBody>
      </p:sp>
      <p:sp>
        <p:nvSpPr>
          <p:cNvPr id="43" name="Text 30"/>
          <p:cNvSpPr txBox="1"/>
          <p:nvPr/>
        </p:nvSpPr>
        <p:spPr>
          <a:xfrm>
            <a:off x="7677150" y="3000375"/>
            <a:ext cx="838835" cy="19177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10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주거 </a:t>
            </a:r>
            <a:r>
              <a:rPr lang="ko-KR" sz="10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생활 밀착</a:t>
            </a:r>
            <a:endParaRPr lang="ko-KR" altLang="en-US" sz="10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4" name="Text 31"/>
          <p:cNvSpPr txBox="1"/>
          <p:nvPr/>
        </p:nvSpPr>
        <p:spPr>
          <a:xfrm>
            <a:off x="6572885" y="3571875"/>
            <a:ext cx="344805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현재 </a:t>
            </a:r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215</a:t>
            </a:r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위 </a:t>
            </a:r>
            <a:pPr algn="l"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➔</a:t>
            </a:r>
            <a:pPr algn="l" indent="0" marL="0">
              <a:buNone/>
            </a:pPr>
            <a:r>
              <a:rPr lang="en-US" sz="15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269</a:t>
            </a:r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위 </a:t>
            </a:r>
            <a:pPr algn="l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(h=4 기준)</a:t>
            </a:r>
            <a:endParaRPr lang="en-US" sz="1300" dirty="0"/>
          </a:p>
        </p:txBody>
      </p:sp>
      <p:sp>
        <p:nvSpPr>
          <p:cNvPr id="45" name="Text 32"/>
          <p:cNvSpPr txBox="1"/>
          <p:nvPr/>
        </p:nvSpPr>
        <p:spPr>
          <a:xfrm>
            <a:off x="10153650" y="3581400"/>
            <a:ext cx="121983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54</a:t>
            </a:r>
            <a:endParaRPr lang="en-US" sz="1600" dirty="0"/>
          </a:p>
        </p:txBody>
      </p:sp>
      <p:pic>
        <p:nvPicPr>
          <p:cNvPr id="46" name="Image 11"/>
          <p:cNvPicPr>
            <a:picLocks noChangeAspect="1"/>
          </p:cNvPicPr>
          <p:nvPr/>
        </p:nvPicPr>
        <p:blipFill>
          <a:blip r:embed="rId12"/>
          <a:srcRect l="-33" r="-33" t="0" b="0"/>
          <a:stretch/>
        </p:blipFill>
        <p:spPr>
          <a:xfrm>
            <a:off x="6648450" y="4580890"/>
            <a:ext cx="172085" cy="152400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7000875" y="4495800"/>
            <a:ext cx="5448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h=1(229) → h=2(257) → h=3(271) → h=4(269)</a:t>
            </a:r>
            <a:pPr algn="l" indent="0" marL="0">
              <a:buNone/>
            </a:pPr>
            <a:r>
              <a:rPr lang="en-US" sz="12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완만하지만 지속 하락</a:t>
            </a:r>
            <a:endParaRPr lang="en-US" sz="1200" dirty="0"/>
          </a:p>
        </p:txBody>
      </p:sp>
      <p:pic>
        <p:nvPicPr>
          <p:cNvPr id="48" name="Image 12"/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648450" y="5076825"/>
            <a:ext cx="152400" cy="152400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7000875" y="4991100"/>
            <a:ext cx="4877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Y점수 </a:t>
            </a:r>
            <a:pPr algn="l" indent="0" marL="0">
              <a:buNone/>
            </a:pPr>
            <a:r>
              <a:rPr lang="en-US" sz="12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점진적 악화</a:t>
            </a:r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(-0.002 → h=4 -0.211)</a:t>
            </a:r>
            <a:endParaRPr lang="en-US" sz="1200" dirty="0"/>
          </a:p>
        </p:txBody>
      </p:sp>
      <p:pic>
        <p:nvPicPr>
          <p:cNvPr id="50" name="Image 13"/>
          <p:cNvPicPr>
            <a:picLocks noChangeAspect="1"/>
          </p:cNvPicPr>
          <p:nvPr/>
        </p:nvPicPr>
        <p:blipFill>
          <a:blip r:embed="rId14"/>
          <a:srcRect l="0" r="0" t="-180" b="-180"/>
          <a:stretch/>
        </p:blipFill>
        <p:spPr>
          <a:xfrm>
            <a:off x="6648450" y="5572125"/>
            <a:ext cx="190500" cy="152400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7000875" y="5486400"/>
            <a:ext cx="4953635" cy="22923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chemeClr val="tx1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유동인구는 </a:t>
            </a:r>
            <a:r>
              <a:rPr lang="ko-KR" sz="1200" b="1">
                <a:solidFill>
                  <a:schemeClr val="tx1"/>
                </a:solidFill>
                <a:latin typeface="Noto Sans KR" charset="0"/>
                <a:ea typeface="Noto Sans KR" charset="0"/>
                <a:cs typeface="Noto Sans KR" charset="0"/>
              </a:rPr>
              <a:t>늘었지만</a:t>
            </a:r>
            <a:r>
              <a:rPr lang="ko-KR" sz="1200" b="1">
                <a:solidFill>
                  <a:schemeClr val="tx1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</a:t>
            </a:r>
            <a:r>
              <a:rPr lang="ko-KR" sz="1200" b="1">
                <a:solidFill>
                  <a:srgbClr val="D94040"/>
                </a:solidFill>
                <a:latin typeface="Noto Sans KR" charset="0"/>
                <a:ea typeface="Noto Sans KR" charset="0"/>
                <a:cs typeface="Noto Sans KR" charset="0"/>
              </a:rPr>
              <a:t>매출 성장</a:t>
            </a:r>
            <a:r>
              <a:rPr lang="ko-KR" sz="1200" b="1">
                <a:solidFill>
                  <a:schemeClr val="tx1"/>
                </a:solidFill>
                <a:latin typeface="Noto Sans KR" charset="0"/>
                <a:ea typeface="Noto Sans KR" charset="0"/>
                <a:cs typeface="Noto Sans KR" charset="0"/>
              </a:rPr>
              <a:t>이 없고</a:t>
            </a:r>
            <a:r>
              <a:rPr lang="ko-KR" sz="1200" b="1">
                <a:solidFill>
                  <a:srgbClr val="D94040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등록인구 꾸준히 감소 중</a:t>
            </a:r>
            <a:r>
              <a:rPr/>
              <a:t xml:space="preserve"> </a:t>
            </a:r>
            <a:endParaRPr lang="ko-KR" altLang="en-US" sz="1200" b="1">
              <a:solidFill>
                <a:srgbClr val="D94040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52" name="Image 14"/>
          <p:cNvPicPr>
            <a:picLocks noChangeAspect="1"/>
          </p:cNvPicPr>
          <p:nvPr/>
        </p:nvPicPr>
        <p:blipFill>
          <a:blip r:embed="rId15"/>
          <a:srcRect l="0" r="0" t="-43" b="-43"/>
          <a:stretch/>
        </p:blipFill>
        <p:spPr>
          <a:xfrm>
            <a:off x="6648450" y="6066790"/>
            <a:ext cx="133350" cy="152400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7000875" y="59817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선제적 주의 및 리스크 관리 필요</a:t>
            </a:r>
            <a:endParaRPr lang="en-US" sz="1200" dirty="0"/>
          </a:p>
        </p:txBody>
      </p:sp>
      <p:sp>
        <p:nvSpPr>
          <p:cNvPr id="55" name="텍스트 상자 86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결과 </a:t>
            </a: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56" name="도형 87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7" name="텍스트 상자 88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상자 142"/>
          <p:cNvSpPr txBox="1">
            <a:spLocks/>
          </p:cNvSpPr>
          <p:nvPr/>
        </p:nvSpPr>
        <p:spPr>
          <a:xfrm rot="0">
            <a:off x="571500" y="952500"/>
            <a:ext cx="7925435" cy="4578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3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시연 </a:t>
            </a:r>
            <a:r>
              <a:rPr lang="ko-KR" sz="3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영상</a:t>
            </a:r>
            <a:r>
              <a:rPr lang="en-US" sz="3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: </a:t>
            </a:r>
            <a:endParaRPr lang="ko-KR" altLang="en-US" sz="3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06" name="텍스트 상자 231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결과 </a:t>
            </a: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107" name="도형 232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08" name="텍스트 상자 233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09" name="도형 234"/>
          <p:cNvSpPr>
            <a:spLocks/>
          </p:cNvSpPr>
          <p:nvPr/>
        </p:nvSpPr>
        <p:spPr>
          <a:xfrm rot="0">
            <a:off x="688340" y="1714500"/>
            <a:ext cx="11033760" cy="78740"/>
          </a:xfrm>
          <a:prstGeom prst="roundRect">
            <a:avLst>
              <a:gd name="adj" fmla="val 262724"/>
            </a:avLst>
          </a:prstGeom>
          <a:solidFill>
            <a:srgbClr val="1A35B5"/>
          </a:solidFill>
          <a:ln w="12700" cap="flat" cmpd="sng">
            <a:solidFill>
              <a:srgbClr val="1A35B5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619250"/>
            <a:ext cx="5257800" cy="4686300"/>
          </a:xfrm>
          <a:prstGeom prst="roundRect">
            <a:avLst>
              <a:gd name="adj" fmla="val 952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81750" y="1619250"/>
            <a:ext cx="5257800" cy="4686300"/>
          </a:xfrm>
          <a:prstGeom prst="roundRect">
            <a:avLst>
              <a:gd name="adj" fmla="val 952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580390" y="1628775"/>
            <a:ext cx="5219700" cy="619125"/>
          </a:xfrm>
          <a:prstGeom prst="rect">
            <a:avLst/>
          </a:prstGeom>
        </p:spPr>
      </p:pic>
      <p:pic>
        <p:nvPicPr>
          <p:cNvPr id="8" name="Image 1"/>
          <p:cNvPicPr>
            <a:picLocks noChangeAspect="1"/>
          </p:cNvPicPr>
          <p:nvPr/>
        </p:nvPicPr>
        <p:blipFill>
          <a:blip r:embed="rId2"/>
          <a:srcRect l="-3" r="-3" t="0" b="0"/>
          <a:stretch/>
        </p:blipFill>
        <p:spPr>
          <a:xfrm>
            <a:off x="6391910" y="1628775"/>
            <a:ext cx="5219700" cy="6191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8990" y="2476500"/>
            <a:ext cx="4819650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08990" y="2476500"/>
            <a:ext cx="47625" cy="1028700"/>
          </a:xfrm>
          <a:prstGeom prst="roundRect">
            <a:avLst>
              <a:gd name="adj" fmla="val 28489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08990" y="3676650"/>
            <a:ext cx="4819650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08990" y="3676650"/>
            <a:ext cx="47625" cy="1028700"/>
          </a:xfrm>
          <a:prstGeom prst="roundRect">
            <a:avLst>
              <a:gd name="adj" fmla="val 28489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8990" y="4876800"/>
            <a:ext cx="4819650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8990" y="4876800"/>
            <a:ext cx="47625" cy="1028700"/>
          </a:xfrm>
          <a:prstGeom prst="roundRect">
            <a:avLst>
              <a:gd name="adj" fmla="val 28489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20510" y="2476500"/>
            <a:ext cx="4819650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20510" y="2476500"/>
            <a:ext cx="47625" cy="1028700"/>
          </a:xfrm>
          <a:prstGeom prst="roundRect">
            <a:avLst>
              <a:gd name="adj" fmla="val 28489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620510" y="3676650"/>
            <a:ext cx="4819650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620510" y="3676650"/>
            <a:ext cx="47625" cy="1028700"/>
          </a:xfrm>
          <a:prstGeom prst="roundRect">
            <a:avLst>
              <a:gd name="adj" fmla="val 28489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620510" y="4876800"/>
            <a:ext cx="4819650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20510" y="4876800"/>
            <a:ext cx="47625" cy="1028700"/>
          </a:xfrm>
          <a:prstGeom prst="roundRect">
            <a:avLst>
              <a:gd name="adj" fmla="val 284899"/>
            </a:avLst>
          </a:prstGeom>
          <a:solidFill>
            <a:srgbClr val="1A35B5"/>
          </a:solidFill>
          <a:ln w="12700">
            <a:solidFill>
              <a:srgbClr val="1A35B5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00125" y="2743200"/>
            <a:ext cx="476250" cy="47625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00125" y="3943985"/>
            <a:ext cx="476250" cy="47625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00125" y="5143500"/>
            <a:ext cx="476250" cy="47625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810375" y="2743200"/>
            <a:ext cx="476250" cy="47625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810375" y="3943985"/>
            <a:ext cx="476250" cy="47625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810375" y="5143500"/>
            <a:ext cx="476250" cy="47625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71500" y="952500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액션 도출</a:t>
            </a:r>
            <a:endParaRPr lang="en-US" sz="3000" dirty="0"/>
          </a:p>
        </p:txBody>
      </p:sp>
      <p:pic>
        <p:nvPicPr>
          <p:cNvPr id="30" name="Image 2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62650" y="3819525"/>
            <a:ext cx="266700" cy="266700"/>
          </a:xfrm>
          <a:prstGeom prst="rect">
            <a:avLst/>
          </a:prstGeom>
        </p:spPr>
      </p:pic>
      <p:pic>
        <p:nvPicPr>
          <p:cNvPr id="31" name="Image 3"/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7885" y="180975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190625" y="1790700"/>
            <a:ext cx="304863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발견 요약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962025" y="2857500"/>
            <a:ext cx="55308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75" kern="0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666875" y="2695575"/>
            <a:ext cx="3791585" cy="58229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3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상권 활력 예측은 단기 등락보다</a:t>
            </a:r>
            <a:endParaRPr lang="ko-KR" altLang="en-US" sz="13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l">
              <a:buFontTx/>
              <a:buNone/>
            </a:pPr>
            <a:r>
              <a:rPr lang="en-US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구조적 </a:t>
            </a:r>
            <a:r>
              <a:rPr lang="ko-KR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지표</a:t>
            </a:r>
            <a:r>
              <a:rPr lang="en-US" sz="13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에 좌우됨</a:t>
            </a:r>
            <a:endParaRPr lang="ko-KR" altLang="en-US" sz="13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5" name="Text 29"/>
          <p:cNvSpPr txBox="1"/>
          <p:nvPr/>
        </p:nvSpPr>
        <p:spPr>
          <a:xfrm>
            <a:off x="962025" y="4058285"/>
            <a:ext cx="55308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75" kern="0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1666875" y="3895090"/>
            <a:ext cx="379095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 기반 h=1~4 예측에서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Spearman ≈ 0.95</a:t>
            </a:r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높은 일관성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962025" y="5257800"/>
            <a:ext cx="55308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75" kern="0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1666875" y="5095875"/>
            <a:ext cx="3790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숨겨진 </a:t>
            </a:r>
            <a:pPr algn="l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유망 상권 7개</a:t>
            </a:r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발굴 및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구조적 </a:t>
            </a:r>
            <a:pPr algn="l" indent="0" marL="0">
              <a:buNone/>
            </a:pPr>
            <a:r>
              <a:rPr lang="en-US" sz="1500" b="1" dirty="0">
                <a:solidFill>
                  <a:srgbClr val="D9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하락 주의 상권 29개</a:t>
            </a:r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 경보</a:t>
            </a:r>
            <a:endParaRPr lang="en-US" sz="1300" dirty="0"/>
          </a:p>
        </p:txBody>
      </p:sp>
      <p:pic>
        <p:nvPicPr>
          <p:cNvPr id="39" name="Image 4"/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67500" y="1809750"/>
            <a:ext cx="228600" cy="22860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000875" y="1790700"/>
            <a:ext cx="3048635" cy="3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 방안</a:t>
            </a:r>
            <a:endParaRPr lang="en-US" sz="1600" dirty="0"/>
          </a:p>
        </p:txBody>
      </p:sp>
      <p:sp>
        <p:nvSpPr>
          <p:cNvPr id="41" name="Text 34"/>
          <p:cNvSpPr txBox="1"/>
          <p:nvPr/>
        </p:nvSpPr>
        <p:spPr>
          <a:xfrm>
            <a:off x="6772275" y="2857500"/>
            <a:ext cx="55308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75" kern="0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" dirty="0"/>
          </a:p>
        </p:txBody>
      </p:sp>
      <p:sp>
        <p:nvSpPr>
          <p:cNvPr id="42" name="Text 35"/>
          <p:cNvSpPr txBox="1"/>
          <p:nvPr/>
        </p:nvSpPr>
        <p:spPr>
          <a:xfrm>
            <a:off x="7477125" y="2695575"/>
            <a:ext cx="379095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발굴된 유망 상권 리스트를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점포 입지 선별</a:t>
            </a:r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우선 검토</a:t>
            </a:r>
            <a:endParaRPr lang="en-US" sz="1300" dirty="0"/>
          </a:p>
        </p:txBody>
      </p:sp>
      <p:sp>
        <p:nvSpPr>
          <p:cNvPr id="43" name="Text 36"/>
          <p:cNvSpPr txBox="1"/>
          <p:nvPr/>
        </p:nvSpPr>
        <p:spPr>
          <a:xfrm>
            <a:off x="6772275" y="4058285"/>
            <a:ext cx="55308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75" kern="0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" dirty="0"/>
          </a:p>
        </p:txBody>
      </p:sp>
      <p:sp>
        <p:nvSpPr>
          <p:cNvPr id="44" name="Text 37"/>
          <p:cNvSpPr txBox="1"/>
          <p:nvPr/>
        </p:nvSpPr>
        <p:spPr>
          <a:xfrm>
            <a:off x="7477125" y="3895090"/>
            <a:ext cx="3791585" cy="58229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3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유망 및 하락 상권 분류를 통한</a:t>
            </a:r>
            <a:endParaRPr lang="ko-KR" altLang="en-US" sz="13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  <a:p>
            <a:pPr marL="0" indent="0" algn="l">
              <a:buFontTx/>
              <a:buNone/>
            </a:pPr>
            <a:r>
              <a:rPr lang="en-US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마케팅 </a:t>
            </a:r>
            <a:r>
              <a:rPr lang="ko-KR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및 </a:t>
            </a:r>
            <a:r>
              <a:rPr lang="ko-KR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영업 </a:t>
            </a:r>
            <a:r>
              <a:rPr lang="en-US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예산 차등 배분</a:t>
            </a:r>
            <a:r>
              <a:rPr lang="en-US" sz="1300" b="1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 및 집중</a:t>
            </a:r>
            <a:endParaRPr lang="ko-KR" altLang="en-US" sz="1300" b="1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5" name="Text 38"/>
          <p:cNvSpPr txBox="1"/>
          <p:nvPr/>
        </p:nvSpPr>
        <p:spPr>
          <a:xfrm>
            <a:off x="6772275" y="5257800"/>
            <a:ext cx="55308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75" kern="0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" dirty="0"/>
          </a:p>
        </p:txBody>
      </p:sp>
      <p:sp>
        <p:nvSpPr>
          <p:cNvPr id="46" name="Text 39"/>
          <p:cNvSpPr txBox="1"/>
          <p:nvPr/>
        </p:nvSpPr>
        <p:spPr>
          <a:xfrm>
            <a:off x="7477125" y="5095875"/>
            <a:ext cx="379095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분기별 </a:t>
            </a:r>
            <a:pPr algn="l" indent="0" marL="0">
              <a:buNone/>
            </a:pPr>
            <a:r>
              <a:rPr lang="en-US" sz="15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 모니터링</a:t>
            </a:r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순위 추적 및 즉각적 액션 트리거</a:t>
            </a:r>
            <a:endParaRPr lang="en-US" sz="1300" dirty="0"/>
          </a:p>
        </p:txBody>
      </p:sp>
      <p:sp>
        <p:nvSpPr>
          <p:cNvPr id="48" name="텍스트 상자 89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결과 </a:t>
            </a: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49" name="도형 90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0" name="텍스트 상자 91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1"/>
          <a:srcRect l="-4" r="-4" t="0" b="0"/>
          <a:stretch/>
        </p:blipFill>
        <p:spPr>
          <a:xfrm>
            <a:off x="952500" y="1809750"/>
            <a:ext cx="10306050" cy="36861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00" y="5715000"/>
            <a:ext cx="10306050" cy="629285"/>
          </a:xfrm>
          <a:prstGeom prst="roundRect">
            <a:avLst>
              <a:gd name="adj" fmla="val 35236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</p:spPr>
      </p:sp>
      <p:pic>
        <p:nvPicPr>
          <p:cNvPr id="7" name="Image 1"/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962025" y="1866900"/>
            <a:ext cx="10267950" cy="1143000"/>
          </a:xfrm>
          <a:prstGeom prst="rect">
            <a:avLst/>
          </a:prstGeom>
        </p:spPr>
      </p:pic>
      <p:pic>
        <p:nvPicPr>
          <p:cNvPr id="8" name="Image 2"/>
          <p:cNvPicPr>
            <a:picLocks noChangeAspect="1"/>
          </p:cNvPicPr>
          <p:nvPr/>
        </p:nvPicPr>
        <p:blipFill>
          <a:blip r:embed="rId3"/>
          <a:srcRect l="-266" r="-266" t="0" b="0"/>
          <a:stretch/>
        </p:blipFill>
        <p:spPr>
          <a:xfrm>
            <a:off x="2476500" y="5924550"/>
            <a:ext cx="19050" cy="17208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429385" y="2152650"/>
            <a:ext cx="571500" cy="57150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3"/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429385" y="3009900"/>
            <a:ext cx="9334500" cy="889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429385" y="3390900"/>
            <a:ext cx="304800" cy="304800"/>
          </a:xfrm>
          <a:prstGeom prst="roundRect">
            <a:avLst>
              <a:gd name="adj" fmla="val 150150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429385" y="4058285"/>
            <a:ext cx="304800" cy="304800"/>
          </a:xfrm>
          <a:prstGeom prst="roundRect">
            <a:avLst>
              <a:gd name="adj" fmla="val 150150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1429385" y="4724400"/>
            <a:ext cx="304800" cy="304800"/>
          </a:xfrm>
          <a:prstGeom prst="roundRect">
            <a:avLst>
              <a:gd name="adj" fmla="val 150150"/>
            </a:avLst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71500" y="952500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한계점 및 향후 과제</a:t>
            </a:r>
            <a:endParaRPr lang="en-US" sz="3000" dirty="0"/>
          </a:p>
        </p:txBody>
      </p:sp>
      <p:pic>
        <p:nvPicPr>
          <p:cNvPr id="17" name="Image 4"/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571625" y="2294890"/>
            <a:ext cx="286385" cy="286385"/>
          </a:xfrm>
          <a:prstGeom prst="rect">
            <a:avLst/>
          </a:prstGeom>
        </p:spPr>
      </p:pic>
      <p:sp>
        <p:nvSpPr>
          <p:cNvPr id="18" name="Text 11"/>
          <p:cNvSpPr txBox="1">
            <a:spLocks/>
          </p:cNvSpPr>
          <p:nvPr/>
        </p:nvSpPr>
        <p:spPr>
          <a:xfrm rot="0">
            <a:off x="2238375" y="2238375"/>
            <a:ext cx="8987155" cy="4394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800" spc="-3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외국인 카드소비 데이터 미반영</a:t>
            </a:r>
            <a:r>
              <a:rPr lang="ko-KR" sz="1800" spc="-3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 </a:t>
            </a:r>
            <a:r>
              <a:rPr lang="ko-KR" sz="1800" spc="-30" b="1">
                <a:solidFill>
                  <a:srgbClr val="222222"/>
                </a:solidFill>
                <a:latin typeface="Noto Sans KR" charset="0"/>
                <a:ea typeface="Noto Sans KR" charset="0"/>
                <a:cs typeface="Noto Sans KR" charset="0"/>
              </a:rPr>
              <a:t>/ 외부변수 미반영 / Z-score 기반 점수 구성</a:t>
            </a:r>
            <a:endParaRPr lang="ko-KR" altLang="en-US" sz="1800" b="1">
              <a:solidFill>
                <a:srgbClr val="222222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19" name="Image 5"/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1504950" y="3514725"/>
            <a:ext cx="133350" cy="152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905000" y="3409950"/>
            <a:ext cx="8764270" cy="28702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5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한계점1</a:t>
            </a:r>
            <a:r>
              <a:rPr lang="ko-KR" sz="15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. </a:t>
            </a:r>
            <a:r>
              <a:rPr lang="en-US" sz="15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현재 구축된 상권 활력 예측 모델은 </a:t>
            </a:r>
            <a:r>
              <a:rPr lang="en-US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내국인 소비 데이터</a:t>
            </a:r>
            <a:r>
              <a:rPr lang="en-US" sz="15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를 </a:t>
            </a:r>
            <a:r>
              <a:rPr lang="ko-KR" sz="15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중심</a:t>
            </a:r>
            <a:r>
              <a:rPr lang="en-US" sz="15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으로 학습됨</a:t>
            </a:r>
            <a:r>
              <a:rPr lang="ko-KR" sz="15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.</a:t>
            </a:r>
            <a:endParaRPr lang="ko-KR" altLang="en-US" sz="150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1" name="Image 6"/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504950" y="4181475"/>
            <a:ext cx="152400" cy="152400"/>
          </a:xfrm>
          <a:prstGeom prst="rect">
            <a:avLst/>
          </a:prstGeom>
        </p:spPr>
      </p:pic>
      <p:sp>
        <p:nvSpPr>
          <p:cNvPr id="22" name="Text 13"/>
          <p:cNvSpPr txBox="1">
            <a:spLocks/>
          </p:cNvSpPr>
          <p:nvPr/>
        </p:nvSpPr>
        <p:spPr>
          <a:xfrm rot="0">
            <a:off x="1905000" y="4076700"/>
            <a:ext cx="9427210" cy="2870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5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한계점 2. </a:t>
            </a:r>
            <a:r>
              <a:rPr lang="en-US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코로나 · 정책변화 · 금리인상 등 외생변수 미반영</a:t>
            </a:r>
            <a:r>
              <a:rPr lang="ko-KR" sz="1500" b="0">
                <a:solidFill>
                  <a:schemeClr val="tx1"/>
                </a:solidFill>
                <a:latin typeface="Noto Sans KR" charset="0"/>
                <a:ea typeface="Noto Sans KR" charset="0"/>
                <a:cs typeface="Noto Sans KR" charset="0"/>
              </a:rPr>
              <a:t>으로 </a:t>
            </a:r>
            <a:r>
              <a:rPr lang="ko-KR" sz="1500" b="0">
                <a:solidFill>
                  <a:schemeClr val="tx1"/>
                </a:solidFill>
                <a:latin typeface="Noto Sans KR" charset="0"/>
                <a:ea typeface="Noto Sans KR" charset="0"/>
                <a:cs typeface="Noto Sans KR" charset="0"/>
              </a:rPr>
              <a:t>외부 충격 발생 시 예측 신뢰도 저하 가능</a:t>
            </a:r>
            <a:endParaRPr lang="ko-KR" altLang="en-US" sz="1500" b="0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3" name="Image 7"/>
          <p:cNvPicPr>
            <a:picLocks noChangeAspect="1"/>
          </p:cNvPicPr>
          <p:nvPr/>
        </p:nvPicPr>
        <p:blipFill>
          <a:blip r:embed="rId8"/>
          <a:srcRect l="-33" r="-33" t="0" b="0"/>
          <a:stretch/>
        </p:blipFill>
        <p:spPr>
          <a:xfrm>
            <a:off x="1504950" y="4848225"/>
            <a:ext cx="172085" cy="1524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905000" y="4744085"/>
            <a:ext cx="8764270" cy="28702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15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한계점 3. Z-score 기반 </a:t>
            </a:r>
            <a:r>
              <a:rPr lang="ko-KR" sz="1500">
                <a:solidFill>
                  <a:srgbClr val="444444"/>
                </a:solidFill>
                <a:latin typeface="Noto Sans KR" charset="0"/>
                <a:ea typeface="Noto Sans KR" charset="0"/>
                <a:cs typeface="Noto Sans KR" charset="0"/>
              </a:rPr>
              <a:t>점수 산출로 </a:t>
            </a:r>
            <a:r>
              <a:rPr lang="ko-KR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매출,</a:t>
            </a:r>
            <a:r>
              <a:rPr lang="ko-KR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 인구, 점포 수 등 </a:t>
            </a:r>
            <a:r>
              <a:rPr lang="en-US" sz="15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절대적 성장 예측 불가</a:t>
            </a:r>
            <a:endParaRPr lang="ko-KR" altLang="en-US" sz="1500">
              <a:solidFill>
                <a:srgbClr val="444444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pic>
        <p:nvPicPr>
          <p:cNvPr id="25" name="Image 8"/>
          <p:cNvPicPr>
            <a:picLocks noChangeAspect="1"/>
          </p:cNvPicPr>
          <p:nvPr/>
        </p:nvPicPr>
        <p:blipFill>
          <a:blip r:embed="rId9"/>
          <a:srcRect l="-133" r="-133" t="0" b="0"/>
          <a:stretch/>
        </p:blipFill>
        <p:spPr>
          <a:xfrm>
            <a:off x="1238250" y="5905500"/>
            <a:ext cx="172085" cy="2286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1524000" y="5895975"/>
            <a:ext cx="1028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과제</a:t>
            </a:r>
            <a:endParaRPr lang="en-US" sz="1300" dirty="0"/>
          </a:p>
        </p:txBody>
      </p:sp>
      <p:sp>
        <p:nvSpPr>
          <p:cNvPr id="27" name="Text 16"/>
          <p:cNvSpPr txBox="1"/>
          <p:nvPr/>
        </p:nvSpPr>
        <p:spPr>
          <a:xfrm>
            <a:off x="2667000" y="5895975"/>
            <a:ext cx="89757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 xml:space="preserve">외국인 결제 데이터 통합 · 외생변수 모델링 · 절대적 매출 예측 모델 개발을 통한 </a:t>
            </a:r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정확도 및 활용성 고도화 필요</a:t>
            </a:r>
            <a:endParaRPr lang="en-US" sz="1300" dirty="0"/>
          </a:p>
        </p:txBody>
      </p:sp>
      <p:sp>
        <p:nvSpPr>
          <p:cNvPr id="29" name="텍스트 상자 92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결과 </a:t>
            </a: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0" name="도형 93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1" name="텍스트 상자 94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pic>
        <p:nvPicPr>
          <p:cNvPr id="5" name="Picture " descr="C:/Users/Kim dong gwan/AppData/Roaming/PolarisOffice/ETemp/17048_16254952/image-23-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" r="-4"/>
          <a:stretch>
            <a:fillRect/>
          </a:stretch>
        </p:blipFill>
        <p:spPr>
          <a:xfrm rot="0">
            <a:off x="952500" y="1809750"/>
            <a:ext cx="10306685" cy="4392295"/>
          </a:xfrm>
          <a:prstGeom prst="rect"/>
          <a:noFill/>
        </p:spPr>
      </p:pic>
      <p:sp>
        <p:nvSpPr>
          <p:cNvPr id="16" name="Rect 0"/>
          <p:cNvSpPr txBox="1">
            <a:spLocks/>
          </p:cNvSpPr>
          <p:nvPr/>
        </p:nvSpPr>
        <p:spPr>
          <a:xfrm rot="0">
            <a:off x="571500" y="952500"/>
            <a:ext cx="7925435" cy="4578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3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참고 </a:t>
            </a:r>
            <a:r>
              <a:rPr lang="ko-KR" sz="3000" b="1">
                <a:solidFill>
                  <a:srgbClr val="1A35B5"/>
                </a:solidFill>
                <a:latin typeface="Noto Sans KR" charset="0"/>
                <a:ea typeface="Noto Sans KR" charset="0"/>
                <a:cs typeface="Noto Sans KR" charset="0"/>
              </a:rPr>
              <a:t>문헌</a:t>
            </a:r>
            <a:endParaRPr lang="ko-KR" altLang="en-US" sz="3000" b="1">
              <a:solidFill>
                <a:srgbClr val="1A35B5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29" name="Rect 0"/>
          <p:cNvSpPr txBox="1">
            <a:spLocks/>
          </p:cNvSpPr>
          <p:nvPr/>
        </p:nvSpPr>
        <p:spPr>
          <a:xfrm rot="0">
            <a:off x="1276350" y="504825"/>
            <a:ext cx="2058035" cy="22923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 xml:space="preserve">결과 </a:t>
            </a:r>
            <a:r>
              <a:rPr lang="ko-KR" sz="1200" b="1">
                <a:solidFill>
                  <a:srgbClr val="666666"/>
                </a:solidFill>
                <a:latin typeface="Noto Sans KR" charset="0"/>
                <a:ea typeface="Noto Sans KR" charset="0"/>
                <a:cs typeface="Noto Sans KR" charset="0"/>
              </a:rPr>
              <a:t>및 시사점</a:t>
            </a:r>
            <a:endParaRPr lang="ko-KR" altLang="en-US" sz="1200" b="1">
              <a:solidFill>
                <a:srgbClr val="666666"/>
              </a:solidFill>
              <a:latin typeface="Noto Sans KR" charset="0"/>
              <a:ea typeface="Noto Sans KR" charset="0"/>
              <a:cs typeface="Noto Sans KR" charset="0"/>
            </a:endParaRPr>
          </a:p>
        </p:txBody>
      </p:sp>
      <p:sp>
        <p:nvSpPr>
          <p:cNvPr id="30" name="Rect 0"/>
          <p:cNvSpPr>
            <a:spLocks/>
          </p:cNvSpPr>
          <p:nvPr/>
        </p:nvSpPr>
        <p:spPr>
          <a:xfrm rot="0">
            <a:off x="762000" y="476250"/>
            <a:ext cx="419735" cy="267335"/>
          </a:xfrm>
          <a:prstGeom prst="roundRect">
            <a:avLst>
              <a:gd name="adj" fmla="val 97847"/>
            </a:avLst>
          </a:prstGeom>
          <a:solidFill>
            <a:srgbClr val="1A35B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1" name="Rect 0"/>
          <p:cNvSpPr txBox="1">
            <a:spLocks/>
          </p:cNvSpPr>
          <p:nvPr/>
        </p:nvSpPr>
        <p:spPr>
          <a:xfrm rot="0">
            <a:off x="723900" y="513715"/>
            <a:ext cx="495935" cy="17272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110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11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29385" y="-1429385"/>
            <a:ext cx="3810000" cy="3810000"/>
          </a:xfrm>
          <a:prstGeom prst="ellipse">
            <a:avLst/>
          </a:prstGeom>
          <a:solidFill>
            <a:srgbClr val="F4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000" y="4286885"/>
            <a:ext cx="3810000" cy="3810000"/>
          </a:xfrm>
          <a:prstGeom prst="ellipse">
            <a:avLst/>
          </a:prstGeom>
          <a:solidFill>
            <a:srgbClr val="1A35B5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01500" y="0"/>
            <a:ext cx="190500" cy="6858000"/>
          </a:xfrm>
          <a:prstGeom prst="rect">
            <a:avLst/>
          </a:prstGeom>
          <a:solidFill>
            <a:srgbClr val="1A3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1"/>
          <a:srcRect l="0" r="0" t="-384" b="-384"/>
          <a:stretch/>
        </p:blipFill>
        <p:spPr>
          <a:xfrm>
            <a:off x="5619750" y="6143625"/>
            <a:ext cx="952500" cy="38100"/>
          </a:xfrm>
          <a:prstGeom prst="rect">
            <a:avLst/>
          </a:prstGeom>
        </p:spPr>
      </p:pic>
      <p:pic>
        <p:nvPicPr>
          <p:cNvPr id="8" name="Image 1"/>
          <p:cNvPicPr>
            <a:picLocks noChangeAspect="1"/>
          </p:cNvPicPr>
          <p:nvPr/>
        </p:nvPicPr>
        <p:blipFill>
          <a:blip r:embed="rId2"/>
          <a:srcRect l="0" r="0" t="-16" b="-16"/>
          <a:stretch/>
        </p:blipFill>
        <p:spPr>
          <a:xfrm>
            <a:off x="5810250" y="1809750"/>
            <a:ext cx="714375" cy="5715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-95250" y="2476500"/>
            <a:ext cx="123825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0" b="1" spc="375" kern="0" dirty="0">
                <a:solidFill>
                  <a:srgbClr val="1A35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 &amp; A</a:t>
            </a:r>
            <a:endParaRPr lang="en-US" sz="10500" dirty="0"/>
          </a:p>
        </p:txBody>
      </p:sp>
      <p:sp>
        <p:nvSpPr>
          <p:cNvPr id="11" name="Text 7"/>
          <p:cNvSpPr txBox="1"/>
          <p:nvPr/>
        </p:nvSpPr>
        <p:spPr>
          <a:xfrm>
            <a:off x="-152400" y="5524500"/>
            <a:ext cx="12496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150" kern="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Generated by Gen-Spark</Company>
  <DocSecurity>0</DocSecurity>
  <HyperlinksChanged>false</HyperlinksChanged>
  <Lines>0</Lines>
  <LinksUpToDate>false</LinksUpToDate>
  <Pages>26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Visual Extract to PPTX Converter</dc:creator>
  <cp:lastModifiedBy>ehdrhks246</cp:lastModifiedBy>
  <dc:title>Multi-page HTML Content</dc:title>
  <dc:subject>PptxGenJS Presentation</dc:subject>
  <cp:version>10.105.298.56155</cp:version>
  <dcterms:modified xsi:type="dcterms:W3CDTF">2026-03-10T16:43:41Z</dcterms:modified>
</cp:coreProperties>
</file>